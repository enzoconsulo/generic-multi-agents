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f2c7e06b-2c3a-ea3e-6a40-4b2b3d6ab8b1}">
          <p14:sldIdLst>
            <p14:sldId id="256"/>
            <p14:sldId id="257"/>
            <p14:sldId id="258"/>
          </p14:sldIdLst>
        </p14:section>
        <p14:section name="O plano" id="{d6133864-f198-560c-c8d1-114605782331}">
          <p14:sldIdLst>
            <p14:sldId id="259"/>
            <p14:sldId id="260"/>
          </p14:sldIdLst>
        </p14:section>
        <p14:section name="Panorama" id="{e2162ca5-6223-0706-c233-56b7ab4024ea}">
          <p14:sldIdLst>
            <p14:sldId id="261"/>
          </p14:sldIdLst>
        </p14:section>
        <p14:section name="Etapas" id="{0003c7c7-d36d-eaed-0ee9-2aa637f4a648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Dados" id="{93f056ad-c59d-1f1e-1b07-259236ee3969}">
          <p14:sldIdLst>
            <p14:sldId id="269"/>
            <p14:sldId id="270"/>
            <p14:sldId id="271"/>
          </p14:sldIdLst>
        </p14:section>
        <p14:section name="Próximos passos" id="{d6ea8a86-f163-c5ce-b71b-f26a0aec0532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A41"/>
                </a:solidFill>
                <a:latin typeface="+mn-lt"/>
              </a:rPr>
              <a:t>Testes automáticos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Testes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E2</c:v>
                  </c:pt>
                  <c:pt idx="1">
                    <c:v>E3</c:v>
                  </c:pt>
                  <c:pt idx="2">
                    <c:v>E4</c:v>
                  </c:pt>
                  <c:pt idx="3">
                    <c:v>E5</c:v>
                  </c:pt>
                  <c:pt idx="4">
                    <c:v>E6</c:v>
                  </c:pt>
                  <c:pt idx="5">
                    <c:v>E7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152</c:v>
                </c:pt>
                <c:pt idx="1">
                  <c:v>558</c:v>
                </c:pt>
                <c:pt idx="2">
                  <c:v>908</c:v>
                </c:pt>
                <c:pt idx="3">
                  <c:v>995</c:v>
                </c:pt>
                <c:pt idx="4">
                  <c:v>1080</c:v>
                </c:pt>
                <c:pt idx="5">
                  <c:v>1220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C96A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A41"/>
                </a:solidFill>
                <a:latin typeface="+mn-lt"/>
              </a:rPr>
              <a:t>Linhas de código em lib/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Linhas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E2</c:v>
                  </c:pt>
                  <c:pt idx="1">
                    <c:v>E3</c:v>
                  </c:pt>
                  <c:pt idx="2">
                    <c:v>E4</c:v>
                  </c:pt>
                  <c:pt idx="3">
                    <c:v>E5</c:v>
                  </c:pt>
                  <c:pt idx="4">
                    <c:v>E6</c:v>
                  </c:pt>
                  <c:pt idx="5">
                    <c:v>E7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2634</c:v>
                </c:pt>
                <c:pt idx="1">
                  <c:v>5774</c:v>
                </c:pt>
                <c:pt idx="2">
                  <c:v>9197</c:v>
                </c:pt>
                <c:pt idx="3">
                  <c:v>10482</c:v>
                </c:pt>
                <c:pt idx="4">
                  <c:v>11468</c:v>
                </c:pt>
                <c:pt idx="5">
                  <c:v>13769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C96A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A41"/>
                </a:solidFill>
                <a:latin typeface="+mn-lt"/>
              </a:rPr>
              <a:t>Execuções de agente por item (limite: 2)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Execuções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E2</c:v>
                  </c:pt>
                  <c:pt idx="1">
                    <c:v>E3</c:v>
                  </c:pt>
                  <c:pt idx="2">
                    <c:v>E4</c:v>
                  </c:pt>
                  <c:pt idx="3">
                    <c:v>E5</c:v>
                  </c:pt>
                  <c:pt idx="4">
                    <c:v>E6</c:v>
                  </c:pt>
                  <c:pt idx="5">
                    <c:v>E7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1.17</c:v>
                </c:pt>
                <c:pt idx="2">
                  <c:v>1</c:v>
                </c:pt>
                <c:pt idx="3">
                  <c:v>1.67</c:v>
                </c:pt>
                <c:pt idx="4">
                  <c:v>1.62</c:v>
                </c:pt>
                <c:pt idx="5">
                  <c:v>1.5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C96A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A41"/>
                </a:solidFill>
                <a:latin typeface="+mn-lt"/>
              </a:rPr>
              <a:t>Custo medido dos agentes (US$, cota)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E2</c:v>
                  </c:pt>
                  <c:pt idx="1">
                    <c:v>E3</c:v>
                  </c:pt>
                  <c:pt idx="2">
                    <c:v>E4</c:v>
                  </c:pt>
                  <c:pt idx="3">
                    <c:v>E5</c:v>
                  </c:pt>
                  <c:pt idx="4">
                    <c:v>E6</c:v>
                  </c:pt>
                  <c:pt idx="5">
                    <c:v>E7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11.81</c:v>
                </c:pt>
                <c:pt idx="1">
                  <c:v>92.69</c:v>
                </c:pt>
                <c:pt idx="2">
                  <c:v>59.09</c:v>
                </c:pt>
                <c:pt idx="3">
                  <c:v>127.33</c:v>
                </c:pt>
                <c:pt idx="4">
                  <c:v>167.15</c:v>
                </c:pt>
                <c:pt idx="5">
                  <c:v>104.52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F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C96A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O sistema recebe a descrição de um projeto e o constrói de ponta a ponta com agentes especializados — e as regras de governança são impostas pela estrutura do programa, não pelo texto do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regra que normalmente é um pedido ao modelo vira um mecanismo do programa. É isso que o projeto inteiro prova, etapa por etapa.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Requisitos, arquitetura, divisão do trabalho e critérios de desempenho definidos. Os cinco projetos de teste estão propostos e aguardam validação.
Pendente: Validar com o orientador a proposta dos cinco projetos de teste (FAB-105).
Próxima: E2 — montar a fundação: ambiente, banco, custo, fronteiras e cópia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fundação está de pé e se prova sozinha: a suíte inteira roda sem internet e sem consumir o serviço do modelo.
Pendente: nada.
Próxima: E3 — o agente e as ferramentas, com confinamento.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agente real resolve uma tarefa real com o custo gravado por volta, e o fornecedor do modelo é trocável sem tocar o núcleo.
Pendente: A medição do cache com a API por token depende de uma chave de acesso e foi deixada para depois do marco final.
Próxima: E4 — a linha de produção: estados, fila, critérios, portões e escada de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linha de produção funciona de ponta a ponta: uma tarefa criada do zero é reprovada de propósito, sobe de modelo, é refeita e conclui.
Pendente: R1 (pedido → tarefas) está implementado; o teste com um pedido real de ponta a ponta acontece na validação (E8).
Próxima: E5 — paralelismo e tolerância a falhas.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tarefas rodam em paralelo; matar uma no meio não afeta as outras, e ela volta à fila sem perder trabalho.
Pendente: nada.
Próxima: E6 — memória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peças da memória estão construídas e testadas; a entrega da etapa (o agente citar a decisão anterior) ainda não foi demonstrada.
Pendente: Marco bloqueado: a fila ainda monta a mensagem do agente sem o bloco de memória (ajuste pequeno, já diagnosticado).
Próxima: Fechar o ajuste da fila e demonstrar o agente real citando a decisão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 ao vivo, parar/retomar, piloto automático com teto de gasto e o agente real ligado à fila estão prontos; o projeto inteiro sem intervenção ainda não foi executado.
Pendente: Marco final (um projeto inteiro sem intervenção) depende do ajuste da E6 e da autorização do teto de gasto.
Próxima: E8 — validação com os cinco projetos de teste e a primeira medição dos 8 critérios.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Fábrica de Software Multi-Agente · TCC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6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6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Fábrica de Software Multi-Agente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Acompanhamento do desenvolvimento — Trabalho de Conclusão de Curso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Enzo Consulo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regra mora na estrutura, não no pedido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sistema multi-agente não falha por escrever mal, e sim por governar mal.</a:t>
            </a:r>
            <a:endParaRPr lang="en-US" sz="1600" dirty="0"/>
          </a:p>
        </p:txBody>
      </p:sp>
      <p:sp>
        <p:nvSpPr>
          <p:cNvPr id="4" name="regra-0"/>
          <p:cNvSpPr/>
          <p:nvPr/>
        </p:nvSpPr>
        <p:spPr>
          <a:xfrm>
            <a:off x="457200" y="1600200"/>
            <a:ext cx="40233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escrever fora do projeto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402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ferramenta de escrita recusa o caminho</a:t>
            </a:r>
            <a:endParaRPr lang="en-US" sz="1400" dirty="0"/>
          </a:p>
        </p:txBody>
      </p:sp>
      <p:sp>
        <p:nvSpPr>
          <p:cNvPr id="7" name="regra-1"/>
          <p:cNvSpPr/>
          <p:nvPr/>
        </p:nvSpPr>
        <p:spPr>
          <a:xfrm>
            <a:off x="4663440" y="1600200"/>
            <a:ext cx="40233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204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máximo três tentativas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22402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contador no banco, que o agente não altera</a:t>
            </a:r>
            <a:endParaRPr lang="en-US" sz="1400" dirty="0"/>
          </a:p>
        </p:txBody>
      </p:sp>
      <p:sp>
        <p:nvSpPr>
          <p:cNvPr id="10" name="regra-2"/>
          <p:cNvSpPr/>
          <p:nvPr/>
        </p:nvSpPr>
        <p:spPr>
          <a:xfrm>
            <a:off x="457200" y="3063240"/>
            <a:ext cx="40233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246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constrói não aprova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7033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 revisor não recebe ferramenta de escrita</a:t>
            </a:r>
            <a:endParaRPr lang="en-US" sz="1400" dirty="0"/>
          </a:p>
        </p:txBody>
      </p:sp>
      <p:sp>
        <p:nvSpPr>
          <p:cNvPr id="13" name="regra-3"/>
          <p:cNvSpPr/>
          <p:nvPr/>
        </p:nvSpPr>
        <p:spPr>
          <a:xfrm>
            <a:off x="4663440" y="3063240"/>
            <a:ext cx="40233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92040" y="3246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estourar o orçamento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37033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 sistema não deixa começar o que não cabe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6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régua: 8 critérios medidos na validação</a:t>
            </a:r>
            <a:endParaRPr lang="en-US" sz="2800" dirty="0"/>
          </a:p>
        </p:txBody>
      </p:sp>
      <p:sp>
        <p:nvSpPr>
          <p:cNvPr id="3" name="crit-0"/>
          <p:cNvSpPr/>
          <p:nvPr/>
        </p:nvSpPr>
        <p:spPr>
          <a:xfrm>
            <a:off x="45720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371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Constrói sozinho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20116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de 5 projetos</a:t>
            </a:r>
            <a:endParaRPr lang="en-US" sz="1300" dirty="0"/>
          </a:p>
        </p:txBody>
      </p:sp>
      <p:sp>
        <p:nvSpPr>
          <p:cNvPr id="6" name="crit-1"/>
          <p:cNvSpPr/>
          <p:nvPr/>
        </p:nvSpPr>
        <p:spPr>
          <a:xfrm>
            <a:off x="256032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24912" y="1371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Conclui tarefas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724912" y="20116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80%</a:t>
            </a:r>
            <a:endParaRPr lang="en-US" sz="1300" dirty="0"/>
          </a:p>
        </p:txBody>
      </p:sp>
      <p:sp>
        <p:nvSpPr>
          <p:cNvPr id="9" name="crit-2"/>
          <p:cNvSpPr/>
          <p:nvPr/>
        </p:nvSpPr>
        <p:spPr>
          <a:xfrm>
            <a:off x="466344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28032" y="1371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Pouco retrabalho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828032" y="20116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2 execuções</a:t>
            </a:r>
            <a:endParaRPr lang="en-US" sz="1300" dirty="0"/>
          </a:p>
        </p:txBody>
      </p:sp>
      <p:sp>
        <p:nvSpPr>
          <p:cNvPr id="12" name="crit-3"/>
          <p:cNvSpPr/>
          <p:nvPr/>
        </p:nvSpPr>
        <p:spPr>
          <a:xfrm>
            <a:off x="676656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31152" y="1371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aprova errado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931152" y="20116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</a:t>
            </a:r>
            <a:endParaRPr lang="en-US" sz="1300" dirty="0"/>
          </a:p>
        </p:txBody>
      </p:sp>
      <p:sp>
        <p:nvSpPr>
          <p:cNvPr id="15" name="crit-4"/>
          <p:cNvSpPr/>
          <p:nvPr/>
        </p:nvSpPr>
        <p:spPr>
          <a:xfrm>
            <a:off x="457200" y="2788920"/>
            <a:ext cx="1920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" y="29718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 de verdade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3611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barradas</a:t>
            </a:r>
            <a:endParaRPr lang="en-US" sz="1300" dirty="0"/>
          </a:p>
        </p:txBody>
      </p:sp>
      <p:sp>
        <p:nvSpPr>
          <p:cNvPr id="18" name="crit-5"/>
          <p:cNvSpPr/>
          <p:nvPr/>
        </p:nvSpPr>
        <p:spPr>
          <a:xfrm>
            <a:off x="2560320" y="2788920"/>
            <a:ext cx="1920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724912" y="29718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Aguenta falha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724912" y="3611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perder trabalho</a:t>
            </a:r>
            <a:endParaRPr lang="en-US" sz="1300" dirty="0"/>
          </a:p>
        </p:txBody>
      </p:sp>
      <p:sp>
        <p:nvSpPr>
          <p:cNvPr id="21" name="crit-6"/>
          <p:cNvSpPr/>
          <p:nvPr/>
        </p:nvSpPr>
        <p:spPr>
          <a:xfrm>
            <a:off x="4663440" y="2788920"/>
            <a:ext cx="1920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28032" y="29718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sob controle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828032" y="3611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acima do teto</a:t>
            </a:r>
            <a:endParaRPr lang="en-US" sz="1300" dirty="0"/>
          </a:p>
        </p:txBody>
      </p:sp>
      <p:sp>
        <p:nvSpPr>
          <p:cNvPr id="24" name="crit-7"/>
          <p:cNvSpPr/>
          <p:nvPr/>
        </p:nvSpPr>
        <p:spPr>
          <a:xfrm>
            <a:off x="6766560" y="2788920"/>
            <a:ext cx="1920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931152" y="29718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na máquina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931152" y="3611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8 GB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Medidos a partir da E8 com os 5 projetos de teste. Ajusta-se o sistema, nunca a régua.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6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plano: 10 etapas em cascata</a:t>
            </a:r>
            <a:endParaRPr lang="en-US" sz="2800" dirty="0"/>
          </a:p>
        </p:txBody>
      </p:sp>
      <p:sp>
        <p:nvSpPr>
          <p:cNvPr id="3" name="etapa-1"/>
          <p:cNvSpPr/>
          <p:nvPr/>
        </p:nvSpPr>
        <p:spPr>
          <a:xfrm>
            <a:off x="457200" y="1371600"/>
            <a:ext cx="777240" cy="10058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48132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84632" y="1874520"/>
            <a:ext cx="722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</a:t>
            </a:r>
            <a:endParaRPr lang="en-US" sz="950" dirty="0"/>
          </a:p>
        </p:txBody>
      </p:sp>
      <p:sp>
        <p:nvSpPr>
          <p:cNvPr id="6" name="etapa-2"/>
          <p:cNvSpPr/>
          <p:nvPr/>
        </p:nvSpPr>
        <p:spPr>
          <a:xfrm>
            <a:off x="1284732" y="1371600"/>
            <a:ext cx="777240" cy="10058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4732" y="148132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12164" y="1874520"/>
            <a:ext cx="722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Fundação</a:t>
            </a:r>
            <a:endParaRPr lang="en-US" sz="950" dirty="0"/>
          </a:p>
        </p:txBody>
      </p:sp>
      <p:sp>
        <p:nvSpPr>
          <p:cNvPr id="9" name="etapa-3"/>
          <p:cNvSpPr/>
          <p:nvPr/>
        </p:nvSpPr>
        <p:spPr>
          <a:xfrm>
            <a:off x="2112264" y="1371600"/>
            <a:ext cx="777240" cy="10058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12264" y="148132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139696" y="1874520"/>
            <a:ext cx="722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950" dirty="0"/>
          </a:p>
        </p:txBody>
      </p:sp>
      <p:sp>
        <p:nvSpPr>
          <p:cNvPr id="12" name="etapa-4"/>
          <p:cNvSpPr/>
          <p:nvPr/>
        </p:nvSpPr>
        <p:spPr>
          <a:xfrm>
            <a:off x="2939796" y="1371600"/>
            <a:ext cx="777240" cy="10058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39796" y="148132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2967228" y="1874520"/>
            <a:ext cx="722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de produção</a:t>
            </a:r>
            <a:endParaRPr lang="en-US" sz="950" dirty="0"/>
          </a:p>
        </p:txBody>
      </p:sp>
      <p:sp>
        <p:nvSpPr>
          <p:cNvPr id="15" name="etapa-5"/>
          <p:cNvSpPr/>
          <p:nvPr/>
        </p:nvSpPr>
        <p:spPr>
          <a:xfrm>
            <a:off x="3767328" y="1371600"/>
            <a:ext cx="777240" cy="10058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67328" y="148132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794760" y="1874520"/>
            <a:ext cx="722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Paralelismo</a:t>
            </a:r>
            <a:endParaRPr lang="en-US" sz="950" dirty="0"/>
          </a:p>
        </p:txBody>
      </p:sp>
      <p:sp>
        <p:nvSpPr>
          <p:cNvPr id="18" name="etapa-6"/>
          <p:cNvSpPr/>
          <p:nvPr/>
        </p:nvSpPr>
        <p:spPr>
          <a:xfrm>
            <a:off x="4594860" y="1371600"/>
            <a:ext cx="777240" cy="1005840"/>
          </a:xfrm>
          <a:prstGeom prst="roundRect">
            <a:avLst>
              <a:gd name="adj" fmla="val 9412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94860" y="148132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E6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4622292" y="1874520"/>
            <a:ext cx="722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</a:t>
            </a:r>
            <a:endParaRPr lang="en-US" sz="950" dirty="0"/>
          </a:p>
        </p:txBody>
      </p:sp>
      <p:sp>
        <p:nvSpPr>
          <p:cNvPr id="21" name="etapa-7"/>
          <p:cNvSpPr/>
          <p:nvPr/>
        </p:nvSpPr>
        <p:spPr>
          <a:xfrm>
            <a:off x="5422392" y="1371600"/>
            <a:ext cx="777240" cy="10058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22392" y="148132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E7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449824" y="1874520"/>
            <a:ext cx="722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</a:t>
            </a:r>
            <a:endParaRPr lang="en-US" sz="950" dirty="0"/>
          </a:p>
        </p:txBody>
      </p:sp>
      <p:sp>
        <p:nvSpPr>
          <p:cNvPr id="24" name="etapa-8"/>
          <p:cNvSpPr/>
          <p:nvPr/>
        </p:nvSpPr>
        <p:spPr>
          <a:xfrm>
            <a:off x="6249924" y="1371600"/>
            <a:ext cx="777240" cy="10058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49924" y="148132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E8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277356" y="1874520"/>
            <a:ext cx="722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reais</a:t>
            </a:r>
            <a:endParaRPr lang="en-US" sz="950" dirty="0"/>
          </a:p>
        </p:txBody>
      </p:sp>
      <p:sp>
        <p:nvSpPr>
          <p:cNvPr id="27" name="etapa-9"/>
          <p:cNvSpPr/>
          <p:nvPr/>
        </p:nvSpPr>
        <p:spPr>
          <a:xfrm>
            <a:off x="7077456" y="1371600"/>
            <a:ext cx="777240" cy="10058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77456" y="148132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E9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104888" y="1874520"/>
            <a:ext cx="722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Refinamento</a:t>
            </a:r>
            <a:endParaRPr lang="en-US" sz="950" dirty="0"/>
          </a:p>
        </p:txBody>
      </p:sp>
      <p:sp>
        <p:nvSpPr>
          <p:cNvPr id="30" name="etapa-10"/>
          <p:cNvSpPr/>
          <p:nvPr/>
        </p:nvSpPr>
        <p:spPr>
          <a:xfrm>
            <a:off x="7904988" y="1371600"/>
            <a:ext cx="777240" cy="10058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904988" y="148132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E10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932420" y="1874520"/>
            <a:ext cx="722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E1 ·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E2–E7 (19/09 a 17/12) ·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E8–E10 (até 26/01/2027)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3246120"/>
            <a:ext cx="201168" cy="20116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31520" y="32186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aprovada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200400" y="324612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474720" y="32186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 com pendência / em andamento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943600" y="3246120"/>
            <a:ext cx="201168" cy="20116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17920" y="32186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bloqueada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termina numa entrega demonstrável; a seguinte só começa com ela pronta.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6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branch por etapa, um commit por entrega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786384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51560" y="1490472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1288" y="1709928"/>
            <a:ext cx="0" cy="45720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dash"/>
          </a:ln>
        </p:spPr>
      </p:sp>
      <p:sp>
        <p:nvSpPr>
          <p:cNvPr id="7" name="branch-1"/>
          <p:cNvSpPr/>
          <p:nvPr/>
        </p:nvSpPr>
        <p:spPr>
          <a:xfrm>
            <a:off x="640080" y="2194560"/>
            <a:ext cx="1051560" cy="118872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28600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5176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docs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26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4/5 tarefas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94560" y="149047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04288" y="1709928"/>
            <a:ext cx="0" cy="45720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dash"/>
          </a:ln>
        </p:spPr>
      </p:sp>
      <p:sp>
        <p:nvSpPr>
          <p:cNvPr id="13" name="branch-2"/>
          <p:cNvSpPr/>
          <p:nvPr/>
        </p:nvSpPr>
        <p:spPr>
          <a:xfrm>
            <a:off x="1783080" y="2194560"/>
            <a:ext cx="1051560" cy="118872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783080" y="228600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265176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commits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783080" y="2926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 tarefas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37560" y="149047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7288" y="1709928"/>
            <a:ext cx="0" cy="45720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dash"/>
          </a:ln>
        </p:spPr>
      </p:sp>
      <p:sp>
        <p:nvSpPr>
          <p:cNvPr id="19" name="branch-3"/>
          <p:cNvSpPr/>
          <p:nvPr/>
        </p:nvSpPr>
        <p:spPr>
          <a:xfrm>
            <a:off x="2926080" y="2194560"/>
            <a:ext cx="1051560" cy="118872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926080" y="228600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265176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commits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926080" y="2926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6/6 tarefas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80560" y="149047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90288" y="1709928"/>
            <a:ext cx="0" cy="45720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dash"/>
          </a:ln>
        </p:spPr>
      </p:sp>
      <p:sp>
        <p:nvSpPr>
          <p:cNvPr id="25" name="branch-4"/>
          <p:cNvSpPr/>
          <p:nvPr/>
        </p:nvSpPr>
        <p:spPr>
          <a:xfrm>
            <a:off x="4069080" y="2194560"/>
            <a:ext cx="1051560" cy="118872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69080" y="228600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069080" y="265176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commits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69080" y="2926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8/8 tarefas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23560" y="149047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33288" y="1709928"/>
            <a:ext cx="0" cy="45720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dash"/>
          </a:ln>
        </p:spPr>
      </p:sp>
      <p:sp>
        <p:nvSpPr>
          <p:cNvPr id="31" name="branch-5"/>
          <p:cNvSpPr/>
          <p:nvPr/>
        </p:nvSpPr>
        <p:spPr>
          <a:xfrm>
            <a:off x="5212080" y="2194560"/>
            <a:ext cx="1051560" cy="118872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12080" y="228600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212080" y="265176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commits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212080" y="2926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6/6 tarefas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766560" y="1490472"/>
            <a:ext cx="219456" cy="219456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76288" y="1709928"/>
            <a:ext cx="0" cy="45720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dash"/>
          </a:ln>
        </p:spPr>
      </p:sp>
      <p:sp>
        <p:nvSpPr>
          <p:cNvPr id="37" name="branch-6"/>
          <p:cNvSpPr/>
          <p:nvPr/>
        </p:nvSpPr>
        <p:spPr>
          <a:xfrm>
            <a:off x="6355080" y="2194560"/>
            <a:ext cx="1051560" cy="118872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55080" y="228600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E6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265176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commits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355080" y="2926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5/6 tarefas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909560" y="1490472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19288" y="1709928"/>
            <a:ext cx="0" cy="45720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dash"/>
          </a:ln>
        </p:spPr>
      </p:sp>
      <p:sp>
        <p:nvSpPr>
          <p:cNvPr id="43" name="branch-7"/>
          <p:cNvSpPr/>
          <p:nvPr/>
        </p:nvSpPr>
        <p:spPr>
          <a:xfrm>
            <a:off x="7498080" y="2194560"/>
            <a:ext cx="1051560" cy="118872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498080" y="228600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E7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7498080" y="265176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commits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7498080" y="2926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7/8 tarefas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3657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etapa/e1-planejamento → etapa/e2-fundacao → … → etapa/e7-painel: cada branch nasce da anterior. No dia da apresentação de cada etapa, a branch dela entra na main.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6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Panorama das etapas desenvolvidas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40480"/>
                <a:gridCol w="1371600"/>
                <a:gridCol w="685800"/>
                <a:gridCol w="594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combinada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Tarefas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 Planejamento e arquitetura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Requisitos, arquitetura, tarefas, critérios e projetos de teste aprovados.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 com pendência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 Fundação do sistema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testes rodam sem internet e sem consumir o serviço do modelo.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 O agente e as ferramentas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agente resolve uma tarefa real com o custo gravado, e trocar de fornecedor não mexe no núcleo.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 Linha de produção de tarefas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tarefa percorre os seis estados, é reprovada de propósito, é refeita e conclui.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E5 Paralelismo e tolerância a falhas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Três tarefas em paralelo; encerrar uma no meio não afeta as outras, e ela volta à fila.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E6 Memória do projeto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agente cita a decisão anterior, com a fonte certa, em vez de decidir de novo.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bloqueada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E7 Painel e automação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projeto inteiro acompanhado na tela, do pedido à entrega, com o custo em tempo real.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andamento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6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E1 — Planejamento e arquitetura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04/09 – 18/09/2026  ·  etapa/e1-planejamento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675120" y="914400"/>
            <a:ext cx="201168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0" y="914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 com pendência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combinada: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Requisitos, arquitetura, tarefas, critérios e projetos de teste aprovados.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requisitos: 8 funcionais (R1–R8) e 7 restrições (R9–R15), cada um com etapa e forma de verificar.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em 4 camadas (tela, motor, agentes, fronteiras) sobre um único banco PostgreSQL.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vida da tarefa com 6 estados e 2 portões independentes; escada de 4 degraus para falhas.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Pilha Elixir/OTP escolhida pela supervisão de processos: cada agente é um processo isolado.</a:t>
            </a:r>
            <a:endParaRPr lang="en-US" sz="1200" dirty="0"/>
          </a:p>
        </p:txBody>
      </p:sp>
      <p:sp>
        <p:nvSpPr>
          <p:cNvPr id="8" name="stat-documentos de planejamento"/>
          <p:cNvSpPr/>
          <p:nvPr/>
        </p:nvSpPr>
        <p:spPr>
          <a:xfrm>
            <a:off x="5852160" y="1371600"/>
            <a:ext cx="28346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89320" y="1463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4/5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19751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de planejamento</a:t>
            </a:r>
            <a:endParaRPr lang="en-US" sz="1100" dirty="0"/>
          </a:p>
        </p:txBody>
      </p:sp>
      <p:sp>
        <p:nvSpPr>
          <p:cNvPr id="11" name="stat-requisitos + critérios"/>
          <p:cNvSpPr/>
          <p:nvPr/>
        </p:nvSpPr>
        <p:spPr>
          <a:xfrm>
            <a:off x="5852160" y="2468880"/>
            <a:ext cx="28346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89320" y="25603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+ 8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989320" y="30723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+ critérios</a:t>
            </a:r>
            <a:endParaRPr lang="en-US" sz="1100" dirty="0"/>
          </a:p>
        </p:txBody>
      </p:sp>
      <p:sp>
        <p:nvSpPr>
          <p:cNvPr id="14" name="prova-1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4251960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Prova: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em docs/planejamento/ e o quadro de tarefas em docs/tasks/.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6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E2 — Fundação do sistema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19/09 – 03/10/2026  ·  etapa/e2-fundacao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675120" y="914400"/>
            <a:ext cx="201168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0" y="914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combinada: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testes rodam sem internet e sem consumir o serviço do modelo.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Phoenix com verificação em um comando (mix factory.ci), do estágio mais barato ao mais caro.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do banco com projetos, tarefas, ciclos, despachos e consumos, criado por migrações.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contado em duas unidades — cota da assinatura e dólar — a cada resposta do modelo (R10).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fronteiras (Provider e Embedder), cada uma com um adaptador falso que é o padrão nos testes (R12).</a:t>
            </a:r>
            <a:endParaRPr lang="en-US" sz="1200" dirty="0"/>
          </a:p>
        </p:txBody>
      </p:sp>
      <p:sp>
        <p:nvSpPr>
          <p:cNvPr id="8" name="stat-tarefas"/>
          <p:cNvSpPr/>
          <p:nvPr/>
        </p:nvSpPr>
        <p:spPr>
          <a:xfrm>
            <a:off x="5852160" y="137160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89320" y="1463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5/5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19751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</a:t>
            </a:r>
            <a:endParaRPr lang="en-US" sz="1100" dirty="0"/>
          </a:p>
        </p:txBody>
      </p:sp>
      <p:sp>
        <p:nvSpPr>
          <p:cNvPr id="11" name="stat-testes"/>
          <p:cNvSpPr/>
          <p:nvPr/>
        </p:nvSpPr>
        <p:spPr>
          <a:xfrm>
            <a:off x="7315200" y="137160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52360" y="1463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152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19751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100" dirty="0"/>
          </a:p>
        </p:txBody>
      </p:sp>
      <p:sp>
        <p:nvSpPr>
          <p:cNvPr id="14" name="stat-linhas em lib/"/>
          <p:cNvSpPr/>
          <p:nvPr/>
        </p:nvSpPr>
        <p:spPr>
          <a:xfrm>
            <a:off x="5852160" y="246888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89320" y="2560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2.634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30723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em lib/</a:t>
            </a:r>
            <a:endParaRPr lang="en-US" sz="1100" dirty="0"/>
          </a:p>
        </p:txBody>
      </p:sp>
      <p:sp>
        <p:nvSpPr>
          <p:cNvPr id="17" name="stat-commits"/>
          <p:cNvSpPr/>
          <p:nvPr/>
        </p:nvSpPr>
        <p:spPr>
          <a:xfrm>
            <a:off x="7315200" y="246888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560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30723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100" dirty="0"/>
          </a:p>
        </p:txBody>
      </p:sp>
      <p:sp>
        <p:nvSpPr>
          <p:cNvPr id="20" name="prova-2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4251960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Prova: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test test/factory/milestone_e2_test.exs — falha se houver tráfego de rede, cliente HTTP ou chave de acesso no ambiente.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6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E3 — O agente e as ferramentas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04/10 – 18/10/2026  ·  etapa/e3-agente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675120" y="914400"/>
            <a:ext cx="201168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0" y="914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combinada: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agente resolve uma tarefa real com o custo gravado, e trocar de fornecedor não mexe no núcleo.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de arquivo e de comando; comando com prazo mata a árvore de processos inteira.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Confinamento resolvendo o caminho REAL (links, junções, UNC, dispositivos) antes de tocar o disco (R11).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shell do agente roda em sandbox do sistema operacional; sem sandbox, o agente com shell não sobe.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agente é um processo OTP supervisionado, com teto de chamadas por papel imposto pelo sistema.</a:t>
            </a:r>
            <a:endParaRPr lang="en-US" sz="1200" dirty="0"/>
          </a:p>
        </p:txBody>
      </p:sp>
      <p:sp>
        <p:nvSpPr>
          <p:cNvPr id="8" name="stat-tarefas"/>
          <p:cNvSpPr/>
          <p:nvPr/>
        </p:nvSpPr>
        <p:spPr>
          <a:xfrm>
            <a:off x="5852160" y="137160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89320" y="1463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19751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</a:t>
            </a:r>
            <a:endParaRPr lang="en-US" sz="1100" dirty="0"/>
          </a:p>
        </p:txBody>
      </p:sp>
      <p:sp>
        <p:nvSpPr>
          <p:cNvPr id="11" name="stat-testes"/>
          <p:cNvSpPr/>
          <p:nvPr/>
        </p:nvSpPr>
        <p:spPr>
          <a:xfrm>
            <a:off x="7315200" y="137160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52360" y="1463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558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19751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100" dirty="0"/>
          </a:p>
        </p:txBody>
      </p:sp>
      <p:sp>
        <p:nvSpPr>
          <p:cNvPr id="14" name="stat-linhas em lib/"/>
          <p:cNvSpPr/>
          <p:nvPr/>
        </p:nvSpPr>
        <p:spPr>
          <a:xfrm>
            <a:off x="5852160" y="246888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89320" y="2560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5.774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30723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em lib/</a:t>
            </a:r>
            <a:endParaRPr lang="en-US" sz="1100" dirty="0"/>
          </a:p>
        </p:txBody>
      </p:sp>
      <p:sp>
        <p:nvSpPr>
          <p:cNvPr id="17" name="stat-commits"/>
          <p:cNvSpPr/>
          <p:nvPr/>
        </p:nvSpPr>
        <p:spPr>
          <a:xfrm>
            <a:off x="7315200" y="246888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560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30723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100" dirty="0"/>
          </a:p>
        </p:txBody>
      </p:sp>
      <p:sp>
        <p:nvSpPr>
          <p:cNvPr id="20" name="prova-3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4251960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Prova: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run priv/probes/milestone_e3_agent.exs — contra o modelo real: arquivo escrito, uma linha de consumo por volta, soma igual no banco.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6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E4 — Linha de produção de tarefas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– 02/11/2026  ·  etapa/e4-linha-de-producao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675120" y="914400"/>
            <a:ext cx="201168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0" y="914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combinada: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tarefa percorre os seis estados, é reprovada de propósito, é refeita e conclui.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estados pura + transição transacional: estado, relatório e custo numa única transação (R2).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por dependências, desempate pela tarefa que destrava mais; especialista soma ao papel.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aceite são comandos rodados pelo sistema, com lista de binários permitidos.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portões independentes; o revisor não recebe ferramenta de escrita (R3).</a:t>
            </a:r>
            <a:endParaRPr lang="en-US" sz="1200" dirty="0"/>
          </a:p>
        </p:txBody>
      </p:sp>
      <p:sp>
        <p:nvSpPr>
          <p:cNvPr id="8" name="stat-tarefas"/>
          <p:cNvSpPr/>
          <p:nvPr/>
        </p:nvSpPr>
        <p:spPr>
          <a:xfrm>
            <a:off x="5852160" y="137160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89320" y="1463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8/8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19751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</a:t>
            </a:r>
            <a:endParaRPr lang="en-US" sz="1100" dirty="0"/>
          </a:p>
        </p:txBody>
      </p:sp>
      <p:sp>
        <p:nvSpPr>
          <p:cNvPr id="11" name="stat-testes"/>
          <p:cNvSpPr/>
          <p:nvPr/>
        </p:nvSpPr>
        <p:spPr>
          <a:xfrm>
            <a:off x="7315200" y="137160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52360" y="1463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908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19751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100" dirty="0"/>
          </a:p>
        </p:txBody>
      </p:sp>
      <p:sp>
        <p:nvSpPr>
          <p:cNvPr id="14" name="stat-linhas em lib/"/>
          <p:cNvSpPr/>
          <p:nvPr/>
        </p:nvSpPr>
        <p:spPr>
          <a:xfrm>
            <a:off x="5852160" y="246888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89320" y="2560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9.197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30723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em lib/</a:t>
            </a:r>
            <a:endParaRPr lang="en-US" sz="1100" dirty="0"/>
          </a:p>
        </p:txBody>
      </p:sp>
      <p:sp>
        <p:nvSpPr>
          <p:cNvPr id="17" name="stat-commits"/>
          <p:cNvSpPr/>
          <p:nvPr/>
        </p:nvSpPr>
        <p:spPr>
          <a:xfrm>
            <a:off x="7315200" y="246888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560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30723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100" dirty="0"/>
          </a:p>
        </p:txBody>
      </p:sp>
      <p:sp>
        <p:nvSpPr>
          <p:cNvPr id="20" name="prova-4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4251960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Prova: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test test/factory/milestone_e4_test.exs — histórico com os seis estados, reprovação por entrega errada, modelo sobe no 2º ciclo, custo por ciclo separado.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6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E5 — Paralelismo e tolerância a falhas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03/11 – 17/11/2026  ·  etapa/e5-paralelismo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675120" y="914400"/>
            <a:ext cx="201168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0" y="914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combinada: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tarefas em paralelo; encerrar uma no meio não afeta as outras, e ela volta à fila.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processo supervisionado por tarefa, com registro dos agentes em voo (R13).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durável no banco (Oban): enfileirar e mudar o estado da tarefa na mesma transação.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áreas de cada tarefa são exclusão mútua; o número em voo segue o perfil de 8 GB (R6, R9).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Parede de cota do fornecedor reconhecida: o sistema dorme até a reabertura e rearma sozinho.</a:t>
            </a:r>
            <a:endParaRPr lang="en-US" sz="1200" dirty="0"/>
          </a:p>
        </p:txBody>
      </p:sp>
      <p:sp>
        <p:nvSpPr>
          <p:cNvPr id="8" name="stat-tarefas"/>
          <p:cNvSpPr/>
          <p:nvPr/>
        </p:nvSpPr>
        <p:spPr>
          <a:xfrm>
            <a:off x="5852160" y="137160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89320" y="1463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19751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</a:t>
            </a:r>
            <a:endParaRPr lang="en-US" sz="1100" dirty="0"/>
          </a:p>
        </p:txBody>
      </p:sp>
      <p:sp>
        <p:nvSpPr>
          <p:cNvPr id="11" name="stat-testes"/>
          <p:cNvSpPr/>
          <p:nvPr/>
        </p:nvSpPr>
        <p:spPr>
          <a:xfrm>
            <a:off x="7315200" y="137160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52360" y="1463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995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19751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100" dirty="0"/>
          </a:p>
        </p:txBody>
      </p:sp>
      <p:sp>
        <p:nvSpPr>
          <p:cNvPr id="14" name="stat-linhas em lib/"/>
          <p:cNvSpPr/>
          <p:nvPr/>
        </p:nvSpPr>
        <p:spPr>
          <a:xfrm>
            <a:off x="5852160" y="246888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89320" y="2560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10.482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30723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em lib/</a:t>
            </a:r>
            <a:endParaRPr lang="en-US" sz="1100" dirty="0"/>
          </a:p>
        </p:txBody>
      </p:sp>
      <p:sp>
        <p:nvSpPr>
          <p:cNvPr id="17" name="stat-commits"/>
          <p:cNvSpPr/>
          <p:nvPr/>
        </p:nvSpPr>
        <p:spPr>
          <a:xfrm>
            <a:off x="7315200" y="246888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560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30723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100" dirty="0"/>
          </a:p>
        </p:txBody>
      </p:sp>
      <p:sp>
        <p:nvSpPr>
          <p:cNvPr id="20" name="prova-5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4251960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Prova: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test test/factory/milestone_e5_test.exs — três agentes reais em voo, um é morto, os outros seguem e o morto volta à fila.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6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E6 — Memória do projeto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18/11 – 02/12/2026  ·  etapa/e6-memoria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675120" y="914400"/>
            <a:ext cx="2011680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0" y="914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bloqueada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combinada: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agente cita a decisão anterior, com a fonte certa, em vez de decidir de novo.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 antes da escolha: o modelo de embedding local escolhido por desempenho medido (R9).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commit do projeto vira trechos com embedding, sem duplicar em reingestão.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híbrida (significado + termo exato) com fusão de postos, filtrada por projeto.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de contexto com a fonte de cada trecho, fora da faixa cacheada do prompt (R7).</a:t>
            </a:r>
            <a:endParaRPr lang="en-US" sz="1200" dirty="0"/>
          </a:p>
        </p:txBody>
      </p:sp>
      <p:sp>
        <p:nvSpPr>
          <p:cNvPr id="8" name="stat-tarefas"/>
          <p:cNvSpPr/>
          <p:nvPr/>
        </p:nvSpPr>
        <p:spPr>
          <a:xfrm>
            <a:off x="5852160" y="137160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89320" y="1463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5/6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19751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</a:t>
            </a:r>
            <a:endParaRPr lang="en-US" sz="1100" dirty="0"/>
          </a:p>
        </p:txBody>
      </p:sp>
      <p:sp>
        <p:nvSpPr>
          <p:cNvPr id="11" name="stat-testes"/>
          <p:cNvSpPr/>
          <p:nvPr/>
        </p:nvSpPr>
        <p:spPr>
          <a:xfrm>
            <a:off x="7315200" y="137160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52360" y="1463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1.080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19751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100" dirty="0"/>
          </a:p>
        </p:txBody>
      </p:sp>
      <p:sp>
        <p:nvSpPr>
          <p:cNvPr id="14" name="stat-linhas em lib/"/>
          <p:cNvSpPr/>
          <p:nvPr/>
        </p:nvSpPr>
        <p:spPr>
          <a:xfrm>
            <a:off x="5852160" y="246888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89320" y="2560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11.468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30723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em lib/</a:t>
            </a:r>
            <a:endParaRPr lang="en-US" sz="1100" dirty="0"/>
          </a:p>
        </p:txBody>
      </p:sp>
      <p:sp>
        <p:nvSpPr>
          <p:cNvPr id="17" name="stat-commits"/>
          <p:cNvSpPr/>
          <p:nvPr/>
        </p:nvSpPr>
        <p:spPr>
          <a:xfrm>
            <a:off x="7315200" y="246888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560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30723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100" dirty="0"/>
          </a:p>
        </p:txBody>
      </p:sp>
      <p:sp>
        <p:nvSpPr>
          <p:cNvPr id="20" name="prova-6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4251960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Prova: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test test/factory/memory/ — busca, contexto, ingestão e avaliação.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6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E7 — Painel e automação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03/12 – 17/12/2026  ·  etapa/e7-painel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675120" y="914400"/>
            <a:ext cx="201168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0" y="914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andamento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2588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combinada: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projeto inteiro acompanhado na tela, do pedido à entrega, com o custo em tempo real.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Barramento de eventos e telemetria por despacho; a tela lê os mesmos eventos do motor.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de tarefas por estado e console do agente ao vivo, com o custo acumulado (R8).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automático: decisão como função pura, tetos obrigatórios, dorme na cota em vez de parar.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 para entregas que não são código, com grau de prova obrigatório em cada critério.</a:t>
            </a:r>
            <a:endParaRPr lang="en-US" sz="1200" dirty="0"/>
          </a:p>
        </p:txBody>
      </p:sp>
      <p:sp>
        <p:nvSpPr>
          <p:cNvPr id="8" name="stat-tarefas"/>
          <p:cNvSpPr/>
          <p:nvPr/>
        </p:nvSpPr>
        <p:spPr>
          <a:xfrm>
            <a:off x="5852160" y="137160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89320" y="1463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7/8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19751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</a:t>
            </a:r>
            <a:endParaRPr lang="en-US" sz="1100" dirty="0"/>
          </a:p>
        </p:txBody>
      </p:sp>
      <p:sp>
        <p:nvSpPr>
          <p:cNvPr id="11" name="stat-testes"/>
          <p:cNvSpPr/>
          <p:nvPr/>
        </p:nvSpPr>
        <p:spPr>
          <a:xfrm>
            <a:off x="7315200" y="137160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52360" y="1463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1.220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19751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100" dirty="0"/>
          </a:p>
        </p:txBody>
      </p:sp>
      <p:sp>
        <p:nvSpPr>
          <p:cNvPr id="14" name="stat-linhas em lib/"/>
          <p:cNvSpPr/>
          <p:nvPr/>
        </p:nvSpPr>
        <p:spPr>
          <a:xfrm>
            <a:off x="5852160" y="246888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89320" y="2560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13.769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30723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em lib/</a:t>
            </a:r>
            <a:endParaRPr lang="en-US" sz="1100" dirty="0"/>
          </a:p>
        </p:txBody>
      </p:sp>
      <p:sp>
        <p:nvSpPr>
          <p:cNvPr id="17" name="stat-commits"/>
          <p:cNvSpPr/>
          <p:nvPr/>
        </p:nvSpPr>
        <p:spPr>
          <a:xfrm>
            <a:off x="7315200" y="246888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560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30723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100" dirty="0"/>
          </a:p>
        </p:txBody>
      </p:sp>
      <p:sp>
        <p:nvSpPr>
          <p:cNvPr id="20" name="prova-7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4251960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Prova: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phx.server → /board e /console; testes em test/factory_web/ e test/factory/autopilot/.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6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sistema cresce etapa por etapa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40233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663440" y="1051560"/>
          <a:ext cx="40233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6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 trabalho foi feito: retrabalho e custo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40233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663440" y="1051560"/>
          <a:ext cx="40233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Execuções: quantas vezes um agente construiu cada item até ele ser aprovado. Custo: dólar-equivalente da cota da assinatura, medido nas rodadas do painel.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6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Requisitos: 11 atendidos, 3 parciais, 1 pendente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88136"/>
            <a:ext cx="5029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8813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6984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→ especificação, plano e tarefas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implementado; pedido real na validação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7200" y="1517904"/>
            <a:ext cx="5029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51790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499616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estados com relatório e custo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teste do marco E4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947672"/>
            <a:ext cx="5029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9476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1929384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julgamentos independentes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dois portões, teste do marco E4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5029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3591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como refazer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escada de resposta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807208"/>
            <a:ext cx="5029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280720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278892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Retrabalho limitado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humano no 4º ciclo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236976"/>
            <a:ext cx="5029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23697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321868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Paralelismo sem disputa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teste do marco E5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666744"/>
            <a:ext cx="502920" cy="292608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6667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3648456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citado com fonte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bloco ainda não chega ao agente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096512"/>
            <a:ext cx="5029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40965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4078224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Andamento e custo ao vivo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tela pronta; projeto inteiro pendente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63440" y="1088136"/>
            <a:ext cx="5029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63440" y="108813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R9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257800" y="106984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em 8 GB / 4 núcleos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busca medida; pico com 3 em paralelo a medir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663440" y="1517904"/>
            <a:ext cx="5029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63440" y="151790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R10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257800" y="1499616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em cota e dinheiro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consumos em cota e US$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663440" y="1947672"/>
            <a:ext cx="5029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663440" y="19476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257800" y="1929384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escrito fora do projeto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confinamento + sandbox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663440" y="2377440"/>
            <a:ext cx="5029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663440" y="23774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257800" y="23591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sem internet e sem cota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teste do marco E2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663440" y="2807208"/>
            <a:ext cx="5029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663440" y="280720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257800" y="278892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isolada, sem perda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teste do marco E5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663440" y="3236976"/>
            <a:ext cx="5029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663440" y="323697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R14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5257800" y="321868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passa do teto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teto que nunca corta no meio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663440" y="3666744"/>
            <a:ext cx="5029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663440" y="36667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R15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5257800" y="3648456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Fornecedor trocável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dois adaptadores, mesma fronteira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6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ainda não está pronto</a:t>
            </a:r>
            <a:endParaRPr lang="en-US" sz="2800" dirty="0"/>
          </a:p>
        </p:txBody>
      </p:sp>
      <p:sp>
        <p:nvSpPr>
          <p:cNvPr id="3" name="pend-0"/>
          <p:cNvSpPr/>
          <p:nvPr/>
        </p:nvSpPr>
        <p:spPr>
          <a:xfrm>
            <a:off x="457200" y="1097280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0700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170432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com o orientador a proposta dos cinco projetos de teste (FAB-105).</a:t>
            </a:r>
            <a:endParaRPr lang="en-US" sz="1200" dirty="0"/>
          </a:p>
        </p:txBody>
      </p:sp>
      <p:sp>
        <p:nvSpPr>
          <p:cNvPr id="6" name="pend-1"/>
          <p:cNvSpPr/>
          <p:nvPr/>
        </p:nvSpPr>
        <p:spPr>
          <a:xfrm>
            <a:off x="457200" y="1783080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9280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56232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medição do cache com a API por token depende de uma chave de acesso e foi deixada para depois do marco final.</a:t>
            </a:r>
            <a:endParaRPr lang="en-US" sz="1200" dirty="0"/>
          </a:p>
        </p:txBody>
      </p:sp>
      <p:sp>
        <p:nvSpPr>
          <p:cNvPr id="9" name="pend-2"/>
          <p:cNvSpPr/>
          <p:nvPr/>
        </p:nvSpPr>
        <p:spPr>
          <a:xfrm>
            <a:off x="457200" y="2468880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57860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42032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(pedido → tarefas) está implementado; o teste com um pedido real de ponta a ponta acontece na validação (E8).</a:t>
            </a:r>
            <a:endParaRPr lang="en-US" sz="1200" dirty="0"/>
          </a:p>
        </p:txBody>
      </p:sp>
      <p:sp>
        <p:nvSpPr>
          <p:cNvPr id="12" name="pend-3"/>
          <p:cNvSpPr/>
          <p:nvPr/>
        </p:nvSpPr>
        <p:spPr>
          <a:xfrm>
            <a:off x="457200" y="3154680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26440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E6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227832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bloqueado: a fila ainda monta a mensagem do agente sem o bloco de memória (ajuste pequeno, já diagnosticado).</a:t>
            </a:r>
            <a:endParaRPr lang="en-US" sz="1200" dirty="0"/>
          </a:p>
        </p:txBody>
      </p:sp>
      <p:sp>
        <p:nvSpPr>
          <p:cNvPr id="15" name="pend-4"/>
          <p:cNvSpPr/>
          <p:nvPr/>
        </p:nvSpPr>
        <p:spPr>
          <a:xfrm>
            <a:off x="457200" y="3840480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95020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E7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913632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final (um projeto inteiro sem intervenção) depende do ajuste da E6 e da autorização do teto de gasto.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6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Próximo: validação com projetos reais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E8 · executar os 5 projetos de teste sem intervenção e medir os 8 critérios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E9 · corrigir por ordem de impacto e medir de novo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E10 · último ciclo, versão congelada e documento de entrega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brica TCC">
  <a:themeElements>
    <a:clrScheme name="Fabrica TCC">
      <a:dk1>
        <a:srgbClr val="1F2328"/>
      </a:dk1>
      <a:lt1>
        <a:srgbClr val="FFFFFF"/>
      </a:lt1>
      <a:dk2>
        <a:srgbClr val="1B2A41"/>
      </a:dk2>
      <a:lt2>
        <a:srgbClr val="F2F4F7"/>
      </a:lt2>
      <a:accent1>
        <a:srgbClr val="E9A23B"/>
      </a:accent1>
      <a:accent2>
        <a:srgbClr val="2A9D8F"/>
      </a:accent2>
      <a:accent3>
        <a:srgbClr val="C0392B"/>
      </a:accent3>
      <a:accent4>
        <a:srgbClr val="4A6FA5"/>
      </a:accent4>
      <a:accent5>
        <a:srgbClr val="8C96A3"/>
      </a:accent5>
      <a:accent6>
        <a:srgbClr val="6B4E9B"/>
      </a:accent6>
      <a:hlink>
        <a:srgbClr val="4A6FA5"/>
      </a:hlink>
      <a:folHlink>
        <a:srgbClr val="6B4E9B"/>
      </a:folHlink>
    </a:clrScheme>
    <a:fontScheme name="Fabrica TCC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Fábrica de Software Multi-Agente — acompanhamento</dc:title>
  <dc:subject>PptxGenJS Presentation</dc:subject>
  <dc:creator>Enzo Consulo</dc:creator>
  <cp:lastModifiedBy>Enzo Consulo</cp:lastModifiedBy>
  <cp:revision>1</cp:revision>
  <dcterms:created xsi:type="dcterms:W3CDTF">2026-10-08T21:11:35Z</dcterms:created>
  <dcterms:modified xsi:type="dcterms:W3CDTF">2026-10-08T21:11:35Z</dcterms:modified>
</cp:coreProperties>
</file>