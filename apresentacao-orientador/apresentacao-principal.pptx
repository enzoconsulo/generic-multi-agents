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bertura" id="{2dcd893e-a3ed-cca2-8a45-d64aaeae2860}">
          <p14:sldIdLst>
            <p14:sldId id="256"/>
            <p14:sldId id="257"/>
            <p14:sldId id="258"/>
          </p14:sldIdLst>
        </p14:section>
        <p14:section name="O plano" id="{482b4307-1b20-d5e0-1ad6-1b86bb4c8c96}">
          <p14:sldIdLst>
            <p14:sldId id="259"/>
            <p14:sldId id="260"/>
          </p14:sldIdLst>
        </p14:section>
        <p14:section name="Panorama" id="{7020ea89-be43-44ff-592f-d0777f9d6540}">
          <p14:sldIdLst>
            <p14:sldId id="261"/>
            <p14:sldId id="262"/>
          </p14:sldIdLst>
        </p14:section>
        <p14:section name="Etapas" id="{817405c5-32cb-9a42-1438-8b95bf916235}">
          <p14:sldIdLst>
            <p14:sldId id="263"/>
            <p14:sldId id="264"/>
            <p14:sldId id="265"/>
            <p14:sldId id="266"/>
            <p14:sldId id="267"/>
            <p14:sldId id="268"/>
            <p14:sldId id="269"/>
          </p14:sldIdLst>
        </p14:section>
        <p14:section name="Dados" id="{fac1f983-0189-a503-e2b5-45cf222e2149}">
          <p14:sldIdLst>
            <p14:sldId id="270"/>
            <p14:sldId id="271"/>
            <p14:sldId id="272"/>
          </p14:sldIdLst>
        </p14:section>
        <p14:section name="Próximos passos" id="{1fd0b11c-75a1-a79c-bafa-668c9296864c}">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41"/>
                </a:solidFill>
                <a:latin typeface="+mn-lt"/>
              </a:defRPr>
            </a:pPr>
            <a:r>
              <a:rPr sz="1300" b="0" i="0" u="none" strike="noStrike">
                <a:solidFill>
                  <a:srgbClr val="1B2A41"/>
                </a:solidFill>
                <a:latin typeface="+mn-lt"/>
              </a:rPr>
              <a:t>Testes automáticos</a:t>
            </a:r>
          </a:p>
        </c:rich>
      </c:tx>
      <c:layout/>
      <c:overlay val="0"/>
    </c:title>
    <c:autoTitleDeleted val="0"/>
    <c:plotArea>
      <c:layout/>
      <c:barChart>
        <c:barDir val="col"/>
        <c:grouping val="clustered"/>
        <c:varyColors val="0"/>
        <c:ser>
          <c:idx val="0"/>
          <c:order val="0"/>
          <c:tx>
            <c:strRef>
              <c:f>Sheet1!$B$1</c:f>
              <c:strCache>
                <c:ptCount val="1"/>
                <c:pt idx="0">
                  <c:v>Testes</c:v>
                </c:pt>
              </c:strCache>
            </c:strRef>
          </c:tx>
          <c:spPr>
            <a:solidFill>
              <a:srgbClr val="2A9D8F"/>
            </a:solidFill>
            <a:effectLst/>
          </c:spPr>
          <c:invertIfNegative val="0"/>
          <c:dLbls>
            <c:numFmt formatCode="#,##0" sourceLinked="0"/>
            <c:txPr>
              <a:bodyPr/>
              <a:lstStyle/>
              <a:p>
                <a:pPr>
                  <a:defRPr b="0" i="0" strike="noStrike" sz="1000" u="none">
                    <a:solidFill>
                      <a:srgbClr val="1F2328"/>
                    </a:solidFill>
                    <a:latin typeface="+mn-lt"/>
                  </a:defRPr>
                </a:pPr>
              </a:p>
            </c:txPr>
            <c:showLegendKey val="0"/>
            <c:showVal val="1"/>
            <c:showCatName val="0"/>
            <c:showSerName val="0"/>
            <c:showPercent val="0"/>
            <c:showBubbleSize val="0"/>
            <c:showLeaderLines val="0"/>
          </c:dLbls>
          <c:cat>
            <c:multiLvlStrRef>
              <c:f>Sheet1!$A$2:$A$7</c:f>
              <c:multiLvlStrCache>
                <c:ptCount val="6"/>
                <c:lvl>
                  <c:pt idx="0">
                    <c:v>E2</c:v>
                  </c:pt>
                  <c:pt idx="1">
                    <c:v>E3</c:v>
                  </c:pt>
                  <c:pt idx="2">
                    <c:v>E4</c:v>
                  </c:pt>
                  <c:pt idx="3">
                    <c:v>E5</c:v>
                  </c:pt>
                  <c:pt idx="4">
                    <c:v>E6</c:v>
                  </c:pt>
                  <c:pt idx="5">
                    <c:v>E7</c:v>
                  </c:pt>
                </c:lvl>
              </c:multiLvlStrCache>
            </c:multiLvlStrRef>
          </c:cat>
          <c:val>
            <c:numRef>
              <c:f>Sheet1!$B$2:$B$7</c:f>
              <c:numCache>
                <c:formatCode>General</c:formatCode>
                <c:ptCount val="6"/>
                <c:pt idx="0">
                  <c:v>152</c:v>
                </c:pt>
                <c:pt idx="1">
                  <c:v>558</c:v>
                </c:pt>
                <c:pt idx="2">
                  <c:v>908</c:v>
                </c:pt>
                <c:pt idx="3">
                  <c:v>995</c:v>
                </c:pt>
                <c:pt idx="4">
                  <c:v>1080</c:v>
                </c:pt>
                <c:pt idx="5">
                  <c:v>1220</c:v>
                </c:pt>
              </c:numCache>
            </c:numRef>
          </c:val>
        </c:ser>
        <c:dLbls>
          <c:numFmt formatCode="#,##0" sourceLinked="0"/>
          <c:txPr>
            <a:bodyPr/>
            <a:lstStyle/>
            <a:p>
              <a:pPr>
                <a:defRPr b="0" i="0" strike="noStrike" sz="1000" u="none">
                  <a:solidFill>
                    <a:srgbClr val="1F23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C96A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41"/>
                </a:solidFill>
                <a:latin typeface="+mn-lt"/>
              </a:defRPr>
            </a:pPr>
            <a:r>
              <a:rPr sz="1300" b="0" i="0" u="none" strike="noStrike">
                <a:solidFill>
                  <a:srgbClr val="1B2A41"/>
                </a:solidFill>
                <a:latin typeface="+mn-lt"/>
              </a:rPr>
              <a:t>Linhas de código em lib/</a:t>
            </a:r>
          </a:p>
        </c:rich>
      </c:tx>
      <c:layout/>
      <c:overlay val="0"/>
    </c:title>
    <c:autoTitleDeleted val="0"/>
    <c:plotArea>
      <c:layout/>
      <c:barChart>
        <c:barDir val="col"/>
        <c:grouping val="clustered"/>
        <c:varyColors val="0"/>
        <c:ser>
          <c:idx val="0"/>
          <c:order val="0"/>
          <c:tx>
            <c:strRef>
              <c:f>Sheet1!$B$1</c:f>
              <c:strCache>
                <c:ptCount val="1"/>
                <c:pt idx="0">
                  <c:v>Linhas</c:v>
                </c:pt>
              </c:strCache>
            </c:strRef>
          </c:tx>
          <c:spPr>
            <a:solidFill>
              <a:srgbClr val="4A6FA5"/>
            </a:solidFill>
            <a:effectLst/>
          </c:spPr>
          <c:invertIfNegative val="0"/>
          <c:dLbls>
            <c:numFmt formatCode="#,##0" sourceLinked="0"/>
            <c:txPr>
              <a:bodyPr/>
              <a:lstStyle/>
              <a:p>
                <a:pPr>
                  <a:defRPr b="0" i="0" strike="noStrike" sz="1000" u="none">
                    <a:solidFill>
                      <a:srgbClr val="1F2328"/>
                    </a:solidFill>
                    <a:latin typeface="+mn-lt"/>
                  </a:defRPr>
                </a:pPr>
              </a:p>
            </c:txPr>
            <c:showLegendKey val="0"/>
            <c:showVal val="1"/>
            <c:showCatName val="0"/>
            <c:showSerName val="0"/>
            <c:showPercent val="0"/>
            <c:showBubbleSize val="0"/>
            <c:showLeaderLines val="0"/>
          </c:dLbls>
          <c:cat>
            <c:multiLvlStrRef>
              <c:f>Sheet1!$A$2:$A$7</c:f>
              <c:multiLvlStrCache>
                <c:ptCount val="6"/>
                <c:lvl>
                  <c:pt idx="0">
                    <c:v>E2</c:v>
                  </c:pt>
                  <c:pt idx="1">
                    <c:v>E3</c:v>
                  </c:pt>
                  <c:pt idx="2">
                    <c:v>E4</c:v>
                  </c:pt>
                  <c:pt idx="3">
                    <c:v>E5</c:v>
                  </c:pt>
                  <c:pt idx="4">
                    <c:v>E6</c:v>
                  </c:pt>
                  <c:pt idx="5">
                    <c:v>E7</c:v>
                  </c:pt>
                </c:lvl>
              </c:multiLvlStrCache>
            </c:multiLvlStrRef>
          </c:cat>
          <c:val>
            <c:numRef>
              <c:f>Sheet1!$B$2:$B$7</c:f>
              <c:numCache>
                <c:formatCode>General</c:formatCode>
                <c:ptCount val="6"/>
                <c:pt idx="0">
                  <c:v>2634</c:v>
                </c:pt>
                <c:pt idx="1">
                  <c:v>5774</c:v>
                </c:pt>
                <c:pt idx="2">
                  <c:v>9197</c:v>
                </c:pt>
                <c:pt idx="3">
                  <c:v>10482</c:v>
                </c:pt>
                <c:pt idx="4">
                  <c:v>11468</c:v>
                </c:pt>
                <c:pt idx="5">
                  <c:v>13769</c:v>
                </c:pt>
              </c:numCache>
            </c:numRef>
          </c:val>
        </c:ser>
        <c:dLbls>
          <c:numFmt formatCode="#,##0" sourceLinked="0"/>
          <c:txPr>
            <a:bodyPr/>
            <a:lstStyle/>
            <a:p>
              <a:pPr>
                <a:defRPr b="0" i="0" strike="noStrike" sz="1000" u="none">
                  <a:solidFill>
                    <a:srgbClr val="1F23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C96A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41"/>
                </a:solidFill>
                <a:latin typeface="+mn-lt"/>
              </a:defRPr>
            </a:pPr>
            <a:r>
              <a:rPr sz="1300" b="0" i="0" u="none" strike="noStrike">
                <a:solidFill>
                  <a:srgbClr val="1B2A41"/>
                </a:solidFill>
                <a:latin typeface="+mn-lt"/>
              </a:rPr>
              <a:t>Tarefas concluídas</a:t>
            </a:r>
          </a:p>
        </c:rich>
      </c:tx>
      <c:layout/>
      <c:overlay val="0"/>
    </c:title>
    <c:autoTitleDeleted val="0"/>
    <c:plotArea>
      <c:layout/>
      <c:barChart>
        <c:barDir val="col"/>
        <c:grouping val="clustered"/>
        <c:varyColors val="0"/>
        <c:ser>
          <c:idx val="0"/>
          <c:order val="0"/>
          <c:tx>
            <c:strRef>
              <c:f>Sheet1!$B$1</c:f>
              <c:strCache>
                <c:ptCount val="1"/>
                <c:pt idx="0">
                  <c:v>Tarefas</c:v>
                </c:pt>
              </c:strCache>
            </c:strRef>
          </c:tx>
          <c:spPr>
            <a:solidFill>
              <a:srgbClr val="2A9D8F"/>
            </a:solidFill>
            <a:effectLst/>
          </c:spPr>
          <c:invertIfNegative val="0"/>
          <c:dLbls>
            <c:numFmt formatCode="0" sourceLinked="0"/>
            <c:txPr>
              <a:bodyPr/>
              <a:lstStyle/>
              <a:p>
                <a:pPr>
                  <a:defRPr b="0" i="0" strike="noStrike" sz="1000" u="none">
                    <a:solidFill>
                      <a:srgbClr val="1F2328"/>
                    </a:solidFill>
                    <a:latin typeface="+mn-lt"/>
                  </a:defRPr>
                </a:pPr>
              </a:p>
            </c:txPr>
            <c:showLegendKey val="0"/>
            <c:showVal val="1"/>
            <c:showCatName val="0"/>
            <c:showSerName val="0"/>
            <c:showPercent val="0"/>
            <c:showBubbleSize val="0"/>
            <c:showLeaderLines val="0"/>
          </c:dLbls>
          <c:cat>
            <c:multiLvlStrRef>
              <c:f>Sheet1!$A$2:$A$7</c:f>
              <c:multiLvlStrCache>
                <c:ptCount val="6"/>
                <c:lvl>
                  <c:pt idx="0">
                    <c:v>E2</c:v>
                  </c:pt>
                  <c:pt idx="1">
                    <c:v>E3</c:v>
                  </c:pt>
                  <c:pt idx="2">
                    <c:v>E4</c:v>
                  </c:pt>
                  <c:pt idx="3">
                    <c:v>E5</c:v>
                  </c:pt>
                  <c:pt idx="4">
                    <c:v>E6</c:v>
                  </c:pt>
                  <c:pt idx="5">
                    <c:v>E7</c:v>
                  </c:pt>
                </c:lvl>
              </c:multiLvlStrCache>
            </c:multiLvlStrRef>
          </c:cat>
          <c:val>
            <c:numRef>
              <c:f>Sheet1!$B$2:$B$7</c:f>
              <c:numCache>
                <c:formatCode>General</c:formatCode>
                <c:ptCount val="6"/>
                <c:pt idx="0">
                  <c:v>5</c:v>
                </c:pt>
                <c:pt idx="1">
                  <c:v>6</c:v>
                </c:pt>
                <c:pt idx="2">
                  <c:v>8</c:v>
                </c:pt>
                <c:pt idx="3">
                  <c:v>6</c:v>
                </c:pt>
                <c:pt idx="4">
                  <c:v>5</c:v>
                </c:pt>
                <c:pt idx="5">
                  <c:v>7</c:v>
                </c:pt>
              </c:numCache>
            </c:numRef>
          </c:val>
        </c:ser>
        <c:dLbls>
          <c:numFmt formatCode="0" sourceLinked="0"/>
          <c:txPr>
            <a:bodyPr/>
            <a:lstStyle/>
            <a:p>
              <a:pPr>
                <a:defRPr b="0" i="0" strike="noStrike" sz="1000" u="none">
                  <a:solidFill>
                    <a:srgbClr val="1F23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C96A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41"/>
                </a:solidFill>
                <a:latin typeface="+mn-lt"/>
              </a:defRPr>
            </a:pPr>
            <a:r>
              <a:rPr sz="1300" b="0" i="0" u="none" strike="noStrike">
                <a:solidFill>
                  <a:srgbClr val="1B2A41"/>
                </a:solidFill>
                <a:latin typeface="+mn-lt"/>
              </a:rPr>
              <a:t>Commits na branch da etapa</a:t>
            </a:r>
          </a:p>
        </c:rich>
      </c:tx>
      <c:layout/>
      <c:overlay val="0"/>
    </c:title>
    <c:autoTitleDeleted val="0"/>
    <c:plotArea>
      <c:layout/>
      <c:barChart>
        <c:barDir val="col"/>
        <c:grouping val="clustered"/>
        <c:varyColors val="0"/>
        <c:ser>
          <c:idx val="0"/>
          <c:order val="0"/>
          <c:tx>
            <c:strRef>
              <c:f>Sheet1!$B$1</c:f>
              <c:strCache>
                <c:ptCount val="1"/>
                <c:pt idx="0">
                  <c:v>Commits</c:v>
                </c:pt>
              </c:strCache>
            </c:strRef>
          </c:tx>
          <c:spPr>
            <a:solidFill>
              <a:srgbClr val="4A6FA5"/>
            </a:solidFill>
            <a:effectLst/>
          </c:spPr>
          <c:invertIfNegative val="0"/>
          <c:dLbls>
            <c:numFmt formatCode="0" sourceLinked="0"/>
            <c:txPr>
              <a:bodyPr/>
              <a:lstStyle/>
              <a:p>
                <a:pPr>
                  <a:defRPr b="0" i="0" strike="noStrike" sz="1000" u="none">
                    <a:solidFill>
                      <a:srgbClr val="1F2328"/>
                    </a:solidFill>
                    <a:latin typeface="+mn-lt"/>
                  </a:defRPr>
                </a:pPr>
              </a:p>
            </c:txPr>
            <c:showLegendKey val="0"/>
            <c:showVal val="1"/>
            <c:showCatName val="0"/>
            <c:showSerName val="0"/>
            <c:showPercent val="0"/>
            <c:showBubbleSize val="0"/>
            <c:showLeaderLines val="0"/>
          </c:dLbls>
          <c:cat>
            <c:multiLvlStrRef>
              <c:f>Sheet1!$A$2:$A$7</c:f>
              <c:multiLvlStrCache>
                <c:ptCount val="6"/>
                <c:lvl>
                  <c:pt idx="0">
                    <c:v>E2</c:v>
                  </c:pt>
                  <c:pt idx="1">
                    <c:v>E3</c:v>
                  </c:pt>
                  <c:pt idx="2">
                    <c:v>E4</c:v>
                  </c:pt>
                  <c:pt idx="3">
                    <c:v>E5</c:v>
                  </c:pt>
                  <c:pt idx="4">
                    <c:v>E6</c:v>
                  </c:pt>
                  <c:pt idx="5">
                    <c:v>E7</c:v>
                  </c:pt>
                </c:lvl>
              </c:multiLvlStrCache>
            </c:multiLvlStrRef>
          </c:cat>
          <c:val>
            <c:numRef>
              <c:f>Sheet1!$B$2:$B$7</c:f>
              <c:numCache>
                <c:formatCode>General</c:formatCode>
                <c:ptCount val="6"/>
                <c:pt idx="0">
                  <c:v>10</c:v>
                </c:pt>
                <c:pt idx="1">
                  <c:v>13</c:v>
                </c:pt>
                <c:pt idx="2">
                  <c:v>16</c:v>
                </c:pt>
                <c:pt idx="3">
                  <c:v>10</c:v>
                </c:pt>
                <c:pt idx="4">
                  <c:v>9</c:v>
                </c:pt>
                <c:pt idx="5">
                  <c:v>14</c:v>
                </c:pt>
              </c:numCache>
            </c:numRef>
          </c:val>
        </c:ser>
        <c:dLbls>
          <c:numFmt formatCode="0" sourceLinked="0"/>
          <c:txPr>
            <a:bodyPr/>
            <a:lstStyle/>
            <a:p>
              <a:pPr>
                <a:defRPr b="0" i="0" strike="noStrike" sz="1000" u="none">
                  <a:solidFill>
                    <a:srgbClr val="1F23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C96A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O sistema recebe a descrição de um projeto e o constrói de ponta a ponta com agentes especializados — e as regras de governança são impostas pela estrutura do programa, não pelo texto do pedido.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regra que normalmente é um pedido ao modelo vira um mecanismo do programa. É isso que o projeto inteiro prova, etapa por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etapa construiu uma camada do sistema, de baixo para cima. A cor da etiqueta é a situação da entrega da etapa.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Requisitos, arquitetura, divisão do trabalho e critérios de desempenho definidos. Os cinco projetos de teste estão propostos e aguardam validação.
Como: 15 requisitos: 8 funcionais (R1–R8) e 7 restrições (R9–R15), cada um com etapa e forma de verificar. Arquitetura em 4 camadas (tela, motor, agentes, fronteiras) sobre um único banco PostgreSQL. Ciclo de vida da tarefa com 6 estados e 2 portões independentes; escada de 4 degraus para falhas. Pilha Elixir/OTP escolhida pela supervisão de processos: cada agente é um processo isolado. Trabalho de E2–E7 decomposto em 39 tarefas, uma por pacote do plano, com critérios executáveis.
Pendente: Validar com o orientador a proposta dos cinco projetos de teste (FAB-105).
Próxima: E2 — montar a fundação: ambiente, banco, custo, fronteiras e cópia de segurança.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fundação está de pé e se prova sozinha: a suíte inteira roda sem internet e sem consumir o serviço do modelo.
Como: Projeto Phoenix com verificação em um comando (mix factory.ci), do estágio mais barato ao mais caro. Esquema do banco com projetos, tarefas, ciclos, despachos e consumos, criado por migrações. Custo contado em duas unidades — cota da assinatura e dólar — a cada resposta do modelo (R10). Duas fronteiras (Provider e Embedder), cada uma com um adaptador falso que é o padrão nos testes (R12). Backup e restauração do banco com ida e volta provada em estágio próprio da verificação.
Pendente: nada.
Próxima: E3 — o agente e as ferramentas, com confinamento.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 agente real resolve uma tarefa real com o custo gravado por volta, e o fornecedor do modelo é trocável sem tocar o núcleo.
Como: Ferramentas de arquivo e de comando; comando com prazo mata a árvore de processos inteira. Confinamento resolvendo o caminho REAL (links, junções, UNC, dispositivos) antes de tocar o disco (R11). O shell do agente roda em sandbox do sistema operacional; sem sandbox, o agente com shell não sobe. O agente é um processo OTP supervisionado, com teto de chamadas por papel imposto pelo sistema. Dois adaptadores atrás da mesma fronteira (CLI do fornecedor e API por token); a governança do CLI foi medida antes de decidir (R15).
Pendente: A medição do cache com a API por token depende de uma chave de acesso e foi deixada para depois do marco final.
Próxima: E4 — a linha de produção: estados, fila, critérios, portões e escada de falha.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linha de produção funciona de ponta a ponta: uma tarefa criada do zero é reprovada de propósito, sobe de modelo, é refeita e conclui.
Como: Máquina de estados pura + transição transacional: estado, relatório e custo numa única transação (R2). Fila por dependências, desempate pela tarefa que destrava mais; especialista soma ao papel. Critérios de aceite são comandos rodados pelo sistema, com lista de binários permitidos. Dois portões independentes; o revisor não recebe ferramenta de escrita (R3). Escada de resposta: modelo mais forte, outro especialista, replanejar, humano (R4, R5); teto de gasto que nunca corta no meio (R14).
Pendente: R1 (pedido → tarefas) está implementado; o teste com um pedido real de ponta a ponta acontece na validação (E8).
Próxima: E5 — paralelismo e tolerância a falhas.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Três tarefas rodam em paralelo; matar uma no meio não afeta as outras, e ela volta à fila sem perder trabalho.
Como: Um processo supervisionado por tarefa, com registro dos agentes em voo (R13). Fila durável no banco (Oban): enfileirar e mudar o estado da tarefa na mesma transação. As áreas de cada tarefa são exclusão mútua; o número em voo segue o perfil de 8 GB (R6, R9). Parede de cota do fornecedor reconhecida: o sistema dorme até a reabertura e rearma sozinho. Na subida após uma queda, o trabalho parcial é commitado em nome da tarefa certa.
Pendente: nada.
Próxima: E6 — memória do projeto.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peças da memória estão construídas e testadas; a entrega da etapa (o agente citar a decisão anterior) ainda não foi demonstrada.
Como: Medição antes da escolha: o modelo de embedding local escolhido por desempenho medido (R9). Cada commit do projeto vira trechos com embedding, sem duplicar em reingestão. Busca híbrida (significado + termo exato) com fusão de postos, filtrada por projeto. Bloco de contexto com a fonte de cada trecho, fora da faixa cacheada do prompt (R7). Avaliação com recall@8, recall@1 e MRR; busca abaixo da linha de base desliga o bloco.
Pendente: Marco bloqueado: a fila ainda monta a mensagem do agente sem o bloco de memória (ajuste pequeno, já diagnosticado).
Próxima: Fechar o ajuste da fila e demonstrar o agente real citando a decisão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Tela ao vivo, parar/retomar, piloto automático com teto de gasto e o agente real ligado à fila estão prontos; o projeto inteiro sem intervenção ainda não foi executado.
Como: Barramento de eventos e telemetria por despacho; a tela lê os mesmos eventos do motor. Quadro de tarefas por estado e console do agente ao vivo, com o custo acumulado (R8). Piloto automático: decisão como função pura, tetos obrigatórios, dorme na cota em vez de parar. Trilha para entregas que não são código, com grau de prova obrigatório em cada critério. Varredura de segredos antes de publicar; doutrina própria para construtor, verificador e revisor.
Pendente: Marco final (um projeto inteiro sem intervenção) depende do ajuste da E6 e da autorização do teto de gasto.
Próxima: E8 — validação com os cinco projetos de teste e a primeira medição dos 8 critérios.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SCURO">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rtlCol="0"/>
          <a:lstStyle>
            <a:lvl1pPr indent="0" marL="0">
              <a:buNone/>
              <a:defRPr lang="en-US" sz="4000" b="1" dirty="0">
                <a:solidFill>
                  <a:schemeClr val="bg1"/>
                </a:solidFill>
                <a:latin typeface="Cambria" pitchFamily="34" charset="0"/>
                <a:ea typeface="Cambria" pitchFamily="34" charset="-122"/>
                <a:cs typeface="Cambria" pitchFamily="34" charset="-120"/>
              </a:defRPr>
            </a:lvl1pPr>
          </a:lstStyle>
          <a:p>
            <a:pPr indent="0" marL="0">
              <a:buNone/>
            </a:pPr>
            <a:endParaRPr lang="en-US" sz="4000" dirty="0"/>
          </a:p>
        </p:txBody>
      </p:sp>
      <p:sp>
        <p:nvSpPr>
          <p:cNvPr id="3" name="Text 0"/>
          <p:cNvSpPr/>
          <p:nvPr>
            <p:ph idx="101" type="body" hasCustomPrompt="1"/>
          </p:nvPr>
        </p:nvSpPr>
        <p:spPr>
          <a:xfrm>
            <a:off x="548640" y="2697480"/>
            <a:ext cx="8046720" cy="12801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U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2800" b="1" dirty="0">
                <a:solidFill>
                  <a:schemeClr val="tx2"/>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3" name="Text 0"/>
          <p:cNvSpPr/>
          <p:nvPr/>
        </p:nvSpPr>
        <p:spPr>
          <a:xfrm>
            <a:off x="457200" y="4754880"/>
            <a:ext cx="5486400" cy="274320"/>
          </a:xfrm>
          <a:prstGeom prst="rect">
            <a:avLst/>
          </a:prstGeom>
          <a:noFill/>
          <a:ln/>
        </p:spPr>
        <p:txBody>
          <a:bodyPr wrap="square" rtlCol="0" anchor="ctr"/>
          <a:lstStyle/>
          <a:p>
            <a:pPr indent="0" marL="0">
              <a:buNone/>
            </a:pPr>
            <a:r>
              <a:rPr lang="en-US" sz="900" dirty="0">
                <a:solidFill>
                  <a:schemeClr val="accent5"/>
                </a:solidFill>
              </a:rPr>
              <a:t>Fábrica de Software Multi-Agente · TCC</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96A3"/>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96A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rtlCol="0" anchor="b"/>
          <a:lstStyle/>
          <a:p>
            <a:pPr indent="0" marL="0">
              <a:buNone/>
            </a:pPr>
            <a:r>
              <a:rPr lang="en-US" sz="4000" b="1" dirty="0">
                <a:solidFill>
                  <a:schemeClr val="bg1"/>
                </a:solidFill>
                <a:latin typeface="Cambria" pitchFamily="34" charset="0"/>
                <a:ea typeface="Cambria" pitchFamily="34" charset="-122"/>
                <a:cs typeface="Cambria" pitchFamily="34" charset="-120"/>
              </a:rPr>
              <a:t>Fábrica de Software Multi-Agente</a:t>
            </a:r>
            <a:endParaRPr lang="en-US" sz="4000" dirty="0"/>
          </a:p>
        </p:txBody>
      </p:sp>
      <p:sp>
        <p:nvSpPr>
          <p:cNvPr id="3" name="Text 0"/>
          <p:cNvSpPr/>
          <p:nvPr>
            <p:ph idx="101" type="body" hasCustomPrompt="1"/>
          </p:nvPr>
        </p:nvSpPr>
        <p:spPr>
          <a:xfrm>
            <a:off x="548640" y="2697480"/>
            <a:ext cx="8046720" cy="1280160"/>
          </a:xfrm>
          <a:prstGeom prst="rect">
            <a:avLst/>
          </a:prstGeom>
          <a:noFill/>
          <a:ln/>
        </p:spPr>
        <p:txBody>
          <a:bodyPr wrap="square" rtlCol="0" anchor="t"/>
          <a:lstStyle/>
          <a:p>
            <a:pPr indent="0" marL="0">
              <a:buNone/>
            </a:pPr>
            <a:r>
              <a:rPr lang="en-US" sz="1800" dirty="0">
                <a:solidFill>
                  <a:schemeClr val="bg2"/>
                </a:solidFill>
              </a:rPr>
              <a:t>Acompanhamento do desenvolvimento — Trabalho de Conclusão de Curso</a:t>
            </a:r>
            <a:endParaRPr lang="en-US" sz="1800" dirty="0"/>
          </a:p>
          <a:p>
            <a:pPr indent="0" marL="0">
              <a:buNone/>
            </a:pPr>
            <a:r>
              <a:rPr lang="en-US" sz="1800" dirty="0">
                <a:solidFill>
                  <a:schemeClr val="bg2"/>
                </a:solidFill>
              </a:rPr>
              <a:t>Enzo Consulo</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A regra mora na estrutura, não no pedido</a:t>
            </a:r>
            <a:endParaRPr lang="en-US" sz="2800" dirty="0"/>
          </a:p>
        </p:txBody>
      </p:sp>
      <p:sp>
        <p:nvSpPr>
          <p:cNvPr id="3" name="Text 1"/>
          <p:cNvSpPr txBox="1"/>
          <p:nvPr/>
        </p:nvSpPr>
        <p:spPr>
          <a:xfrm>
            <a:off x="457200" y="1051560"/>
            <a:ext cx="8229600" cy="365760"/>
          </a:xfrm>
          <a:prstGeom prst="rect">
            <a:avLst/>
          </a:prstGeom>
          <a:noFill/>
          <a:ln/>
        </p:spPr>
        <p:txBody>
          <a:bodyPr wrap="square" lIns="0" tIns="0" rIns="0" bIns="0" rtlCol="0" anchor="t"/>
          <a:lstStyle/>
          <a:p>
            <a:pPr indent="0" marL="0">
              <a:buNone/>
            </a:pPr>
            <a:r>
              <a:rPr lang="en-US" sz="1600" i="1" dirty="0">
                <a:solidFill>
                  <a:schemeClr val="accent4"/>
                </a:solidFill>
                <a:latin typeface="Calibri" pitchFamily="34" charset="0"/>
                <a:ea typeface="Calibri" pitchFamily="34" charset="-122"/>
                <a:cs typeface="Calibri" pitchFamily="34" charset="-120"/>
              </a:rPr>
              <a:t>Um sistema multi-agente não falha por escrever mal, e sim por governar mal.</a:t>
            </a:r>
            <a:endParaRPr lang="en-US" sz="1600" dirty="0"/>
          </a:p>
        </p:txBody>
      </p:sp>
      <p:sp>
        <p:nvSpPr>
          <p:cNvPr id="4" name="regra-0"/>
          <p:cNvSpPr/>
          <p:nvPr/>
        </p:nvSpPr>
        <p:spPr>
          <a:xfrm>
            <a:off x="457200" y="1600200"/>
            <a:ext cx="4023360" cy="1280160"/>
          </a:xfrm>
          <a:prstGeom prst="roundRect">
            <a:avLst>
              <a:gd name="adj" fmla="val 5714"/>
            </a:avLst>
          </a:prstGeom>
          <a:solidFill>
            <a:schemeClr val="bg2"/>
          </a:solidFill>
          <a:ln w="12700">
            <a:solidFill>
              <a:schemeClr val="bg2"/>
            </a:solidFill>
            <a:prstDash val="solid"/>
          </a:ln>
        </p:spPr>
      </p:sp>
      <p:sp>
        <p:nvSpPr>
          <p:cNvPr id="5" name="Text 3"/>
          <p:cNvSpPr txBox="1"/>
          <p:nvPr/>
        </p:nvSpPr>
        <p:spPr>
          <a:xfrm>
            <a:off x="685800" y="1783080"/>
            <a:ext cx="356616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Não escrever fora do projeto</a:t>
            </a:r>
            <a:endParaRPr lang="en-US" sz="1600" dirty="0"/>
          </a:p>
        </p:txBody>
      </p:sp>
      <p:sp>
        <p:nvSpPr>
          <p:cNvPr id="6" name="Text 4"/>
          <p:cNvSpPr txBox="1"/>
          <p:nvPr/>
        </p:nvSpPr>
        <p:spPr>
          <a:xfrm>
            <a:off x="685800" y="2240280"/>
            <a:ext cx="3566160" cy="5029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 a ferramenta de escrita recusa o caminho</a:t>
            </a:r>
            <a:endParaRPr lang="en-US" sz="1400" dirty="0"/>
          </a:p>
        </p:txBody>
      </p:sp>
      <p:sp>
        <p:nvSpPr>
          <p:cNvPr id="7" name="regra-1"/>
          <p:cNvSpPr/>
          <p:nvPr/>
        </p:nvSpPr>
        <p:spPr>
          <a:xfrm>
            <a:off x="4663440" y="1600200"/>
            <a:ext cx="4023360" cy="1280160"/>
          </a:xfrm>
          <a:prstGeom prst="roundRect">
            <a:avLst>
              <a:gd name="adj" fmla="val 5714"/>
            </a:avLst>
          </a:prstGeom>
          <a:solidFill>
            <a:schemeClr val="bg2"/>
          </a:solidFill>
          <a:ln w="12700">
            <a:solidFill>
              <a:schemeClr val="bg2"/>
            </a:solidFill>
            <a:prstDash val="solid"/>
          </a:ln>
        </p:spPr>
      </p:sp>
      <p:sp>
        <p:nvSpPr>
          <p:cNvPr id="8" name="Text 6"/>
          <p:cNvSpPr txBox="1"/>
          <p:nvPr/>
        </p:nvSpPr>
        <p:spPr>
          <a:xfrm>
            <a:off x="4892040" y="1783080"/>
            <a:ext cx="356616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No máximo três tentativas</a:t>
            </a:r>
            <a:endParaRPr lang="en-US" sz="1600" dirty="0"/>
          </a:p>
        </p:txBody>
      </p:sp>
      <p:sp>
        <p:nvSpPr>
          <p:cNvPr id="9" name="Text 7"/>
          <p:cNvSpPr txBox="1"/>
          <p:nvPr/>
        </p:nvSpPr>
        <p:spPr>
          <a:xfrm>
            <a:off x="4892040" y="2240280"/>
            <a:ext cx="3566160" cy="5029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 contador no banco, que o agente não altera</a:t>
            </a:r>
            <a:endParaRPr lang="en-US" sz="1400" dirty="0"/>
          </a:p>
        </p:txBody>
      </p:sp>
      <p:sp>
        <p:nvSpPr>
          <p:cNvPr id="10" name="regra-2"/>
          <p:cNvSpPr/>
          <p:nvPr/>
        </p:nvSpPr>
        <p:spPr>
          <a:xfrm>
            <a:off x="457200" y="3063240"/>
            <a:ext cx="4023360" cy="1280160"/>
          </a:xfrm>
          <a:prstGeom prst="roundRect">
            <a:avLst>
              <a:gd name="adj" fmla="val 5714"/>
            </a:avLst>
          </a:prstGeom>
          <a:solidFill>
            <a:schemeClr val="bg2"/>
          </a:solidFill>
          <a:ln w="12700">
            <a:solidFill>
              <a:schemeClr val="bg2"/>
            </a:solidFill>
            <a:prstDash val="solid"/>
          </a:ln>
        </p:spPr>
      </p:sp>
      <p:sp>
        <p:nvSpPr>
          <p:cNvPr id="11" name="Text 9"/>
          <p:cNvSpPr txBox="1"/>
          <p:nvPr/>
        </p:nvSpPr>
        <p:spPr>
          <a:xfrm>
            <a:off x="685800" y="3246120"/>
            <a:ext cx="356616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Quem constrói não aprova</a:t>
            </a:r>
            <a:endParaRPr lang="en-US" sz="1600" dirty="0"/>
          </a:p>
        </p:txBody>
      </p:sp>
      <p:sp>
        <p:nvSpPr>
          <p:cNvPr id="12" name="Text 10"/>
          <p:cNvSpPr txBox="1"/>
          <p:nvPr/>
        </p:nvSpPr>
        <p:spPr>
          <a:xfrm>
            <a:off x="685800" y="3703320"/>
            <a:ext cx="3566160" cy="5029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 o revisor não recebe ferramenta de escrita</a:t>
            </a:r>
            <a:endParaRPr lang="en-US" sz="1400" dirty="0"/>
          </a:p>
        </p:txBody>
      </p:sp>
      <p:sp>
        <p:nvSpPr>
          <p:cNvPr id="13" name="regra-3"/>
          <p:cNvSpPr/>
          <p:nvPr/>
        </p:nvSpPr>
        <p:spPr>
          <a:xfrm>
            <a:off x="4663440" y="3063240"/>
            <a:ext cx="4023360" cy="1280160"/>
          </a:xfrm>
          <a:prstGeom prst="roundRect">
            <a:avLst>
              <a:gd name="adj" fmla="val 5714"/>
            </a:avLst>
          </a:prstGeom>
          <a:solidFill>
            <a:schemeClr val="bg2"/>
          </a:solidFill>
          <a:ln w="12700">
            <a:solidFill>
              <a:schemeClr val="bg2"/>
            </a:solidFill>
            <a:prstDash val="solid"/>
          </a:ln>
        </p:spPr>
      </p:sp>
      <p:sp>
        <p:nvSpPr>
          <p:cNvPr id="14" name="Text 12"/>
          <p:cNvSpPr txBox="1"/>
          <p:nvPr/>
        </p:nvSpPr>
        <p:spPr>
          <a:xfrm>
            <a:off x="4892040" y="3246120"/>
            <a:ext cx="356616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Não estourar o orçamento</a:t>
            </a:r>
            <a:endParaRPr lang="en-US" sz="1600" dirty="0"/>
          </a:p>
        </p:txBody>
      </p:sp>
      <p:sp>
        <p:nvSpPr>
          <p:cNvPr id="15" name="Text 13"/>
          <p:cNvSpPr txBox="1"/>
          <p:nvPr/>
        </p:nvSpPr>
        <p:spPr>
          <a:xfrm>
            <a:off x="4892040" y="3703320"/>
            <a:ext cx="3566160" cy="5029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 o sistema não deixa começar o que não cabe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96A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A régua: 8 critérios medidos na validação</a:t>
            </a:r>
            <a:endParaRPr lang="en-US" sz="2800" dirty="0"/>
          </a:p>
        </p:txBody>
      </p:sp>
      <p:sp>
        <p:nvSpPr>
          <p:cNvPr id="3" name="crit-0"/>
          <p:cNvSpPr/>
          <p:nvPr/>
        </p:nvSpPr>
        <p:spPr>
          <a:xfrm>
            <a:off x="457200" y="1188720"/>
            <a:ext cx="1920240" cy="1417320"/>
          </a:xfrm>
          <a:prstGeom prst="roundRect">
            <a:avLst>
              <a:gd name="adj" fmla="val 5161"/>
            </a:avLst>
          </a:prstGeom>
          <a:solidFill>
            <a:schemeClr val="bg2"/>
          </a:solidFill>
          <a:ln w="12700">
            <a:solidFill>
              <a:schemeClr val="bg2"/>
            </a:solidFill>
            <a:prstDash val="solid"/>
          </a:ln>
        </p:spPr>
      </p:sp>
      <p:sp>
        <p:nvSpPr>
          <p:cNvPr id="4" name="Text 2"/>
          <p:cNvSpPr txBox="1"/>
          <p:nvPr/>
        </p:nvSpPr>
        <p:spPr>
          <a:xfrm>
            <a:off x="621792" y="1371600"/>
            <a:ext cx="1600200" cy="5486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Constrói sozinho</a:t>
            </a:r>
            <a:endParaRPr lang="en-US" sz="1500" dirty="0"/>
          </a:p>
        </p:txBody>
      </p:sp>
      <p:sp>
        <p:nvSpPr>
          <p:cNvPr id="5" name="Text 3"/>
          <p:cNvSpPr txBox="1"/>
          <p:nvPr/>
        </p:nvSpPr>
        <p:spPr>
          <a:xfrm>
            <a:off x="621792" y="2011680"/>
            <a:ext cx="1600200" cy="41148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 3 de 5 projetos</a:t>
            </a:r>
            <a:endParaRPr lang="en-US" sz="1300" dirty="0"/>
          </a:p>
        </p:txBody>
      </p:sp>
      <p:sp>
        <p:nvSpPr>
          <p:cNvPr id="6" name="crit-1"/>
          <p:cNvSpPr/>
          <p:nvPr/>
        </p:nvSpPr>
        <p:spPr>
          <a:xfrm>
            <a:off x="2560320" y="1188720"/>
            <a:ext cx="1920240" cy="1417320"/>
          </a:xfrm>
          <a:prstGeom prst="roundRect">
            <a:avLst>
              <a:gd name="adj" fmla="val 5161"/>
            </a:avLst>
          </a:prstGeom>
          <a:solidFill>
            <a:schemeClr val="bg2"/>
          </a:solidFill>
          <a:ln w="12700">
            <a:solidFill>
              <a:schemeClr val="bg2"/>
            </a:solidFill>
            <a:prstDash val="solid"/>
          </a:ln>
        </p:spPr>
      </p:sp>
      <p:sp>
        <p:nvSpPr>
          <p:cNvPr id="7" name="Text 5"/>
          <p:cNvSpPr txBox="1"/>
          <p:nvPr/>
        </p:nvSpPr>
        <p:spPr>
          <a:xfrm>
            <a:off x="2724912" y="1371600"/>
            <a:ext cx="1600200" cy="5486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Conclui tarefas</a:t>
            </a:r>
            <a:endParaRPr lang="en-US" sz="1500" dirty="0"/>
          </a:p>
        </p:txBody>
      </p:sp>
      <p:sp>
        <p:nvSpPr>
          <p:cNvPr id="8" name="Text 6"/>
          <p:cNvSpPr txBox="1"/>
          <p:nvPr/>
        </p:nvSpPr>
        <p:spPr>
          <a:xfrm>
            <a:off x="2724912" y="2011680"/>
            <a:ext cx="1600200" cy="41148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 80%</a:t>
            </a:r>
            <a:endParaRPr lang="en-US" sz="1300" dirty="0"/>
          </a:p>
        </p:txBody>
      </p:sp>
      <p:sp>
        <p:nvSpPr>
          <p:cNvPr id="9" name="crit-2"/>
          <p:cNvSpPr/>
          <p:nvPr/>
        </p:nvSpPr>
        <p:spPr>
          <a:xfrm>
            <a:off x="4663440" y="1188720"/>
            <a:ext cx="1920240" cy="1417320"/>
          </a:xfrm>
          <a:prstGeom prst="roundRect">
            <a:avLst>
              <a:gd name="adj" fmla="val 5161"/>
            </a:avLst>
          </a:prstGeom>
          <a:solidFill>
            <a:schemeClr val="bg2"/>
          </a:solidFill>
          <a:ln w="12700">
            <a:solidFill>
              <a:schemeClr val="bg2"/>
            </a:solidFill>
            <a:prstDash val="solid"/>
          </a:ln>
        </p:spPr>
      </p:sp>
      <p:sp>
        <p:nvSpPr>
          <p:cNvPr id="10" name="Text 8"/>
          <p:cNvSpPr txBox="1"/>
          <p:nvPr/>
        </p:nvSpPr>
        <p:spPr>
          <a:xfrm>
            <a:off x="4828032" y="1371600"/>
            <a:ext cx="1600200" cy="5486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Pouco retrabalho</a:t>
            </a:r>
            <a:endParaRPr lang="en-US" sz="1500" dirty="0"/>
          </a:p>
        </p:txBody>
      </p:sp>
      <p:sp>
        <p:nvSpPr>
          <p:cNvPr id="11" name="Text 9"/>
          <p:cNvSpPr txBox="1"/>
          <p:nvPr/>
        </p:nvSpPr>
        <p:spPr>
          <a:xfrm>
            <a:off x="4828032" y="2011680"/>
            <a:ext cx="1600200" cy="41148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 2 execuções</a:t>
            </a:r>
            <a:endParaRPr lang="en-US" sz="1300" dirty="0"/>
          </a:p>
        </p:txBody>
      </p:sp>
      <p:sp>
        <p:nvSpPr>
          <p:cNvPr id="12" name="crit-3"/>
          <p:cNvSpPr/>
          <p:nvPr/>
        </p:nvSpPr>
        <p:spPr>
          <a:xfrm>
            <a:off x="6766560" y="1188720"/>
            <a:ext cx="1920240" cy="1417320"/>
          </a:xfrm>
          <a:prstGeom prst="roundRect">
            <a:avLst>
              <a:gd name="adj" fmla="val 5161"/>
            </a:avLst>
          </a:prstGeom>
          <a:solidFill>
            <a:schemeClr val="bg2"/>
          </a:solidFill>
          <a:ln w="12700">
            <a:solidFill>
              <a:schemeClr val="bg2"/>
            </a:solidFill>
            <a:prstDash val="solid"/>
          </a:ln>
        </p:spPr>
      </p:sp>
      <p:sp>
        <p:nvSpPr>
          <p:cNvPr id="13" name="Text 11"/>
          <p:cNvSpPr txBox="1"/>
          <p:nvPr/>
        </p:nvSpPr>
        <p:spPr>
          <a:xfrm>
            <a:off x="6931152" y="1371600"/>
            <a:ext cx="1600200" cy="5486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Não aprova errado</a:t>
            </a:r>
            <a:endParaRPr lang="en-US" sz="1500" dirty="0"/>
          </a:p>
        </p:txBody>
      </p:sp>
      <p:sp>
        <p:nvSpPr>
          <p:cNvPr id="14" name="Text 12"/>
          <p:cNvSpPr txBox="1"/>
          <p:nvPr/>
        </p:nvSpPr>
        <p:spPr>
          <a:xfrm>
            <a:off x="6931152" y="2011680"/>
            <a:ext cx="1600200" cy="41148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nenhuma</a:t>
            </a:r>
            <a:endParaRPr lang="en-US" sz="1300" dirty="0"/>
          </a:p>
        </p:txBody>
      </p:sp>
      <p:sp>
        <p:nvSpPr>
          <p:cNvPr id="15" name="crit-4"/>
          <p:cNvSpPr/>
          <p:nvPr/>
        </p:nvSpPr>
        <p:spPr>
          <a:xfrm>
            <a:off x="457200" y="2788920"/>
            <a:ext cx="1920240" cy="1417320"/>
          </a:xfrm>
          <a:prstGeom prst="roundRect">
            <a:avLst>
              <a:gd name="adj" fmla="val 5161"/>
            </a:avLst>
          </a:prstGeom>
          <a:solidFill>
            <a:schemeClr val="bg2"/>
          </a:solidFill>
          <a:ln w="12700">
            <a:solidFill>
              <a:schemeClr val="bg2"/>
            </a:solidFill>
            <a:prstDash val="solid"/>
          </a:ln>
        </p:spPr>
      </p:sp>
      <p:sp>
        <p:nvSpPr>
          <p:cNvPr id="16" name="Text 14"/>
          <p:cNvSpPr txBox="1"/>
          <p:nvPr/>
        </p:nvSpPr>
        <p:spPr>
          <a:xfrm>
            <a:off x="621792" y="2971800"/>
            <a:ext cx="1600200" cy="5486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Governa de verdade</a:t>
            </a:r>
            <a:endParaRPr lang="en-US" sz="1500" dirty="0"/>
          </a:p>
        </p:txBody>
      </p:sp>
      <p:sp>
        <p:nvSpPr>
          <p:cNvPr id="17" name="Text 15"/>
          <p:cNvSpPr txBox="1"/>
          <p:nvPr/>
        </p:nvSpPr>
        <p:spPr>
          <a:xfrm>
            <a:off x="621792" y="3611880"/>
            <a:ext cx="1600200" cy="41148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todas barradas</a:t>
            </a:r>
            <a:endParaRPr lang="en-US" sz="1300" dirty="0"/>
          </a:p>
        </p:txBody>
      </p:sp>
      <p:sp>
        <p:nvSpPr>
          <p:cNvPr id="18" name="crit-5"/>
          <p:cNvSpPr/>
          <p:nvPr/>
        </p:nvSpPr>
        <p:spPr>
          <a:xfrm>
            <a:off x="2560320" y="2788920"/>
            <a:ext cx="1920240" cy="1417320"/>
          </a:xfrm>
          <a:prstGeom prst="roundRect">
            <a:avLst>
              <a:gd name="adj" fmla="val 5161"/>
            </a:avLst>
          </a:prstGeom>
          <a:solidFill>
            <a:schemeClr val="bg2"/>
          </a:solidFill>
          <a:ln w="12700">
            <a:solidFill>
              <a:schemeClr val="bg2"/>
            </a:solidFill>
            <a:prstDash val="solid"/>
          </a:ln>
        </p:spPr>
      </p:sp>
      <p:sp>
        <p:nvSpPr>
          <p:cNvPr id="19" name="Text 17"/>
          <p:cNvSpPr txBox="1"/>
          <p:nvPr/>
        </p:nvSpPr>
        <p:spPr>
          <a:xfrm>
            <a:off x="2724912" y="2971800"/>
            <a:ext cx="1600200" cy="5486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Aguenta falha</a:t>
            </a:r>
            <a:endParaRPr lang="en-US" sz="1500" dirty="0"/>
          </a:p>
        </p:txBody>
      </p:sp>
      <p:sp>
        <p:nvSpPr>
          <p:cNvPr id="20" name="Text 18"/>
          <p:cNvSpPr txBox="1"/>
          <p:nvPr/>
        </p:nvSpPr>
        <p:spPr>
          <a:xfrm>
            <a:off x="2724912" y="3611880"/>
            <a:ext cx="1600200" cy="41148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sem perder trabalho</a:t>
            </a:r>
            <a:endParaRPr lang="en-US" sz="1300" dirty="0"/>
          </a:p>
        </p:txBody>
      </p:sp>
      <p:sp>
        <p:nvSpPr>
          <p:cNvPr id="21" name="crit-6"/>
          <p:cNvSpPr/>
          <p:nvPr/>
        </p:nvSpPr>
        <p:spPr>
          <a:xfrm>
            <a:off x="4663440" y="2788920"/>
            <a:ext cx="1920240" cy="1417320"/>
          </a:xfrm>
          <a:prstGeom prst="roundRect">
            <a:avLst>
              <a:gd name="adj" fmla="val 5161"/>
            </a:avLst>
          </a:prstGeom>
          <a:solidFill>
            <a:schemeClr val="bg2"/>
          </a:solidFill>
          <a:ln w="12700">
            <a:solidFill>
              <a:schemeClr val="bg2"/>
            </a:solidFill>
            <a:prstDash val="solid"/>
          </a:ln>
        </p:spPr>
      </p:sp>
      <p:sp>
        <p:nvSpPr>
          <p:cNvPr id="22" name="Text 20"/>
          <p:cNvSpPr txBox="1"/>
          <p:nvPr/>
        </p:nvSpPr>
        <p:spPr>
          <a:xfrm>
            <a:off x="4828032" y="2971800"/>
            <a:ext cx="1600200" cy="5486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Custo sob controle</a:t>
            </a:r>
            <a:endParaRPr lang="en-US" sz="1500" dirty="0"/>
          </a:p>
        </p:txBody>
      </p:sp>
      <p:sp>
        <p:nvSpPr>
          <p:cNvPr id="23" name="Text 21"/>
          <p:cNvSpPr txBox="1"/>
          <p:nvPr/>
        </p:nvSpPr>
        <p:spPr>
          <a:xfrm>
            <a:off x="4828032" y="3611880"/>
            <a:ext cx="1600200" cy="41148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nenhuma acima do teto</a:t>
            </a:r>
            <a:endParaRPr lang="en-US" sz="1300" dirty="0"/>
          </a:p>
        </p:txBody>
      </p:sp>
      <p:sp>
        <p:nvSpPr>
          <p:cNvPr id="24" name="crit-7"/>
          <p:cNvSpPr/>
          <p:nvPr/>
        </p:nvSpPr>
        <p:spPr>
          <a:xfrm>
            <a:off x="6766560" y="2788920"/>
            <a:ext cx="1920240" cy="1417320"/>
          </a:xfrm>
          <a:prstGeom prst="roundRect">
            <a:avLst>
              <a:gd name="adj" fmla="val 5161"/>
            </a:avLst>
          </a:prstGeom>
          <a:solidFill>
            <a:schemeClr val="bg2"/>
          </a:solidFill>
          <a:ln w="12700">
            <a:solidFill>
              <a:schemeClr val="bg2"/>
            </a:solidFill>
            <a:prstDash val="solid"/>
          </a:ln>
        </p:spPr>
      </p:sp>
      <p:sp>
        <p:nvSpPr>
          <p:cNvPr id="25" name="Text 23"/>
          <p:cNvSpPr txBox="1"/>
          <p:nvPr/>
        </p:nvSpPr>
        <p:spPr>
          <a:xfrm>
            <a:off x="6931152" y="2971800"/>
            <a:ext cx="1600200" cy="5486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Cabe na máquina</a:t>
            </a:r>
            <a:endParaRPr lang="en-US" sz="1500" dirty="0"/>
          </a:p>
        </p:txBody>
      </p:sp>
      <p:sp>
        <p:nvSpPr>
          <p:cNvPr id="26" name="Text 24"/>
          <p:cNvSpPr txBox="1"/>
          <p:nvPr/>
        </p:nvSpPr>
        <p:spPr>
          <a:xfrm>
            <a:off x="6931152" y="3611880"/>
            <a:ext cx="1600200" cy="411480"/>
          </a:xfrm>
          <a:prstGeom prst="rect">
            <a:avLst/>
          </a:prstGeom>
          <a:noFill/>
          <a:ln/>
        </p:spPr>
        <p:txBody>
          <a:bodyPr wrap="square" lIns="0" tIns="0" rIns="0" bIns="0" rtlCol="0" anchor="t"/>
          <a:lstStyle/>
          <a:p>
            <a:pPr indent="0" marL="0">
              <a:buNone/>
            </a:pPr>
            <a:r>
              <a:rPr lang="en-US" sz="1300" dirty="0">
                <a:solidFill>
                  <a:schemeClr val="accent4"/>
                </a:solidFill>
                <a:latin typeface="Calibri" pitchFamily="34" charset="0"/>
                <a:ea typeface="Calibri" pitchFamily="34" charset="-122"/>
                <a:cs typeface="Calibri" pitchFamily="34" charset="-120"/>
              </a:rPr>
              <a:t>≤ 8 GB</a:t>
            </a:r>
            <a:endParaRPr lang="en-US" sz="1300" dirty="0"/>
          </a:p>
        </p:txBody>
      </p:sp>
      <p:sp>
        <p:nvSpPr>
          <p:cNvPr id="27" name="Text 25"/>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Medidos a partir da E8 com os 5 projetos de teste. Ajusta-se o sistema, nunca a régua.</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96A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O plano: 10 etapas em cascata</a:t>
            </a:r>
            <a:endParaRPr lang="en-US" sz="2800" dirty="0"/>
          </a:p>
        </p:txBody>
      </p:sp>
      <p:sp>
        <p:nvSpPr>
          <p:cNvPr id="3" name="etapa-1"/>
          <p:cNvSpPr/>
          <p:nvPr/>
        </p:nvSpPr>
        <p:spPr>
          <a:xfrm>
            <a:off x="457200" y="1371600"/>
            <a:ext cx="777240" cy="1005840"/>
          </a:xfrm>
          <a:prstGeom prst="roundRect">
            <a:avLst>
              <a:gd name="adj" fmla="val 9412"/>
            </a:avLst>
          </a:prstGeom>
          <a:solidFill>
            <a:schemeClr val="accent1"/>
          </a:solidFill>
          <a:ln w="12700">
            <a:solidFill>
              <a:schemeClr val="accent1"/>
            </a:solidFill>
            <a:prstDash val="solid"/>
          </a:ln>
        </p:spPr>
      </p:sp>
      <p:sp>
        <p:nvSpPr>
          <p:cNvPr id="4" name="Text 2"/>
          <p:cNvSpPr txBox="1"/>
          <p:nvPr/>
        </p:nvSpPr>
        <p:spPr>
          <a:xfrm>
            <a:off x="457200" y="1481328"/>
            <a:ext cx="777240" cy="365760"/>
          </a:xfrm>
          <a:prstGeom prst="rect">
            <a:avLst/>
          </a:prstGeom>
          <a:noFill/>
          <a:ln/>
        </p:spPr>
        <p:txBody>
          <a:bodyPr wrap="square" lIns="0" tIns="0" rIns="0" bIns="0" rtlCol="0" anchor="t"/>
          <a:lstStyle/>
          <a:p>
            <a:pPr algn="ctr" indent="0" marL="0">
              <a:buNone/>
            </a:pPr>
            <a:r>
              <a:rPr lang="en-US" sz="1800" b="1" dirty="0">
                <a:solidFill>
                  <a:schemeClr val="bg1"/>
                </a:solidFill>
                <a:latin typeface="Calibri" pitchFamily="34" charset="0"/>
                <a:ea typeface="Calibri" pitchFamily="34" charset="-122"/>
                <a:cs typeface="Calibri" pitchFamily="34" charset="-120"/>
              </a:rPr>
              <a:t>E1</a:t>
            </a:r>
            <a:endParaRPr lang="en-US" sz="1800" dirty="0"/>
          </a:p>
        </p:txBody>
      </p:sp>
      <p:sp>
        <p:nvSpPr>
          <p:cNvPr id="5" name="Text 3"/>
          <p:cNvSpPr txBox="1"/>
          <p:nvPr/>
        </p:nvSpPr>
        <p:spPr>
          <a:xfrm>
            <a:off x="484632" y="1874520"/>
            <a:ext cx="722376" cy="457200"/>
          </a:xfrm>
          <a:prstGeom prst="rect">
            <a:avLst/>
          </a:prstGeom>
          <a:noFill/>
          <a:ln/>
        </p:spPr>
        <p:txBody>
          <a:bodyPr wrap="square" lIns="0" tIns="0" rIns="0" bIns="0" rtlCol="0" anchor="t"/>
          <a:lstStyle/>
          <a:p>
            <a:pPr algn="ctr" indent="0" marL="0">
              <a:buNone/>
            </a:pPr>
            <a:r>
              <a:rPr lang="en-US" sz="950" dirty="0">
                <a:solidFill>
                  <a:schemeClr val="bg1"/>
                </a:solidFill>
                <a:latin typeface="Calibri" pitchFamily="34" charset="0"/>
                <a:ea typeface="Calibri" pitchFamily="34" charset="-122"/>
                <a:cs typeface="Calibri" pitchFamily="34" charset="-120"/>
              </a:rPr>
              <a:t>Planejamento</a:t>
            </a:r>
            <a:endParaRPr lang="en-US" sz="950" dirty="0"/>
          </a:p>
        </p:txBody>
      </p:sp>
      <p:sp>
        <p:nvSpPr>
          <p:cNvPr id="6" name="etapa-2"/>
          <p:cNvSpPr/>
          <p:nvPr/>
        </p:nvSpPr>
        <p:spPr>
          <a:xfrm>
            <a:off x="1284732" y="1371600"/>
            <a:ext cx="777240" cy="1005840"/>
          </a:xfrm>
          <a:prstGeom prst="roundRect">
            <a:avLst>
              <a:gd name="adj" fmla="val 9412"/>
            </a:avLst>
          </a:prstGeom>
          <a:solidFill>
            <a:schemeClr val="accent2"/>
          </a:solidFill>
          <a:ln w="12700">
            <a:solidFill>
              <a:schemeClr val="accent2"/>
            </a:solidFill>
            <a:prstDash val="solid"/>
          </a:ln>
        </p:spPr>
      </p:sp>
      <p:sp>
        <p:nvSpPr>
          <p:cNvPr id="7" name="Text 5"/>
          <p:cNvSpPr txBox="1"/>
          <p:nvPr/>
        </p:nvSpPr>
        <p:spPr>
          <a:xfrm>
            <a:off x="1284732" y="1481328"/>
            <a:ext cx="777240" cy="365760"/>
          </a:xfrm>
          <a:prstGeom prst="rect">
            <a:avLst/>
          </a:prstGeom>
          <a:noFill/>
          <a:ln/>
        </p:spPr>
        <p:txBody>
          <a:bodyPr wrap="square" lIns="0" tIns="0" rIns="0" bIns="0" rtlCol="0" anchor="t"/>
          <a:lstStyle/>
          <a:p>
            <a:pPr algn="ctr" indent="0" marL="0">
              <a:buNone/>
            </a:pPr>
            <a:r>
              <a:rPr lang="en-US" sz="1800" b="1" dirty="0">
                <a:solidFill>
                  <a:schemeClr val="bg1"/>
                </a:solidFill>
                <a:latin typeface="Calibri" pitchFamily="34" charset="0"/>
                <a:ea typeface="Calibri" pitchFamily="34" charset="-122"/>
                <a:cs typeface="Calibri" pitchFamily="34" charset="-120"/>
              </a:rPr>
              <a:t>E2</a:t>
            </a:r>
            <a:endParaRPr lang="en-US" sz="1800" dirty="0"/>
          </a:p>
        </p:txBody>
      </p:sp>
      <p:sp>
        <p:nvSpPr>
          <p:cNvPr id="8" name="Text 6"/>
          <p:cNvSpPr txBox="1"/>
          <p:nvPr/>
        </p:nvSpPr>
        <p:spPr>
          <a:xfrm>
            <a:off x="1312164" y="1874520"/>
            <a:ext cx="722376" cy="457200"/>
          </a:xfrm>
          <a:prstGeom prst="rect">
            <a:avLst/>
          </a:prstGeom>
          <a:noFill/>
          <a:ln/>
        </p:spPr>
        <p:txBody>
          <a:bodyPr wrap="square" lIns="0" tIns="0" rIns="0" bIns="0" rtlCol="0" anchor="t"/>
          <a:lstStyle/>
          <a:p>
            <a:pPr algn="ctr" indent="0" marL="0">
              <a:buNone/>
            </a:pPr>
            <a:r>
              <a:rPr lang="en-US" sz="950" dirty="0">
                <a:solidFill>
                  <a:schemeClr val="bg1"/>
                </a:solidFill>
                <a:latin typeface="Calibri" pitchFamily="34" charset="0"/>
                <a:ea typeface="Calibri" pitchFamily="34" charset="-122"/>
                <a:cs typeface="Calibri" pitchFamily="34" charset="-120"/>
              </a:rPr>
              <a:t>Fundação</a:t>
            </a:r>
            <a:endParaRPr lang="en-US" sz="950" dirty="0"/>
          </a:p>
        </p:txBody>
      </p:sp>
      <p:sp>
        <p:nvSpPr>
          <p:cNvPr id="9" name="etapa-3"/>
          <p:cNvSpPr/>
          <p:nvPr/>
        </p:nvSpPr>
        <p:spPr>
          <a:xfrm>
            <a:off x="2112264" y="1371600"/>
            <a:ext cx="777240" cy="1005840"/>
          </a:xfrm>
          <a:prstGeom prst="roundRect">
            <a:avLst>
              <a:gd name="adj" fmla="val 9412"/>
            </a:avLst>
          </a:prstGeom>
          <a:solidFill>
            <a:schemeClr val="accent2"/>
          </a:solidFill>
          <a:ln w="12700">
            <a:solidFill>
              <a:schemeClr val="accent2"/>
            </a:solidFill>
            <a:prstDash val="solid"/>
          </a:ln>
        </p:spPr>
      </p:sp>
      <p:sp>
        <p:nvSpPr>
          <p:cNvPr id="10" name="Text 8"/>
          <p:cNvSpPr txBox="1"/>
          <p:nvPr/>
        </p:nvSpPr>
        <p:spPr>
          <a:xfrm>
            <a:off x="2112264" y="1481328"/>
            <a:ext cx="777240" cy="365760"/>
          </a:xfrm>
          <a:prstGeom prst="rect">
            <a:avLst/>
          </a:prstGeom>
          <a:noFill/>
          <a:ln/>
        </p:spPr>
        <p:txBody>
          <a:bodyPr wrap="square" lIns="0" tIns="0" rIns="0" bIns="0" rtlCol="0" anchor="t"/>
          <a:lstStyle/>
          <a:p>
            <a:pPr algn="ctr" indent="0" marL="0">
              <a:buNone/>
            </a:pPr>
            <a:r>
              <a:rPr lang="en-US" sz="1800" b="1" dirty="0">
                <a:solidFill>
                  <a:schemeClr val="bg1"/>
                </a:solidFill>
                <a:latin typeface="Calibri" pitchFamily="34" charset="0"/>
                <a:ea typeface="Calibri" pitchFamily="34" charset="-122"/>
                <a:cs typeface="Calibri" pitchFamily="34" charset="-120"/>
              </a:rPr>
              <a:t>E3</a:t>
            </a:r>
            <a:endParaRPr lang="en-US" sz="1800" dirty="0"/>
          </a:p>
        </p:txBody>
      </p:sp>
      <p:sp>
        <p:nvSpPr>
          <p:cNvPr id="11" name="Text 9"/>
          <p:cNvSpPr txBox="1"/>
          <p:nvPr/>
        </p:nvSpPr>
        <p:spPr>
          <a:xfrm>
            <a:off x="2139696" y="1874520"/>
            <a:ext cx="722376" cy="457200"/>
          </a:xfrm>
          <a:prstGeom prst="rect">
            <a:avLst/>
          </a:prstGeom>
          <a:noFill/>
          <a:ln/>
        </p:spPr>
        <p:txBody>
          <a:bodyPr wrap="square" lIns="0" tIns="0" rIns="0" bIns="0" rtlCol="0" anchor="t"/>
          <a:lstStyle/>
          <a:p>
            <a:pPr algn="ctr" indent="0" marL="0">
              <a:buNone/>
            </a:pPr>
            <a:r>
              <a:rPr lang="en-US" sz="950" dirty="0">
                <a:solidFill>
                  <a:schemeClr val="bg1"/>
                </a:solidFill>
                <a:latin typeface="Calibri" pitchFamily="34" charset="0"/>
                <a:ea typeface="Calibri" pitchFamily="34" charset="-122"/>
                <a:cs typeface="Calibri" pitchFamily="34" charset="-120"/>
              </a:rPr>
              <a:t>Agente</a:t>
            </a:r>
            <a:endParaRPr lang="en-US" sz="950" dirty="0"/>
          </a:p>
        </p:txBody>
      </p:sp>
      <p:sp>
        <p:nvSpPr>
          <p:cNvPr id="12" name="etapa-4"/>
          <p:cNvSpPr/>
          <p:nvPr/>
        </p:nvSpPr>
        <p:spPr>
          <a:xfrm>
            <a:off x="2939796" y="1371600"/>
            <a:ext cx="777240" cy="1005840"/>
          </a:xfrm>
          <a:prstGeom prst="roundRect">
            <a:avLst>
              <a:gd name="adj" fmla="val 9412"/>
            </a:avLst>
          </a:prstGeom>
          <a:solidFill>
            <a:schemeClr val="accent2"/>
          </a:solidFill>
          <a:ln w="12700">
            <a:solidFill>
              <a:schemeClr val="accent2"/>
            </a:solidFill>
            <a:prstDash val="solid"/>
          </a:ln>
        </p:spPr>
      </p:sp>
      <p:sp>
        <p:nvSpPr>
          <p:cNvPr id="13" name="Text 11"/>
          <p:cNvSpPr txBox="1"/>
          <p:nvPr/>
        </p:nvSpPr>
        <p:spPr>
          <a:xfrm>
            <a:off x="2939796" y="1481328"/>
            <a:ext cx="777240" cy="365760"/>
          </a:xfrm>
          <a:prstGeom prst="rect">
            <a:avLst/>
          </a:prstGeom>
          <a:noFill/>
          <a:ln/>
        </p:spPr>
        <p:txBody>
          <a:bodyPr wrap="square" lIns="0" tIns="0" rIns="0" bIns="0" rtlCol="0" anchor="t"/>
          <a:lstStyle/>
          <a:p>
            <a:pPr algn="ctr" indent="0" marL="0">
              <a:buNone/>
            </a:pPr>
            <a:r>
              <a:rPr lang="en-US" sz="1800" b="1" dirty="0">
                <a:solidFill>
                  <a:schemeClr val="bg1"/>
                </a:solidFill>
                <a:latin typeface="Calibri" pitchFamily="34" charset="0"/>
                <a:ea typeface="Calibri" pitchFamily="34" charset="-122"/>
                <a:cs typeface="Calibri" pitchFamily="34" charset="-120"/>
              </a:rPr>
              <a:t>E4</a:t>
            </a:r>
            <a:endParaRPr lang="en-US" sz="1800" dirty="0"/>
          </a:p>
        </p:txBody>
      </p:sp>
      <p:sp>
        <p:nvSpPr>
          <p:cNvPr id="14" name="Text 12"/>
          <p:cNvSpPr txBox="1"/>
          <p:nvPr/>
        </p:nvSpPr>
        <p:spPr>
          <a:xfrm>
            <a:off x="2967228" y="1874520"/>
            <a:ext cx="722376" cy="457200"/>
          </a:xfrm>
          <a:prstGeom prst="rect">
            <a:avLst/>
          </a:prstGeom>
          <a:noFill/>
          <a:ln/>
        </p:spPr>
        <p:txBody>
          <a:bodyPr wrap="square" lIns="0" tIns="0" rIns="0" bIns="0" rtlCol="0" anchor="t"/>
          <a:lstStyle/>
          <a:p>
            <a:pPr algn="ctr" indent="0" marL="0">
              <a:buNone/>
            </a:pPr>
            <a:r>
              <a:rPr lang="en-US" sz="950" dirty="0">
                <a:solidFill>
                  <a:schemeClr val="bg1"/>
                </a:solidFill>
                <a:latin typeface="Calibri" pitchFamily="34" charset="0"/>
                <a:ea typeface="Calibri" pitchFamily="34" charset="-122"/>
                <a:cs typeface="Calibri" pitchFamily="34" charset="-120"/>
              </a:rPr>
              <a:t>Linha de produção</a:t>
            </a:r>
            <a:endParaRPr lang="en-US" sz="950" dirty="0"/>
          </a:p>
        </p:txBody>
      </p:sp>
      <p:sp>
        <p:nvSpPr>
          <p:cNvPr id="15" name="etapa-5"/>
          <p:cNvSpPr/>
          <p:nvPr/>
        </p:nvSpPr>
        <p:spPr>
          <a:xfrm>
            <a:off x="3767328" y="1371600"/>
            <a:ext cx="777240" cy="1005840"/>
          </a:xfrm>
          <a:prstGeom prst="roundRect">
            <a:avLst>
              <a:gd name="adj" fmla="val 9412"/>
            </a:avLst>
          </a:prstGeom>
          <a:solidFill>
            <a:schemeClr val="accent2"/>
          </a:solidFill>
          <a:ln w="12700">
            <a:solidFill>
              <a:schemeClr val="accent2"/>
            </a:solidFill>
            <a:prstDash val="solid"/>
          </a:ln>
        </p:spPr>
      </p:sp>
      <p:sp>
        <p:nvSpPr>
          <p:cNvPr id="16" name="Text 14"/>
          <p:cNvSpPr txBox="1"/>
          <p:nvPr/>
        </p:nvSpPr>
        <p:spPr>
          <a:xfrm>
            <a:off x="3767328" y="1481328"/>
            <a:ext cx="777240" cy="365760"/>
          </a:xfrm>
          <a:prstGeom prst="rect">
            <a:avLst/>
          </a:prstGeom>
          <a:noFill/>
          <a:ln/>
        </p:spPr>
        <p:txBody>
          <a:bodyPr wrap="square" lIns="0" tIns="0" rIns="0" bIns="0" rtlCol="0" anchor="t"/>
          <a:lstStyle/>
          <a:p>
            <a:pPr algn="ctr" indent="0" marL="0">
              <a:buNone/>
            </a:pPr>
            <a:r>
              <a:rPr lang="en-US" sz="1800" b="1" dirty="0">
                <a:solidFill>
                  <a:schemeClr val="bg1"/>
                </a:solidFill>
                <a:latin typeface="Calibri" pitchFamily="34" charset="0"/>
                <a:ea typeface="Calibri" pitchFamily="34" charset="-122"/>
                <a:cs typeface="Calibri" pitchFamily="34" charset="-120"/>
              </a:rPr>
              <a:t>E5</a:t>
            </a:r>
            <a:endParaRPr lang="en-US" sz="1800" dirty="0"/>
          </a:p>
        </p:txBody>
      </p:sp>
      <p:sp>
        <p:nvSpPr>
          <p:cNvPr id="17" name="Text 15"/>
          <p:cNvSpPr txBox="1"/>
          <p:nvPr/>
        </p:nvSpPr>
        <p:spPr>
          <a:xfrm>
            <a:off x="3794760" y="1874520"/>
            <a:ext cx="722376" cy="457200"/>
          </a:xfrm>
          <a:prstGeom prst="rect">
            <a:avLst/>
          </a:prstGeom>
          <a:noFill/>
          <a:ln/>
        </p:spPr>
        <p:txBody>
          <a:bodyPr wrap="square" lIns="0" tIns="0" rIns="0" bIns="0" rtlCol="0" anchor="t"/>
          <a:lstStyle/>
          <a:p>
            <a:pPr algn="ctr" indent="0" marL="0">
              <a:buNone/>
            </a:pPr>
            <a:r>
              <a:rPr lang="en-US" sz="950" dirty="0">
                <a:solidFill>
                  <a:schemeClr val="bg1"/>
                </a:solidFill>
                <a:latin typeface="Calibri" pitchFamily="34" charset="0"/>
                <a:ea typeface="Calibri" pitchFamily="34" charset="-122"/>
                <a:cs typeface="Calibri" pitchFamily="34" charset="-120"/>
              </a:rPr>
              <a:t>Paralelismo</a:t>
            </a:r>
            <a:endParaRPr lang="en-US" sz="950" dirty="0"/>
          </a:p>
        </p:txBody>
      </p:sp>
      <p:sp>
        <p:nvSpPr>
          <p:cNvPr id="18" name="etapa-6"/>
          <p:cNvSpPr/>
          <p:nvPr/>
        </p:nvSpPr>
        <p:spPr>
          <a:xfrm>
            <a:off x="4594860" y="1371600"/>
            <a:ext cx="777240" cy="1005840"/>
          </a:xfrm>
          <a:prstGeom prst="roundRect">
            <a:avLst>
              <a:gd name="adj" fmla="val 9412"/>
            </a:avLst>
          </a:prstGeom>
          <a:solidFill>
            <a:schemeClr val="accent3"/>
          </a:solidFill>
          <a:ln w="12700">
            <a:solidFill>
              <a:schemeClr val="accent3"/>
            </a:solidFill>
            <a:prstDash val="solid"/>
          </a:ln>
        </p:spPr>
      </p:sp>
      <p:sp>
        <p:nvSpPr>
          <p:cNvPr id="19" name="Text 17"/>
          <p:cNvSpPr txBox="1"/>
          <p:nvPr/>
        </p:nvSpPr>
        <p:spPr>
          <a:xfrm>
            <a:off x="4594860" y="1481328"/>
            <a:ext cx="777240" cy="365760"/>
          </a:xfrm>
          <a:prstGeom prst="rect">
            <a:avLst/>
          </a:prstGeom>
          <a:noFill/>
          <a:ln/>
        </p:spPr>
        <p:txBody>
          <a:bodyPr wrap="square" lIns="0" tIns="0" rIns="0" bIns="0" rtlCol="0" anchor="t"/>
          <a:lstStyle/>
          <a:p>
            <a:pPr algn="ctr" indent="0" marL="0">
              <a:buNone/>
            </a:pPr>
            <a:r>
              <a:rPr lang="en-US" sz="1800" b="1" dirty="0">
                <a:solidFill>
                  <a:schemeClr val="bg1"/>
                </a:solidFill>
                <a:latin typeface="Calibri" pitchFamily="34" charset="0"/>
                <a:ea typeface="Calibri" pitchFamily="34" charset="-122"/>
                <a:cs typeface="Calibri" pitchFamily="34" charset="-120"/>
              </a:rPr>
              <a:t>E6</a:t>
            </a:r>
            <a:endParaRPr lang="en-US" sz="1800" dirty="0"/>
          </a:p>
        </p:txBody>
      </p:sp>
      <p:sp>
        <p:nvSpPr>
          <p:cNvPr id="20" name="Text 18"/>
          <p:cNvSpPr txBox="1"/>
          <p:nvPr/>
        </p:nvSpPr>
        <p:spPr>
          <a:xfrm>
            <a:off x="4622292" y="1874520"/>
            <a:ext cx="722376" cy="457200"/>
          </a:xfrm>
          <a:prstGeom prst="rect">
            <a:avLst/>
          </a:prstGeom>
          <a:noFill/>
          <a:ln/>
        </p:spPr>
        <p:txBody>
          <a:bodyPr wrap="square" lIns="0" tIns="0" rIns="0" bIns="0" rtlCol="0" anchor="t"/>
          <a:lstStyle/>
          <a:p>
            <a:pPr algn="ctr" indent="0" marL="0">
              <a:buNone/>
            </a:pPr>
            <a:r>
              <a:rPr lang="en-US" sz="950" dirty="0">
                <a:solidFill>
                  <a:schemeClr val="bg1"/>
                </a:solidFill>
                <a:latin typeface="Calibri" pitchFamily="34" charset="0"/>
                <a:ea typeface="Calibri" pitchFamily="34" charset="-122"/>
                <a:cs typeface="Calibri" pitchFamily="34" charset="-120"/>
              </a:rPr>
              <a:t>Memória</a:t>
            </a:r>
            <a:endParaRPr lang="en-US" sz="950" dirty="0"/>
          </a:p>
        </p:txBody>
      </p:sp>
      <p:sp>
        <p:nvSpPr>
          <p:cNvPr id="21" name="etapa-7"/>
          <p:cNvSpPr/>
          <p:nvPr/>
        </p:nvSpPr>
        <p:spPr>
          <a:xfrm>
            <a:off x="5422392" y="1371600"/>
            <a:ext cx="777240" cy="1005840"/>
          </a:xfrm>
          <a:prstGeom prst="roundRect">
            <a:avLst>
              <a:gd name="adj" fmla="val 9412"/>
            </a:avLst>
          </a:prstGeom>
          <a:solidFill>
            <a:schemeClr val="accent1"/>
          </a:solidFill>
          <a:ln w="12700">
            <a:solidFill>
              <a:schemeClr val="accent1"/>
            </a:solidFill>
            <a:prstDash val="solid"/>
          </a:ln>
        </p:spPr>
      </p:sp>
      <p:sp>
        <p:nvSpPr>
          <p:cNvPr id="22" name="Text 20"/>
          <p:cNvSpPr txBox="1"/>
          <p:nvPr/>
        </p:nvSpPr>
        <p:spPr>
          <a:xfrm>
            <a:off x="5422392" y="1481328"/>
            <a:ext cx="777240" cy="365760"/>
          </a:xfrm>
          <a:prstGeom prst="rect">
            <a:avLst/>
          </a:prstGeom>
          <a:noFill/>
          <a:ln/>
        </p:spPr>
        <p:txBody>
          <a:bodyPr wrap="square" lIns="0" tIns="0" rIns="0" bIns="0" rtlCol="0" anchor="t"/>
          <a:lstStyle/>
          <a:p>
            <a:pPr algn="ctr" indent="0" marL="0">
              <a:buNone/>
            </a:pPr>
            <a:r>
              <a:rPr lang="en-US" sz="1800" b="1" dirty="0">
                <a:solidFill>
                  <a:schemeClr val="bg1"/>
                </a:solidFill>
                <a:latin typeface="Calibri" pitchFamily="34" charset="0"/>
                <a:ea typeface="Calibri" pitchFamily="34" charset="-122"/>
                <a:cs typeface="Calibri" pitchFamily="34" charset="-120"/>
              </a:rPr>
              <a:t>E7</a:t>
            </a:r>
            <a:endParaRPr lang="en-US" sz="1800" dirty="0"/>
          </a:p>
        </p:txBody>
      </p:sp>
      <p:sp>
        <p:nvSpPr>
          <p:cNvPr id="23" name="Text 21"/>
          <p:cNvSpPr txBox="1"/>
          <p:nvPr/>
        </p:nvSpPr>
        <p:spPr>
          <a:xfrm>
            <a:off x="5449824" y="1874520"/>
            <a:ext cx="722376" cy="457200"/>
          </a:xfrm>
          <a:prstGeom prst="rect">
            <a:avLst/>
          </a:prstGeom>
          <a:noFill/>
          <a:ln/>
        </p:spPr>
        <p:txBody>
          <a:bodyPr wrap="square" lIns="0" tIns="0" rIns="0" bIns="0" rtlCol="0" anchor="t"/>
          <a:lstStyle/>
          <a:p>
            <a:pPr algn="ctr" indent="0" marL="0">
              <a:buNone/>
            </a:pPr>
            <a:r>
              <a:rPr lang="en-US" sz="950" dirty="0">
                <a:solidFill>
                  <a:schemeClr val="bg1"/>
                </a:solidFill>
                <a:latin typeface="Calibri" pitchFamily="34" charset="0"/>
                <a:ea typeface="Calibri" pitchFamily="34" charset="-122"/>
                <a:cs typeface="Calibri" pitchFamily="34" charset="-120"/>
              </a:rPr>
              <a:t>Painel</a:t>
            </a:r>
            <a:endParaRPr lang="en-US" sz="950" dirty="0"/>
          </a:p>
        </p:txBody>
      </p:sp>
      <p:sp>
        <p:nvSpPr>
          <p:cNvPr id="24" name="etapa-8"/>
          <p:cNvSpPr/>
          <p:nvPr/>
        </p:nvSpPr>
        <p:spPr>
          <a:xfrm>
            <a:off x="6249924" y="1371600"/>
            <a:ext cx="777240" cy="1005840"/>
          </a:xfrm>
          <a:prstGeom prst="roundRect">
            <a:avLst>
              <a:gd name="adj" fmla="val 9412"/>
            </a:avLst>
          </a:prstGeom>
          <a:solidFill>
            <a:schemeClr val="bg2"/>
          </a:solidFill>
          <a:ln w="12700">
            <a:solidFill>
              <a:schemeClr val="bg2"/>
            </a:solidFill>
            <a:prstDash val="solid"/>
          </a:ln>
        </p:spPr>
      </p:sp>
      <p:sp>
        <p:nvSpPr>
          <p:cNvPr id="25" name="Text 23"/>
          <p:cNvSpPr txBox="1"/>
          <p:nvPr/>
        </p:nvSpPr>
        <p:spPr>
          <a:xfrm>
            <a:off x="6249924" y="1481328"/>
            <a:ext cx="777240" cy="365760"/>
          </a:xfrm>
          <a:prstGeom prst="rect">
            <a:avLst/>
          </a:prstGeom>
          <a:noFill/>
          <a:ln/>
        </p:spPr>
        <p:txBody>
          <a:bodyPr wrap="square" lIns="0" tIns="0" rIns="0" bIns="0" rtlCol="0" anchor="t"/>
          <a:lstStyle/>
          <a:p>
            <a:pPr algn="ctr" indent="0" marL="0">
              <a:buNone/>
            </a:pPr>
            <a:r>
              <a:rPr lang="en-US" sz="1800" b="1" dirty="0">
                <a:solidFill>
                  <a:schemeClr val="tx2"/>
                </a:solidFill>
                <a:latin typeface="Calibri" pitchFamily="34" charset="0"/>
                <a:ea typeface="Calibri" pitchFamily="34" charset="-122"/>
                <a:cs typeface="Calibri" pitchFamily="34" charset="-120"/>
              </a:rPr>
              <a:t>E8</a:t>
            </a:r>
            <a:endParaRPr lang="en-US" sz="1800" dirty="0"/>
          </a:p>
        </p:txBody>
      </p:sp>
      <p:sp>
        <p:nvSpPr>
          <p:cNvPr id="26" name="Text 24"/>
          <p:cNvSpPr txBox="1"/>
          <p:nvPr/>
        </p:nvSpPr>
        <p:spPr>
          <a:xfrm>
            <a:off x="6277356" y="1874520"/>
            <a:ext cx="722376" cy="457200"/>
          </a:xfrm>
          <a:prstGeom prst="rect">
            <a:avLst/>
          </a:prstGeom>
          <a:noFill/>
          <a:ln/>
        </p:spPr>
        <p:txBody>
          <a:bodyPr wrap="square" lIns="0" tIns="0" rIns="0" bIns="0" rtlCol="0" anchor="t"/>
          <a:lstStyle/>
          <a:p>
            <a:pPr algn="ctr" indent="0" marL="0">
              <a:buNone/>
            </a:pPr>
            <a:r>
              <a:rPr lang="en-US" sz="950" dirty="0">
                <a:solidFill>
                  <a:schemeClr val="tx2"/>
                </a:solidFill>
                <a:latin typeface="Calibri" pitchFamily="34" charset="0"/>
                <a:ea typeface="Calibri" pitchFamily="34" charset="-122"/>
                <a:cs typeface="Calibri" pitchFamily="34" charset="-120"/>
              </a:rPr>
              <a:t>Testes reais</a:t>
            </a:r>
            <a:endParaRPr lang="en-US" sz="950" dirty="0"/>
          </a:p>
        </p:txBody>
      </p:sp>
      <p:sp>
        <p:nvSpPr>
          <p:cNvPr id="27" name="etapa-9"/>
          <p:cNvSpPr/>
          <p:nvPr/>
        </p:nvSpPr>
        <p:spPr>
          <a:xfrm>
            <a:off x="7077456" y="1371600"/>
            <a:ext cx="777240" cy="1005840"/>
          </a:xfrm>
          <a:prstGeom prst="roundRect">
            <a:avLst>
              <a:gd name="adj" fmla="val 9412"/>
            </a:avLst>
          </a:prstGeom>
          <a:solidFill>
            <a:schemeClr val="bg2"/>
          </a:solidFill>
          <a:ln w="12700">
            <a:solidFill>
              <a:schemeClr val="bg2"/>
            </a:solidFill>
            <a:prstDash val="solid"/>
          </a:ln>
        </p:spPr>
      </p:sp>
      <p:sp>
        <p:nvSpPr>
          <p:cNvPr id="28" name="Text 26"/>
          <p:cNvSpPr txBox="1"/>
          <p:nvPr/>
        </p:nvSpPr>
        <p:spPr>
          <a:xfrm>
            <a:off x="7077456" y="1481328"/>
            <a:ext cx="777240" cy="365760"/>
          </a:xfrm>
          <a:prstGeom prst="rect">
            <a:avLst/>
          </a:prstGeom>
          <a:noFill/>
          <a:ln/>
        </p:spPr>
        <p:txBody>
          <a:bodyPr wrap="square" lIns="0" tIns="0" rIns="0" bIns="0" rtlCol="0" anchor="t"/>
          <a:lstStyle/>
          <a:p>
            <a:pPr algn="ctr" indent="0" marL="0">
              <a:buNone/>
            </a:pPr>
            <a:r>
              <a:rPr lang="en-US" sz="1800" b="1" dirty="0">
                <a:solidFill>
                  <a:schemeClr val="tx2"/>
                </a:solidFill>
                <a:latin typeface="Calibri" pitchFamily="34" charset="0"/>
                <a:ea typeface="Calibri" pitchFamily="34" charset="-122"/>
                <a:cs typeface="Calibri" pitchFamily="34" charset="-120"/>
              </a:rPr>
              <a:t>E9</a:t>
            </a:r>
            <a:endParaRPr lang="en-US" sz="1800" dirty="0"/>
          </a:p>
        </p:txBody>
      </p:sp>
      <p:sp>
        <p:nvSpPr>
          <p:cNvPr id="29" name="Text 27"/>
          <p:cNvSpPr txBox="1"/>
          <p:nvPr/>
        </p:nvSpPr>
        <p:spPr>
          <a:xfrm>
            <a:off x="7104888" y="1874520"/>
            <a:ext cx="722376" cy="457200"/>
          </a:xfrm>
          <a:prstGeom prst="rect">
            <a:avLst/>
          </a:prstGeom>
          <a:noFill/>
          <a:ln/>
        </p:spPr>
        <p:txBody>
          <a:bodyPr wrap="square" lIns="0" tIns="0" rIns="0" bIns="0" rtlCol="0" anchor="t"/>
          <a:lstStyle/>
          <a:p>
            <a:pPr algn="ctr" indent="0" marL="0">
              <a:buNone/>
            </a:pPr>
            <a:r>
              <a:rPr lang="en-US" sz="950" dirty="0">
                <a:solidFill>
                  <a:schemeClr val="tx2"/>
                </a:solidFill>
                <a:latin typeface="Calibri" pitchFamily="34" charset="0"/>
                <a:ea typeface="Calibri" pitchFamily="34" charset="-122"/>
                <a:cs typeface="Calibri" pitchFamily="34" charset="-120"/>
              </a:rPr>
              <a:t>Refinamento</a:t>
            </a:r>
            <a:endParaRPr lang="en-US" sz="950" dirty="0"/>
          </a:p>
        </p:txBody>
      </p:sp>
      <p:sp>
        <p:nvSpPr>
          <p:cNvPr id="30" name="etapa-10"/>
          <p:cNvSpPr/>
          <p:nvPr/>
        </p:nvSpPr>
        <p:spPr>
          <a:xfrm>
            <a:off x="7904988" y="1371600"/>
            <a:ext cx="777240" cy="1005840"/>
          </a:xfrm>
          <a:prstGeom prst="roundRect">
            <a:avLst>
              <a:gd name="adj" fmla="val 9412"/>
            </a:avLst>
          </a:prstGeom>
          <a:solidFill>
            <a:schemeClr val="bg2"/>
          </a:solidFill>
          <a:ln w="12700">
            <a:solidFill>
              <a:schemeClr val="bg2"/>
            </a:solidFill>
            <a:prstDash val="solid"/>
          </a:ln>
        </p:spPr>
      </p:sp>
      <p:sp>
        <p:nvSpPr>
          <p:cNvPr id="31" name="Text 29"/>
          <p:cNvSpPr txBox="1"/>
          <p:nvPr/>
        </p:nvSpPr>
        <p:spPr>
          <a:xfrm>
            <a:off x="7904988" y="1481328"/>
            <a:ext cx="777240" cy="365760"/>
          </a:xfrm>
          <a:prstGeom prst="rect">
            <a:avLst/>
          </a:prstGeom>
          <a:noFill/>
          <a:ln/>
        </p:spPr>
        <p:txBody>
          <a:bodyPr wrap="square" lIns="0" tIns="0" rIns="0" bIns="0" rtlCol="0" anchor="t"/>
          <a:lstStyle/>
          <a:p>
            <a:pPr algn="ctr" indent="0" marL="0">
              <a:buNone/>
            </a:pPr>
            <a:r>
              <a:rPr lang="en-US" sz="1800" b="1" dirty="0">
                <a:solidFill>
                  <a:schemeClr val="tx2"/>
                </a:solidFill>
                <a:latin typeface="Calibri" pitchFamily="34" charset="0"/>
                <a:ea typeface="Calibri" pitchFamily="34" charset="-122"/>
                <a:cs typeface="Calibri" pitchFamily="34" charset="-120"/>
              </a:rPr>
              <a:t>E10</a:t>
            </a:r>
            <a:endParaRPr lang="en-US" sz="1800" dirty="0"/>
          </a:p>
        </p:txBody>
      </p:sp>
      <p:sp>
        <p:nvSpPr>
          <p:cNvPr id="32" name="Text 30"/>
          <p:cNvSpPr txBox="1"/>
          <p:nvPr/>
        </p:nvSpPr>
        <p:spPr>
          <a:xfrm>
            <a:off x="7932420" y="1874520"/>
            <a:ext cx="722376" cy="457200"/>
          </a:xfrm>
          <a:prstGeom prst="rect">
            <a:avLst/>
          </a:prstGeom>
          <a:noFill/>
          <a:ln/>
        </p:spPr>
        <p:txBody>
          <a:bodyPr wrap="square" lIns="0" tIns="0" rIns="0" bIns="0" rtlCol="0" anchor="t"/>
          <a:lstStyle/>
          <a:p>
            <a:pPr algn="ctr" indent="0" marL="0">
              <a:buNone/>
            </a:pPr>
            <a:r>
              <a:rPr lang="en-US" sz="950" dirty="0">
                <a:solidFill>
                  <a:schemeClr val="tx2"/>
                </a:solidFill>
                <a:latin typeface="Calibri" pitchFamily="34" charset="0"/>
                <a:ea typeface="Calibri" pitchFamily="34" charset="-122"/>
                <a:cs typeface="Calibri" pitchFamily="34" charset="-120"/>
              </a:rPr>
              <a:t>Entrega</a:t>
            </a:r>
            <a:endParaRPr lang="en-US" sz="950" dirty="0"/>
          </a:p>
        </p:txBody>
      </p:sp>
      <p:sp>
        <p:nvSpPr>
          <p:cNvPr id="33" name="Text 31"/>
          <p:cNvSpPr txBox="1"/>
          <p:nvPr/>
        </p:nvSpPr>
        <p:spPr>
          <a:xfrm>
            <a:off x="457200" y="2606040"/>
            <a:ext cx="8229600" cy="32004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Planejamento</a:t>
            </a:r>
            <a:pPr indent="0" marL="0">
              <a:buNone/>
            </a:pPr>
            <a:r>
              <a:rPr lang="en-US" sz="1300" dirty="0">
                <a:solidFill>
                  <a:schemeClr val="tx1"/>
                </a:solidFill>
                <a:latin typeface="Calibri" pitchFamily="34" charset="0"/>
                <a:ea typeface="Calibri" pitchFamily="34" charset="-122"/>
                <a:cs typeface="Calibri" pitchFamily="34" charset="-120"/>
              </a:rPr>
              <a:t> E1 · </a:t>
            </a:r>
            <a:pPr indent="0" marL="0">
              <a:buNone/>
            </a:pPr>
            <a:r>
              <a:rPr lang="en-US" sz="1300" b="1" dirty="0">
                <a:solidFill>
                  <a:schemeClr val="tx1"/>
                </a:solidFill>
                <a:latin typeface="Calibri" pitchFamily="34" charset="0"/>
                <a:ea typeface="Calibri" pitchFamily="34" charset="-122"/>
                <a:cs typeface="Calibri" pitchFamily="34" charset="-120"/>
              </a:rPr>
              <a:t>Desenvolvimento</a:t>
            </a:r>
            <a:pPr indent="0" marL="0">
              <a:buNone/>
            </a:pPr>
            <a:r>
              <a:rPr lang="en-US" sz="1300" dirty="0">
                <a:solidFill>
                  <a:schemeClr val="tx1"/>
                </a:solidFill>
                <a:latin typeface="Calibri" pitchFamily="34" charset="0"/>
                <a:ea typeface="Calibri" pitchFamily="34" charset="-122"/>
                <a:cs typeface="Calibri" pitchFamily="34" charset="-120"/>
              </a:rPr>
              <a:t> E2–E7 (19/09 a 17/12) · </a:t>
            </a:r>
            <a:pPr indent="0" marL="0">
              <a:buNone/>
            </a:pPr>
            <a:r>
              <a:rPr lang="en-US" sz="1300" b="1" dirty="0">
                <a:solidFill>
                  <a:schemeClr val="tx1"/>
                </a:solidFill>
                <a:latin typeface="Calibri" pitchFamily="34" charset="0"/>
                <a:ea typeface="Calibri" pitchFamily="34" charset="-122"/>
                <a:cs typeface="Calibri" pitchFamily="34" charset="-120"/>
              </a:rPr>
              <a:t>Validação</a:t>
            </a:r>
            <a:pPr indent="0" marL="0">
              <a:buNone/>
            </a:pPr>
            <a:r>
              <a:rPr lang="en-US" sz="1300" dirty="0">
                <a:solidFill>
                  <a:schemeClr val="tx1"/>
                </a:solidFill>
                <a:latin typeface="Calibri" pitchFamily="34" charset="0"/>
                <a:ea typeface="Calibri" pitchFamily="34" charset="-122"/>
                <a:cs typeface="Calibri" pitchFamily="34" charset="-120"/>
              </a:rPr>
              <a:t> E8–E10 (até 26/01/2027)</a:t>
            </a:r>
            <a:endParaRPr lang="en-US" sz="1300" dirty="0"/>
          </a:p>
        </p:txBody>
      </p:sp>
      <p:sp>
        <p:nvSpPr>
          <p:cNvPr id="34" name="Shape 32"/>
          <p:cNvSpPr/>
          <p:nvPr/>
        </p:nvSpPr>
        <p:spPr>
          <a:xfrm>
            <a:off x="457200" y="3246120"/>
            <a:ext cx="201168" cy="201168"/>
          </a:xfrm>
          <a:prstGeom prst="ellipse">
            <a:avLst/>
          </a:prstGeom>
          <a:solidFill>
            <a:schemeClr val="accent2"/>
          </a:solidFill>
          <a:ln w="12700">
            <a:solidFill>
              <a:schemeClr val="accent2"/>
            </a:solidFill>
            <a:prstDash val="solid"/>
          </a:ln>
        </p:spPr>
      </p:sp>
      <p:sp>
        <p:nvSpPr>
          <p:cNvPr id="35" name="Text 33"/>
          <p:cNvSpPr txBox="1"/>
          <p:nvPr/>
        </p:nvSpPr>
        <p:spPr>
          <a:xfrm>
            <a:off x="731520" y="3218688"/>
            <a:ext cx="2377440" cy="2743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entrega aprovada</a:t>
            </a:r>
            <a:endParaRPr lang="en-US" sz="1200" dirty="0"/>
          </a:p>
        </p:txBody>
      </p:sp>
      <p:sp>
        <p:nvSpPr>
          <p:cNvPr id="36" name="Shape 34"/>
          <p:cNvSpPr/>
          <p:nvPr/>
        </p:nvSpPr>
        <p:spPr>
          <a:xfrm>
            <a:off x="3200400" y="3246120"/>
            <a:ext cx="201168" cy="201168"/>
          </a:xfrm>
          <a:prstGeom prst="ellipse">
            <a:avLst/>
          </a:prstGeom>
          <a:solidFill>
            <a:schemeClr val="accent1"/>
          </a:solidFill>
          <a:ln w="12700">
            <a:solidFill>
              <a:schemeClr val="accent1"/>
            </a:solidFill>
            <a:prstDash val="solid"/>
          </a:ln>
        </p:spPr>
      </p:sp>
      <p:sp>
        <p:nvSpPr>
          <p:cNvPr id="37" name="Text 35"/>
          <p:cNvSpPr txBox="1"/>
          <p:nvPr/>
        </p:nvSpPr>
        <p:spPr>
          <a:xfrm>
            <a:off x="3474720" y="3218688"/>
            <a:ext cx="2377440" cy="2743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entregue com pendência / em andamento</a:t>
            </a:r>
            <a:endParaRPr lang="en-US" sz="1200" dirty="0"/>
          </a:p>
        </p:txBody>
      </p:sp>
      <p:sp>
        <p:nvSpPr>
          <p:cNvPr id="38" name="Shape 36"/>
          <p:cNvSpPr/>
          <p:nvPr/>
        </p:nvSpPr>
        <p:spPr>
          <a:xfrm>
            <a:off x="5943600" y="3246120"/>
            <a:ext cx="201168" cy="201168"/>
          </a:xfrm>
          <a:prstGeom prst="ellipse">
            <a:avLst/>
          </a:prstGeom>
          <a:solidFill>
            <a:schemeClr val="accent3"/>
          </a:solidFill>
          <a:ln w="12700">
            <a:solidFill>
              <a:schemeClr val="accent3"/>
            </a:solidFill>
            <a:prstDash val="solid"/>
          </a:ln>
        </p:spPr>
      </p:sp>
      <p:sp>
        <p:nvSpPr>
          <p:cNvPr id="39" name="Text 37"/>
          <p:cNvSpPr txBox="1"/>
          <p:nvPr/>
        </p:nvSpPr>
        <p:spPr>
          <a:xfrm>
            <a:off x="6217920" y="3218688"/>
            <a:ext cx="2377440" cy="2743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entrega bloqueada</a:t>
            </a:r>
            <a:endParaRPr lang="en-US" sz="1200" dirty="0"/>
          </a:p>
        </p:txBody>
      </p:sp>
      <p:sp>
        <p:nvSpPr>
          <p:cNvPr id="40" name="Text 38"/>
          <p:cNvSpPr txBox="1"/>
          <p:nvPr/>
        </p:nvSpPr>
        <p:spPr>
          <a:xfrm>
            <a:off x="457200" y="3886200"/>
            <a:ext cx="8229600" cy="365760"/>
          </a:xfrm>
          <a:prstGeom prst="rect">
            <a:avLst/>
          </a:prstGeom>
          <a:noFill/>
          <a:ln/>
        </p:spPr>
        <p:txBody>
          <a:bodyPr wrap="square" lIns="0" tIns="0" rIns="0" bIns="0" rtlCol="0" anchor="t"/>
          <a:lstStyle/>
          <a:p>
            <a:pPr indent="0" marL="0">
              <a:buNone/>
            </a:pPr>
            <a:r>
              <a:rPr lang="en-US" sz="1400" i="1" dirty="0">
                <a:solidFill>
                  <a:schemeClr val="accent4"/>
                </a:solidFill>
                <a:latin typeface="Calibri" pitchFamily="34" charset="0"/>
                <a:ea typeface="Calibri" pitchFamily="34" charset="-122"/>
                <a:cs typeface="Calibri" pitchFamily="34" charset="-120"/>
              </a:rPr>
              <a:t>Cada etapa termina numa entrega demonstrável; a seguinte só começa com ela pronta.</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96A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Uma branch por etapa, um commit por entrega</a:t>
            </a:r>
            <a:endParaRPr lang="en-US" sz="2800" dirty="0"/>
          </a:p>
        </p:txBody>
      </p:sp>
      <p:sp>
        <p:nvSpPr>
          <p:cNvPr id="3" name="Shape 1"/>
          <p:cNvSpPr/>
          <p:nvPr/>
        </p:nvSpPr>
        <p:spPr>
          <a:xfrm>
            <a:off x="640080" y="1600200"/>
            <a:ext cx="7863840" cy="0"/>
          </a:xfrm>
          <a:prstGeom prst="line">
            <a:avLst/>
          </a:prstGeom>
          <a:noFill/>
          <a:ln w="25400">
            <a:solidFill>
              <a:schemeClr val="accent5"/>
            </a:solidFill>
            <a:prstDash val="solid"/>
          </a:ln>
        </p:spPr>
      </p:sp>
      <p:sp>
        <p:nvSpPr>
          <p:cNvPr id="4" name="Text 2"/>
          <p:cNvSpPr txBox="1"/>
          <p:nvPr/>
        </p:nvSpPr>
        <p:spPr>
          <a:xfrm>
            <a:off x="457200" y="1234440"/>
            <a:ext cx="914400" cy="274320"/>
          </a:xfrm>
          <a:prstGeom prst="rect">
            <a:avLst/>
          </a:prstGeom>
          <a:noFill/>
          <a:ln/>
        </p:spPr>
        <p:txBody>
          <a:bodyPr wrap="square" lIns="0" tIns="0" rIns="0" bIns="0" rtlCol="0" anchor="t"/>
          <a:lstStyle/>
          <a:p>
            <a:pPr indent="0" marL="0">
              <a:buNone/>
            </a:pPr>
            <a:r>
              <a:rPr lang="en-US" sz="1200" b="1" dirty="0">
                <a:solidFill>
                  <a:schemeClr val="accent5"/>
                </a:solidFill>
                <a:latin typeface="Calibri" pitchFamily="34" charset="0"/>
                <a:ea typeface="Calibri" pitchFamily="34" charset="-122"/>
                <a:cs typeface="Calibri" pitchFamily="34" charset="-120"/>
              </a:rPr>
              <a:t>main</a:t>
            </a:r>
            <a:endParaRPr lang="en-US" sz="1200" dirty="0"/>
          </a:p>
        </p:txBody>
      </p:sp>
      <p:sp>
        <p:nvSpPr>
          <p:cNvPr id="5" name="Shape 3"/>
          <p:cNvSpPr/>
          <p:nvPr/>
        </p:nvSpPr>
        <p:spPr>
          <a:xfrm>
            <a:off x="1051560" y="1490472"/>
            <a:ext cx="219456" cy="219456"/>
          </a:xfrm>
          <a:prstGeom prst="ellipse">
            <a:avLst/>
          </a:prstGeom>
          <a:solidFill>
            <a:schemeClr val="accent1"/>
          </a:solidFill>
          <a:ln w="19050">
            <a:solidFill>
              <a:schemeClr val="bg1"/>
            </a:solidFill>
            <a:prstDash val="solid"/>
          </a:ln>
        </p:spPr>
      </p:sp>
      <p:sp>
        <p:nvSpPr>
          <p:cNvPr id="6" name="Shape 4"/>
          <p:cNvSpPr/>
          <p:nvPr/>
        </p:nvSpPr>
        <p:spPr>
          <a:xfrm>
            <a:off x="1161288" y="1709928"/>
            <a:ext cx="0" cy="457200"/>
          </a:xfrm>
          <a:prstGeom prst="line">
            <a:avLst/>
          </a:prstGeom>
          <a:noFill/>
          <a:ln w="12700">
            <a:solidFill>
              <a:schemeClr val="accent5"/>
            </a:solidFill>
            <a:prstDash val="dash"/>
          </a:ln>
        </p:spPr>
      </p:sp>
      <p:sp>
        <p:nvSpPr>
          <p:cNvPr id="7" name="branch-1"/>
          <p:cNvSpPr/>
          <p:nvPr/>
        </p:nvSpPr>
        <p:spPr>
          <a:xfrm>
            <a:off x="640080" y="2194560"/>
            <a:ext cx="1051560" cy="1188720"/>
          </a:xfrm>
          <a:prstGeom prst="roundRect">
            <a:avLst>
              <a:gd name="adj" fmla="val 6957"/>
            </a:avLst>
          </a:prstGeom>
          <a:solidFill>
            <a:schemeClr val="bg2"/>
          </a:solidFill>
          <a:ln w="12700">
            <a:solidFill>
              <a:schemeClr val="bg2"/>
            </a:solidFill>
            <a:prstDash val="solid"/>
          </a:ln>
        </p:spPr>
      </p:sp>
      <p:sp>
        <p:nvSpPr>
          <p:cNvPr id="8" name="Text 6"/>
          <p:cNvSpPr txBox="1"/>
          <p:nvPr/>
        </p:nvSpPr>
        <p:spPr>
          <a:xfrm>
            <a:off x="640080" y="2286000"/>
            <a:ext cx="1051560" cy="32004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E1</a:t>
            </a:r>
            <a:endParaRPr lang="en-US" sz="1600" dirty="0"/>
          </a:p>
        </p:txBody>
      </p:sp>
      <p:sp>
        <p:nvSpPr>
          <p:cNvPr id="9" name="Text 7"/>
          <p:cNvSpPr txBox="1"/>
          <p:nvPr/>
        </p:nvSpPr>
        <p:spPr>
          <a:xfrm>
            <a:off x="640080" y="2651760"/>
            <a:ext cx="1051560" cy="274320"/>
          </a:xfrm>
          <a:prstGeom prst="rect">
            <a:avLst/>
          </a:prstGeom>
          <a:noFill/>
          <a:ln/>
        </p:spPr>
        <p:txBody>
          <a:bodyPr wrap="square" lIns="0" tIns="0" rIns="0" bIns="0" rtlCol="0" anchor="t"/>
          <a:lstStyle/>
          <a:p>
            <a:pPr algn="ctr" indent="0" marL="0">
              <a:buNone/>
            </a:pPr>
            <a:r>
              <a:rPr lang="en-US" sz="1100" dirty="0">
                <a:solidFill>
                  <a:schemeClr val="tx1"/>
                </a:solidFill>
                <a:latin typeface="Calibri" pitchFamily="34" charset="0"/>
                <a:ea typeface="Calibri" pitchFamily="34" charset="-122"/>
                <a:cs typeface="Calibri" pitchFamily="34" charset="-120"/>
              </a:rPr>
              <a:t>5 docs</a:t>
            </a:r>
            <a:endParaRPr lang="en-US" sz="1100" dirty="0"/>
          </a:p>
        </p:txBody>
      </p:sp>
      <p:sp>
        <p:nvSpPr>
          <p:cNvPr id="10" name="Text 8"/>
          <p:cNvSpPr txBox="1"/>
          <p:nvPr/>
        </p:nvSpPr>
        <p:spPr>
          <a:xfrm>
            <a:off x="640080" y="2926080"/>
            <a:ext cx="1051560" cy="274320"/>
          </a:xfrm>
          <a:prstGeom prst="rect">
            <a:avLst/>
          </a:prstGeom>
          <a:noFill/>
          <a:ln/>
        </p:spPr>
        <p:txBody>
          <a:bodyPr wrap="square" lIns="0" tIns="0" rIns="0" bIns="0" rtlCol="0" anchor="t"/>
          <a:lstStyle/>
          <a:p>
            <a:pPr algn="ctr" indent="0" marL="0">
              <a:buNone/>
            </a:pPr>
            <a:r>
              <a:rPr lang="en-US" sz="1100" dirty="0">
                <a:solidFill>
                  <a:schemeClr val="accent4"/>
                </a:solidFill>
                <a:latin typeface="Calibri" pitchFamily="34" charset="0"/>
                <a:ea typeface="Calibri" pitchFamily="34" charset="-122"/>
                <a:cs typeface="Calibri" pitchFamily="34" charset="-120"/>
              </a:rPr>
              <a:t>4/5 tarefas</a:t>
            </a:r>
            <a:endParaRPr lang="en-US" sz="1100" dirty="0"/>
          </a:p>
        </p:txBody>
      </p:sp>
      <p:sp>
        <p:nvSpPr>
          <p:cNvPr id="11" name="Shape 9"/>
          <p:cNvSpPr/>
          <p:nvPr/>
        </p:nvSpPr>
        <p:spPr>
          <a:xfrm>
            <a:off x="2194560" y="1490472"/>
            <a:ext cx="219456" cy="219456"/>
          </a:xfrm>
          <a:prstGeom prst="ellipse">
            <a:avLst/>
          </a:prstGeom>
          <a:solidFill>
            <a:schemeClr val="accent2"/>
          </a:solidFill>
          <a:ln w="19050">
            <a:solidFill>
              <a:schemeClr val="bg1"/>
            </a:solidFill>
            <a:prstDash val="solid"/>
          </a:ln>
        </p:spPr>
      </p:sp>
      <p:sp>
        <p:nvSpPr>
          <p:cNvPr id="12" name="Shape 10"/>
          <p:cNvSpPr/>
          <p:nvPr/>
        </p:nvSpPr>
        <p:spPr>
          <a:xfrm>
            <a:off x="2304288" y="1709928"/>
            <a:ext cx="0" cy="457200"/>
          </a:xfrm>
          <a:prstGeom prst="line">
            <a:avLst/>
          </a:prstGeom>
          <a:noFill/>
          <a:ln w="12700">
            <a:solidFill>
              <a:schemeClr val="accent5"/>
            </a:solidFill>
            <a:prstDash val="dash"/>
          </a:ln>
        </p:spPr>
      </p:sp>
      <p:sp>
        <p:nvSpPr>
          <p:cNvPr id="13" name="branch-2"/>
          <p:cNvSpPr/>
          <p:nvPr/>
        </p:nvSpPr>
        <p:spPr>
          <a:xfrm>
            <a:off x="1783080" y="2194560"/>
            <a:ext cx="1051560" cy="1188720"/>
          </a:xfrm>
          <a:prstGeom prst="roundRect">
            <a:avLst>
              <a:gd name="adj" fmla="val 6957"/>
            </a:avLst>
          </a:prstGeom>
          <a:solidFill>
            <a:schemeClr val="bg2"/>
          </a:solidFill>
          <a:ln w="12700">
            <a:solidFill>
              <a:schemeClr val="bg2"/>
            </a:solidFill>
            <a:prstDash val="solid"/>
          </a:ln>
        </p:spPr>
      </p:sp>
      <p:sp>
        <p:nvSpPr>
          <p:cNvPr id="14" name="Text 12"/>
          <p:cNvSpPr txBox="1"/>
          <p:nvPr/>
        </p:nvSpPr>
        <p:spPr>
          <a:xfrm>
            <a:off x="1783080" y="2286000"/>
            <a:ext cx="1051560" cy="32004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E2</a:t>
            </a:r>
            <a:endParaRPr lang="en-US" sz="1600" dirty="0"/>
          </a:p>
        </p:txBody>
      </p:sp>
      <p:sp>
        <p:nvSpPr>
          <p:cNvPr id="15" name="Text 13"/>
          <p:cNvSpPr txBox="1"/>
          <p:nvPr/>
        </p:nvSpPr>
        <p:spPr>
          <a:xfrm>
            <a:off x="1783080" y="2651760"/>
            <a:ext cx="1051560" cy="274320"/>
          </a:xfrm>
          <a:prstGeom prst="rect">
            <a:avLst/>
          </a:prstGeom>
          <a:noFill/>
          <a:ln/>
        </p:spPr>
        <p:txBody>
          <a:bodyPr wrap="square" lIns="0" tIns="0" rIns="0" bIns="0" rtlCol="0" anchor="t"/>
          <a:lstStyle/>
          <a:p>
            <a:pPr algn="ctr" indent="0" marL="0">
              <a:buNone/>
            </a:pPr>
            <a:r>
              <a:rPr lang="en-US" sz="1100" dirty="0">
                <a:solidFill>
                  <a:schemeClr val="tx1"/>
                </a:solidFill>
                <a:latin typeface="Calibri" pitchFamily="34" charset="0"/>
                <a:ea typeface="Calibri" pitchFamily="34" charset="-122"/>
                <a:cs typeface="Calibri" pitchFamily="34" charset="-120"/>
              </a:rPr>
              <a:t>10 commits</a:t>
            </a:r>
            <a:endParaRPr lang="en-US" sz="1100" dirty="0"/>
          </a:p>
        </p:txBody>
      </p:sp>
      <p:sp>
        <p:nvSpPr>
          <p:cNvPr id="16" name="Text 14"/>
          <p:cNvSpPr txBox="1"/>
          <p:nvPr/>
        </p:nvSpPr>
        <p:spPr>
          <a:xfrm>
            <a:off x="1783080" y="2926080"/>
            <a:ext cx="1051560" cy="274320"/>
          </a:xfrm>
          <a:prstGeom prst="rect">
            <a:avLst/>
          </a:prstGeom>
          <a:noFill/>
          <a:ln/>
        </p:spPr>
        <p:txBody>
          <a:bodyPr wrap="square" lIns="0" tIns="0" rIns="0" bIns="0" rtlCol="0" anchor="t"/>
          <a:lstStyle/>
          <a:p>
            <a:pPr algn="ctr" indent="0" marL="0">
              <a:buNone/>
            </a:pPr>
            <a:r>
              <a:rPr lang="en-US" sz="1100" dirty="0">
                <a:solidFill>
                  <a:schemeClr val="accent4"/>
                </a:solidFill>
                <a:latin typeface="Calibri" pitchFamily="34" charset="0"/>
                <a:ea typeface="Calibri" pitchFamily="34" charset="-122"/>
                <a:cs typeface="Calibri" pitchFamily="34" charset="-120"/>
              </a:rPr>
              <a:t>5/5 tarefas</a:t>
            </a:r>
            <a:endParaRPr lang="en-US" sz="1100" dirty="0"/>
          </a:p>
        </p:txBody>
      </p:sp>
      <p:sp>
        <p:nvSpPr>
          <p:cNvPr id="17" name="Shape 15"/>
          <p:cNvSpPr/>
          <p:nvPr/>
        </p:nvSpPr>
        <p:spPr>
          <a:xfrm>
            <a:off x="3337560" y="1490472"/>
            <a:ext cx="219456" cy="219456"/>
          </a:xfrm>
          <a:prstGeom prst="ellipse">
            <a:avLst/>
          </a:prstGeom>
          <a:solidFill>
            <a:schemeClr val="accent2"/>
          </a:solidFill>
          <a:ln w="19050">
            <a:solidFill>
              <a:schemeClr val="bg1"/>
            </a:solidFill>
            <a:prstDash val="solid"/>
          </a:ln>
        </p:spPr>
      </p:sp>
      <p:sp>
        <p:nvSpPr>
          <p:cNvPr id="18" name="Shape 16"/>
          <p:cNvSpPr/>
          <p:nvPr/>
        </p:nvSpPr>
        <p:spPr>
          <a:xfrm>
            <a:off x="3447288" y="1709928"/>
            <a:ext cx="0" cy="457200"/>
          </a:xfrm>
          <a:prstGeom prst="line">
            <a:avLst/>
          </a:prstGeom>
          <a:noFill/>
          <a:ln w="12700">
            <a:solidFill>
              <a:schemeClr val="accent5"/>
            </a:solidFill>
            <a:prstDash val="dash"/>
          </a:ln>
        </p:spPr>
      </p:sp>
      <p:sp>
        <p:nvSpPr>
          <p:cNvPr id="19" name="branch-3"/>
          <p:cNvSpPr/>
          <p:nvPr/>
        </p:nvSpPr>
        <p:spPr>
          <a:xfrm>
            <a:off x="2926080" y="2194560"/>
            <a:ext cx="1051560" cy="1188720"/>
          </a:xfrm>
          <a:prstGeom prst="roundRect">
            <a:avLst>
              <a:gd name="adj" fmla="val 6957"/>
            </a:avLst>
          </a:prstGeom>
          <a:solidFill>
            <a:schemeClr val="bg2"/>
          </a:solidFill>
          <a:ln w="12700">
            <a:solidFill>
              <a:schemeClr val="bg2"/>
            </a:solidFill>
            <a:prstDash val="solid"/>
          </a:ln>
        </p:spPr>
      </p:sp>
      <p:sp>
        <p:nvSpPr>
          <p:cNvPr id="20" name="Text 18"/>
          <p:cNvSpPr txBox="1"/>
          <p:nvPr/>
        </p:nvSpPr>
        <p:spPr>
          <a:xfrm>
            <a:off x="2926080" y="2286000"/>
            <a:ext cx="1051560" cy="32004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E3</a:t>
            </a:r>
            <a:endParaRPr lang="en-US" sz="1600" dirty="0"/>
          </a:p>
        </p:txBody>
      </p:sp>
      <p:sp>
        <p:nvSpPr>
          <p:cNvPr id="21" name="Text 19"/>
          <p:cNvSpPr txBox="1"/>
          <p:nvPr/>
        </p:nvSpPr>
        <p:spPr>
          <a:xfrm>
            <a:off x="2926080" y="2651760"/>
            <a:ext cx="1051560" cy="274320"/>
          </a:xfrm>
          <a:prstGeom prst="rect">
            <a:avLst/>
          </a:prstGeom>
          <a:noFill/>
          <a:ln/>
        </p:spPr>
        <p:txBody>
          <a:bodyPr wrap="square" lIns="0" tIns="0" rIns="0" bIns="0" rtlCol="0" anchor="t"/>
          <a:lstStyle/>
          <a:p>
            <a:pPr algn="ctr" indent="0" marL="0">
              <a:buNone/>
            </a:pPr>
            <a:r>
              <a:rPr lang="en-US" sz="1100" dirty="0">
                <a:solidFill>
                  <a:schemeClr val="tx1"/>
                </a:solidFill>
                <a:latin typeface="Calibri" pitchFamily="34" charset="0"/>
                <a:ea typeface="Calibri" pitchFamily="34" charset="-122"/>
                <a:cs typeface="Calibri" pitchFamily="34" charset="-120"/>
              </a:rPr>
              <a:t>13 commits</a:t>
            </a:r>
            <a:endParaRPr lang="en-US" sz="1100" dirty="0"/>
          </a:p>
        </p:txBody>
      </p:sp>
      <p:sp>
        <p:nvSpPr>
          <p:cNvPr id="22" name="Text 20"/>
          <p:cNvSpPr txBox="1"/>
          <p:nvPr/>
        </p:nvSpPr>
        <p:spPr>
          <a:xfrm>
            <a:off x="2926080" y="2926080"/>
            <a:ext cx="1051560" cy="274320"/>
          </a:xfrm>
          <a:prstGeom prst="rect">
            <a:avLst/>
          </a:prstGeom>
          <a:noFill/>
          <a:ln/>
        </p:spPr>
        <p:txBody>
          <a:bodyPr wrap="square" lIns="0" tIns="0" rIns="0" bIns="0" rtlCol="0" anchor="t"/>
          <a:lstStyle/>
          <a:p>
            <a:pPr algn="ctr" indent="0" marL="0">
              <a:buNone/>
            </a:pPr>
            <a:r>
              <a:rPr lang="en-US" sz="1100" dirty="0">
                <a:solidFill>
                  <a:schemeClr val="accent4"/>
                </a:solidFill>
                <a:latin typeface="Calibri" pitchFamily="34" charset="0"/>
                <a:ea typeface="Calibri" pitchFamily="34" charset="-122"/>
                <a:cs typeface="Calibri" pitchFamily="34" charset="-120"/>
              </a:rPr>
              <a:t>6/6 tarefas</a:t>
            </a:r>
            <a:endParaRPr lang="en-US" sz="1100" dirty="0"/>
          </a:p>
        </p:txBody>
      </p:sp>
      <p:sp>
        <p:nvSpPr>
          <p:cNvPr id="23" name="Shape 21"/>
          <p:cNvSpPr/>
          <p:nvPr/>
        </p:nvSpPr>
        <p:spPr>
          <a:xfrm>
            <a:off x="4480560" y="1490472"/>
            <a:ext cx="219456" cy="219456"/>
          </a:xfrm>
          <a:prstGeom prst="ellipse">
            <a:avLst/>
          </a:prstGeom>
          <a:solidFill>
            <a:schemeClr val="accent2"/>
          </a:solidFill>
          <a:ln w="19050">
            <a:solidFill>
              <a:schemeClr val="bg1"/>
            </a:solidFill>
            <a:prstDash val="solid"/>
          </a:ln>
        </p:spPr>
      </p:sp>
      <p:sp>
        <p:nvSpPr>
          <p:cNvPr id="24" name="Shape 22"/>
          <p:cNvSpPr/>
          <p:nvPr/>
        </p:nvSpPr>
        <p:spPr>
          <a:xfrm>
            <a:off x="4590288" y="1709928"/>
            <a:ext cx="0" cy="457200"/>
          </a:xfrm>
          <a:prstGeom prst="line">
            <a:avLst/>
          </a:prstGeom>
          <a:noFill/>
          <a:ln w="12700">
            <a:solidFill>
              <a:schemeClr val="accent5"/>
            </a:solidFill>
            <a:prstDash val="dash"/>
          </a:ln>
        </p:spPr>
      </p:sp>
      <p:sp>
        <p:nvSpPr>
          <p:cNvPr id="25" name="branch-4"/>
          <p:cNvSpPr/>
          <p:nvPr/>
        </p:nvSpPr>
        <p:spPr>
          <a:xfrm>
            <a:off x="4069080" y="2194560"/>
            <a:ext cx="1051560" cy="1188720"/>
          </a:xfrm>
          <a:prstGeom prst="roundRect">
            <a:avLst>
              <a:gd name="adj" fmla="val 6957"/>
            </a:avLst>
          </a:prstGeom>
          <a:solidFill>
            <a:schemeClr val="bg2"/>
          </a:solidFill>
          <a:ln w="12700">
            <a:solidFill>
              <a:schemeClr val="bg2"/>
            </a:solidFill>
            <a:prstDash val="solid"/>
          </a:ln>
        </p:spPr>
      </p:sp>
      <p:sp>
        <p:nvSpPr>
          <p:cNvPr id="26" name="Text 24"/>
          <p:cNvSpPr txBox="1"/>
          <p:nvPr/>
        </p:nvSpPr>
        <p:spPr>
          <a:xfrm>
            <a:off x="4069080" y="2286000"/>
            <a:ext cx="1051560" cy="32004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E4</a:t>
            </a:r>
            <a:endParaRPr lang="en-US" sz="1600" dirty="0"/>
          </a:p>
        </p:txBody>
      </p:sp>
      <p:sp>
        <p:nvSpPr>
          <p:cNvPr id="27" name="Text 25"/>
          <p:cNvSpPr txBox="1"/>
          <p:nvPr/>
        </p:nvSpPr>
        <p:spPr>
          <a:xfrm>
            <a:off x="4069080" y="2651760"/>
            <a:ext cx="1051560" cy="274320"/>
          </a:xfrm>
          <a:prstGeom prst="rect">
            <a:avLst/>
          </a:prstGeom>
          <a:noFill/>
          <a:ln/>
        </p:spPr>
        <p:txBody>
          <a:bodyPr wrap="square" lIns="0" tIns="0" rIns="0" bIns="0" rtlCol="0" anchor="t"/>
          <a:lstStyle/>
          <a:p>
            <a:pPr algn="ctr" indent="0" marL="0">
              <a:buNone/>
            </a:pPr>
            <a:r>
              <a:rPr lang="en-US" sz="1100" dirty="0">
                <a:solidFill>
                  <a:schemeClr val="tx1"/>
                </a:solidFill>
                <a:latin typeface="Calibri" pitchFamily="34" charset="0"/>
                <a:ea typeface="Calibri" pitchFamily="34" charset="-122"/>
                <a:cs typeface="Calibri" pitchFamily="34" charset="-120"/>
              </a:rPr>
              <a:t>16 commits</a:t>
            </a:r>
            <a:endParaRPr lang="en-US" sz="1100" dirty="0"/>
          </a:p>
        </p:txBody>
      </p:sp>
      <p:sp>
        <p:nvSpPr>
          <p:cNvPr id="28" name="Text 26"/>
          <p:cNvSpPr txBox="1"/>
          <p:nvPr/>
        </p:nvSpPr>
        <p:spPr>
          <a:xfrm>
            <a:off x="4069080" y="2926080"/>
            <a:ext cx="1051560" cy="274320"/>
          </a:xfrm>
          <a:prstGeom prst="rect">
            <a:avLst/>
          </a:prstGeom>
          <a:noFill/>
          <a:ln/>
        </p:spPr>
        <p:txBody>
          <a:bodyPr wrap="square" lIns="0" tIns="0" rIns="0" bIns="0" rtlCol="0" anchor="t"/>
          <a:lstStyle/>
          <a:p>
            <a:pPr algn="ctr" indent="0" marL="0">
              <a:buNone/>
            </a:pPr>
            <a:r>
              <a:rPr lang="en-US" sz="1100" dirty="0">
                <a:solidFill>
                  <a:schemeClr val="accent4"/>
                </a:solidFill>
                <a:latin typeface="Calibri" pitchFamily="34" charset="0"/>
                <a:ea typeface="Calibri" pitchFamily="34" charset="-122"/>
                <a:cs typeface="Calibri" pitchFamily="34" charset="-120"/>
              </a:rPr>
              <a:t>8/8 tarefas</a:t>
            </a:r>
            <a:endParaRPr lang="en-US" sz="1100" dirty="0"/>
          </a:p>
        </p:txBody>
      </p:sp>
      <p:sp>
        <p:nvSpPr>
          <p:cNvPr id="29" name="Shape 27"/>
          <p:cNvSpPr/>
          <p:nvPr/>
        </p:nvSpPr>
        <p:spPr>
          <a:xfrm>
            <a:off x="5623560" y="1490472"/>
            <a:ext cx="219456" cy="219456"/>
          </a:xfrm>
          <a:prstGeom prst="ellipse">
            <a:avLst/>
          </a:prstGeom>
          <a:solidFill>
            <a:schemeClr val="accent2"/>
          </a:solidFill>
          <a:ln w="19050">
            <a:solidFill>
              <a:schemeClr val="bg1"/>
            </a:solidFill>
            <a:prstDash val="solid"/>
          </a:ln>
        </p:spPr>
      </p:sp>
      <p:sp>
        <p:nvSpPr>
          <p:cNvPr id="30" name="Shape 28"/>
          <p:cNvSpPr/>
          <p:nvPr/>
        </p:nvSpPr>
        <p:spPr>
          <a:xfrm>
            <a:off x="5733288" y="1709928"/>
            <a:ext cx="0" cy="457200"/>
          </a:xfrm>
          <a:prstGeom prst="line">
            <a:avLst/>
          </a:prstGeom>
          <a:noFill/>
          <a:ln w="12700">
            <a:solidFill>
              <a:schemeClr val="accent5"/>
            </a:solidFill>
            <a:prstDash val="dash"/>
          </a:ln>
        </p:spPr>
      </p:sp>
      <p:sp>
        <p:nvSpPr>
          <p:cNvPr id="31" name="branch-5"/>
          <p:cNvSpPr/>
          <p:nvPr/>
        </p:nvSpPr>
        <p:spPr>
          <a:xfrm>
            <a:off x="5212080" y="2194560"/>
            <a:ext cx="1051560" cy="1188720"/>
          </a:xfrm>
          <a:prstGeom prst="roundRect">
            <a:avLst>
              <a:gd name="adj" fmla="val 6957"/>
            </a:avLst>
          </a:prstGeom>
          <a:solidFill>
            <a:schemeClr val="bg2"/>
          </a:solidFill>
          <a:ln w="12700">
            <a:solidFill>
              <a:schemeClr val="bg2"/>
            </a:solidFill>
            <a:prstDash val="solid"/>
          </a:ln>
        </p:spPr>
      </p:sp>
      <p:sp>
        <p:nvSpPr>
          <p:cNvPr id="32" name="Text 30"/>
          <p:cNvSpPr txBox="1"/>
          <p:nvPr/>
        </p:nvSpPr>
        <p:spPr>
          <a:xfrm>
            <a:off x="5212080" y="2286000"/>
            <a:ext cx="1051560" cy="32004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E5</a:t>
            </a:r>
            <a:endParaRPr lang="en-US" sz="1600" dirty="0"/>
          </a:p>
        </p:txBody>
      </p:sp>
      <p:sp>
        <p:nvSpPr>
          <p:cNvPr id="33" name="Text 31"/>
          <p:cNvSpPr txBox="1"/>
          <p:nvPr/>
        </p:nvSpPr>
        <p:spPr>
          <a:xfrm>
            <a:off x="5212080" y="2651760"/>
            <a:ext cx="1051560" cy="274320"/>
          </a:xfrm>
          <a:prstGeom prst="rect">
            <a:avLst/>
          </a:prstGeom>
          <a:noFill/>
          <a:ln/>
        </p:spPr>
        <p:txBody>
          <a:bodyPr wrap="square" lIns="0" tIns="0" rIns="0" bIns="0" rtlCol="0" anchor="t"/>
          <a:lstStyle/>
          <a:p>
            <a:pPr algn="ctr" indent="0" marL="0">
              <a:buNone/>
            </a:pPr>
            <a:r>
              <a:rPr lang="en-US" sz="1100" dirty="0">
                <a:solidFill>
                  <a:schemeClr val="tx1"/>
                </a:solidFill>
                <a:latin typeface="Calibri" pitchFamily="34" charset="0"/>
                <a:ea typeface="Calibri" pitchFamily="34" charset="-122"/>
                <a:cs typeface="Calibri" pitchFamily="34" charset="-120"/>
              </a:rPr>
              <a:t>10 commits</a:t>
            </a:r>
            <a:endParaRPr lang="en-US" sz="1100" dirty="0"/>
          </a:p>
        </p:txBody>
      </p:sp>
      <p:sp>
        <p:nvSpPr>
          <p:cNvPr id="34" name="Text 32"/>
          <p:cNvSpPr txBox="1"/>
          <p:nvPr/>
        </p:nvSpPr>
        <p:spPr>
          <a:xfrm>
            <a:off x="5212080" y="2926080"/>
            <a:ext cx="1051560" cy="274320"/>
          </a:xfrm>
          <a:prstGeom prst="rect">
            <a:avLst/>
          </a:prstGeom>
          <a:noFill/>
          <a:ln/>
        </p:spPr>
        <p:txBody>
          <a:bodyPr wrap="square" lIns="0" tIns="0" rIns="0" bIns="0" rtlCol="0" anchor="t"/>
          <a:lstStyle/>
          <a:p>
            <a:pPr algn="ctr" indent="0" marL="0">
              <a:buNone/>
            </a:pPr>
            <a:r>
              <a:rPr lang="en-US" sz="1100" dirty="0">
                <a:solidFill>
                  <a:schemeClr val="accent4"/>
                </a:solidFill>
                <a:latin typeface="Calibri" pitchFamily="34" charset="0"/>
                <a:ea typeface="Calibri" pitchFamily="34" charset="-122"/>
                <a:cs typeface="Calibri" pitchFamily="34" charset="-120"/>
              </a:rPr>
              <a:t>6/6 tarefas</a:t>
            </a:r>
            <a:endParaRPr lang="en-US" sz="1100" dirty="0"/>
          </a:p>
        </p:txBody>
      </p:sp>
      <p:sp>
        <p:nvSpPr>
          <p:cNvPr id="35" name="Shape 33"/>
          <p:cNvSpPr/>
          <p:nvPr/>
        </p:nvSpPr>
        <p:spPr>
          <a:xfrm>
            <a:off x="6766560" y="1490472"/>
            <a:ext cx="219456" cy="219456"/>
          </a:xfrm>
          <a:prstGeom prst="ellipse">
            <a:avLst/>
          </a:prstGeom>
          <a:solidFill>
            <a:schemeClr val="accent3"/>
          </a:solidFill>
          <a:ln w="19050">
            <a:solidFill>
              <a:schemeClr val="bg1"/>
            </a:solidFill>
            <a:prstDash val="solid"/>
          </a:ln>
        </p:spPr>
      </p:sp>
      <p:sp>
        <p:nvSpPr>
          <p:cNvPr id="36" name="Shape 34"/>
          <p:cNvSpPr/>
          <p:nvPr/>
        </p:nvSpPr>
        <p:spPr>
          <a:xfrm>
            <a:off x="6876288" y="1709928"/>
            <a:ext cx="0" cy="457200"/>
          </a:xfrm>
          <a:prstGeom prst="line">
            <a:avLst/>
          </a:prstGeom>
          <a:noFill/>
          <a:ln w="12700">
            <a:solidFill>
              <a:schemeClr val="accent5"/>
            </a:solidFill>
            <a:prstDash val="dash"/>
          </a:ln>
        </p:spPr>
      </p:sp>
      <p:sp>
        <p:nvSpPr>
          <p:cNvPr id="37" name="branch-6"/>
          <p:cNvSpPr/>
          <p:nvPr/>
        </p:nvSpPr>
        <p:spPr>
          <a:xfrm>
            <a:off x="6355080" y="2194560"/>
            <a:ext cx="1051560" cy="1188720"/>
          </a:xfrm>
          <a:prstGeom prst="roundRect">
            <a:avLst>
              <a:gd name="adj" fmla="val 6957"/>
            </a:avLst>
          </a:prstGeom>
          <a:solidFill>
            <a:schemeClr val="bg2"/>
          </a:solidFill>
          <a:ln w="12700">
            <a:solidFill>
              <a:schemeClr val="bg2"/>
            </a:solidFill>
            <a:prstDash val="solid"/>
          </a:ln>
        </p:spPr>
      </p:sp>
      <p:sp>
        <p:nvSpPr>
          <p:cNvPr id="38" name="Text 36"/>
          <p:cNvSpPr txBox="1"/>
          <p:nvPr/>
        </p:nvSpPr>
        <p:spPr>
          <a:xfrm>
            <a:off x="6355080" y="2286000"/>
            <a:ext cx="1051560" cy="32004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E6</a:t>
            </a:r>
            <a:endParaRPr lang="en-US" sz="1600" dirty="0"/>
          </a:p>
        </p:txBody>
      </p:sp>
      <p:sp>
        <p:nvSpPr>
          <p:cNvPr id="39" name="Text 37"/>
          <p:cNvSpPr txBox="1"/>
          <p:nvPr/>
        </p:nvSpPr>
        <p:spPr>
          <a:xfrm>
            <a:off x="6355080" y="2651760"/>
            <a:ext cx="1051560" cy="274320"/>
          </a:xfrm>
          <a:prstGeom prst="rect">
            <a:avLst/>
          </a:prstGeom>
          <a:noFill/>
          <a:ln/>
        </p:spPr>
        <p:txBody>
          <a:bodyPr wrap="square" lIns="0" tIns="0" rIns="0" bIns="0" rtlCol="0" anchor="t"/>
          <a:lstStyle/>
          <a:p>
            <a:pPr algn="ctr" indent="0" marL="0">
              <a:buNone/>
            </a:pPr>
            <a:r>
              <a:rPr lang="en-US" sz="1100" dirty="0">
                <a:solidFill>
                  <a:schemeClr val="tx1"/>
                </a:solidFill>
                <a:latin typeface="Calibri" pitchFamily="34" charset="0"/>
                <a:ea typeface="Calibri" pitchFamily="34" charset="-122"/>
                <a:cs typeface="Calibri" pitchFamily="34" charset="-120"/>
              </a:rPr>
              <a:t>9 commits</a:t>
            </a:r>
            <a:endParaRPr lang="en-US" sz="1100" dirty="0"/>
          </a:p>
        </p:txBody>
      </p:sp>
      <p:sp>
        <p:nvSpPr>
          <p:cNvPr id="40" name="Text 38"/>
          <p:cNvSpPr txBox="1"/>
          <p:nvPr/>
        </p:nvSpPr>
        <p:spPr>
          <a:xfrm>
            <a:off x="6355080" y="2926080"/>
            <a:ext cx="1051560" cy="274320"/>
          </a:xfrm>
          <a:prstGeom prst="rect">
            <a:avLst/>
          </a:prstGeom>
          <a:noFill/>
          <a:ln/>
        </p:spPr>
        <p:txBody>
          <a:bodyPr wrap="square" lIns="0" tIns="0" rIns="0" bIns="0" rtlCol="0" anchor="t"/>
          <a:lstStyle/>
          <a:p>
            <a:pPr algn="ctr" indent="0" marL="0">
              <a:buNone/>
            </a:pPr>
            <a:r>
              <a:rPr lang="en-US" sz="1100" dirty="0">
                <a:solidFill>
                  <a:schemeClr val="accent4"/>
                </a:solidFill>
                <a:latin typeface="Calibri" pitchFamily="34" charset="0"/>
                <a:ea typeface="Calibri" pitchFamily="34" charset="-122"/>
                <a:cs typeface="Calibri" pitchFamily="34" charset="-120"/>
              </a:rPr>
              <a:t>5/6 tarefas</a:t>
            </a:r>
            <a:endParaRPr lang="en-US" sz="1100" dirty="0"/>
          </a:p>
        </p:txBody>
      </p:sp>
      <p:sp>
        <p:nvSpPr>
          <p:cNvPr id="41" name="Shape 39"/>
          <p:cNvSpPr/>
          <p:nvPr/>
        </p:nvSpPr>
        <p:spPr>
          <a:xfrm>
            <a:off x="7909560" y="1490472"/>
            <a:ext cx="219456" cy="219456"/>
          </a:xfrm>
          <a:prstGeom prst="ellipse">
            <a:avLst/>
          </a:prstGeom>
          <a:solidFill>
            <a:schemeClr val="accent1"/>
          </a:solidFill>
          <a:ln w="19050">
            <a:solidFill>
              <a:schemeClr val="bg1"/>
            </a:solidFill>
            <a:prstDash val="solid"/>
          </a:ln>
        </p:spPr>
      </p:sp>
      <p:sp>
        <p:nvSpPr>
          <p:cNvPr id="42" name="Shape 40"/>
          <p:cNvSpPr/>
          <p:nvPr/>
        </p:nvSpPr>
        <p:spPr>
          <a:xfrm>
            <a:off x="8019288" y="1709928"/>
            <a:ext cx="0" cy="457200"/>
          </a:xfrm>
          <a:prstGeom prst="line">
            <a:avLst/>
          </a:prstGeom>
          <a:noFill/>
          <a:ln w="12700">
            <a:solidFill>
              <a:schemeClr val="accent5"/>
            </a:solidFill>
            <a:prstDash val="dash"/>
          </a:ln>
        </p:spPr>
      </p:sp>
      <p:sp>
        <p:nvSpPr>
          <p:cNvPr id="43" name="branch-7"/>
          <p:cNvSpPr/>
          <p:nvPr/>
        </p:nvSpPr>
        <p:spPr>
          <a:xfrm>
            <a:off x="7498080" y="2194560"/>
            <a:ext cx="1051560" cy="1188720"/>
          </a:xfrm>
          <a:prstGeom prst="roundRect">
            <a:avLst>
              <a:gd name="adj" fmla="val 6957"/>
            </a:avLst>
          </a:prstGeom>
          <a:solidFill>
            <a:schemeClr val="bg2"/>
          </a:solidFill>
          <a:ln w="12700">
            <a:solidFill>
              <a:schemeClr val="bg2"/>
            </a:solidFill>
            <a:prstDash val="solid"/>
          </a:ln>
        </p:spPr>
      </p:sp>
      <p:sp>
        <p:nvSpPr>
          <p:cNvPr id="44" name="Text 42"/>
          <p:cNvSpPr txBox="1"/>
          <p:nvPr/>
        </p:nvSpPr>
        <p:spPr>
          <a:xfrm>
            <a:off x="7498080" y="2286000"/>
            <a:ext cx="1051560" cy="320040"/>
          </a:xfrm>
          <a:prstGeom prst="rect">
            <a:avLst/>
          </a:prstGeom>
          <a:noFill/>
          <a:ln/>
        </p:spPr>
        <p:txBody>
          <a:bodyPr wrap="square" lIns="0" tIns="0" rIns="0" bIns="0" rtlCol="0" anchor="t"/>
          <a:lstStyle/>
          <a:p>
            <a:pPr algn="ctr" indent="0" marL="0">
              <a:buNone/>
            </a:pPr>
            <a:r>
              <a:rPr lang="en-US" sz="1600" b="1" dirty="0">
                <a:solidFill>
                  <a:schemeClr val="tx2"/>
                </a:solidFill>
                <a:latin typeface="Calibri" pitchFamily="34" charset="0"/>
                <a:ea typeface="Calibri" pitchFamily="34" charset="-122"/>
                <a:cs typeface="Calibri" pitchFamily="34" charset="-120"/>
              </a:rPr>
              <a:t>E7</a:t>
            </a:r>
            <a:endParaRPr lang="en-US" sz="1600" dirty="0"/>
          </a:p>
        </p:txBody>
      </p:sp>
      <p:sp>
        <p:nvSpPr>
          <p:cNvPr id="45" name="Text 43"/>
          <p:cNvSpPr txBox="1"/>
          <p:nvPr/>
        </p:nvSpPr>
        <p:spPr>
          <a:xfrm>
            <a:off x="7498080" y="2651760"/>
            <a:ext cx="1051560" cy="274320"/>
          </a:xfrm>
          <a:prstGeom prst="rect">
            <a:avLst/>
          </a:prstGeom>
          <a:noFill/>
          <a:ln/>
        </p:spPr>
        <p:txBody>
          <a:bodyPr wrap="square" lIns="0" tIns="0" rIns="0" bIns="0" rtlCol="0" anchor="t"/>
          <a:lstStyle/>
          <a:p>
            <a:pPr algn="ctr" indent="0" marL="0">
              <a:buNone/>
            </a:pPr>
            <a:r>
              <a:rPr lang="en-US" sz="1100" dirty="0">
                <a:solidFill>
                  <a:schemeClr val="tx1"/>
                </a:solidFill>
                <a:latin typeface="Calibri" pitchFamily="34" charset="0"/>
                <a:ea typeface="Calibri" pitchFamily="34" charset="-122"/>
                <a:cs typeface="Calibri" pitchFamily="34" charset="-120"/>
              </a:rPr>
              <a:t>14 commits</a:t>
            </a:r>
            <a:endParaRPr lang="en-US" sz="1100" dirty="0"/>
          </a:p>
        </p:txBody>
      </p:sp>
      <p:sp>
        <p:nvSpPr>
          <p:cNvPr id="46" name="Text 44"/>
          <p:cNvSpPr txBox="1"/>
          <p:nvPr/>
        </p:nvSpPr>
        <p:spPr>
          <a:xfrm>
            <a:off x="7498080" y="2926080"/>
            <a:ext cx="1051560" cy="274320"/>
          </a:xfrm>
          <a:prstGeom prst="rect">
            <a:avLst/>
          </a:prstGeom>
          <a:noFill/>
          <a:ln/>
        </p:spPr>
        <p:txBody>
          <a:bodyPr wrap="square" lIns="0" tIns="0" rIns="0" bIns="0" rtlCol="0" anchor="t"/>
          <a:lstStyle/>
          <a:p>
            <a:pPr algn="ctr" indent="0" marL="0">
              <a:buNone/>
            </a:pPr>
            <a:r>
              <a:rPr lang="en-US" sz="1100" dirty="0">
                <a:solidFill>
                  <a:schemeClr val="accent4"/>
                </a:solidFill>
                <a:latin typeface="Calibri" pitchFamily="34" charset="0"/>
                <a:ea typeface="Calibri" pitchFamily="34" charset="-122"/>
                <a:cs typeface="Calibri" pitchFamily="34" charset="-120"/>
              </a:rPr>
              <a:t>7/8 tarefas</a:t>
            </a:r>
            <a:endParaRPr lang="en-US" sz="1100" dirty="0"/>
          </a:p>
        </p:txBody>
      </p:sp>
      <p:sp>
        <p:nvSpPr>
          <p:cNvPr id="47" name="Text 45"/>
          <p:cNvSpPr txBox="1"/>
          <p:nvPr/>
        </p:nvSpPr>
        <p:spPr>
          <a:xfrm>
            <a:off x="457200" y="3657600"/>
            <a:ext cx="8229600" cy="6400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etapa/e1-planejamento → etapa/e2-fundacao → … → etapa/e7-painel: cada branch nasce da anterior. No dia da apresentação de cada etapa, a branch dela entra na main.</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96A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Panorama das etapas desenvolvidas</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737360"/>
                <a:gridCol w="3840480"/>
                <a:gridCol w="1371600"/>
                <a:gridCol w="685800"/>
                <a:gridCol w="594360"/>
              </a:tblGrid>
              <a:tr h="438912">
                <a:tc>
                  <a:txBody>
                    <a:bodyPr/>
                    <a:lstStyle/>
                    <a:p>
                      <a:pPr indent="0" marL="0">
                        <a:buNone/>
                      </a:pPr>
                      <a:r>
                        <a:rPr lang="en-US" sz="1000" b="1" dirty="0">
                          <a:solidFill>
                            <a:schemeClr val="bg1"/>
                          </a:solidFill>
                          <a:latin typeface="Calibri" pitchFamily="34" charset="0"/>
                          <a:ea typeface="Calibri" pitchFamily="34" charset="-122"/>
                          <a:cs typeface="Calibri" pitchFamily="34" charset="-120"/>
                        </a:rPr>
                        <a:t>Etapa</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latin typeface="Calibri" pitchFamily="34" charset="0"/>
                          <a:ea typeface="Calibri" pitchFamily="34" charset="-122"/>
                          <a:cs typeface="Calibri" pitchFamily="34" charset="-120"/>
                        </a:rPr>
                        <a:t>Entrega combinada</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latin typeface="Calibri" pitchFamily="34" charset="0"/>
                          <a:ea typeface="Calibri" pitchFamily="34" charset="-122"/>
                          <a:cs typeface="Calibri" pitchFamily="34" charset="-120"/>
                        </a:rPr>
                        <a:t>Situação</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latin typeface="Calibri" pitchFamily="34" charset="0"/>
                          <a:ea typeface="Calibri" pitchFamily="34" charset="-122"/>
                          <a:cs typeface="Calibri" pitchFamily="34" charset="-120"/>
                        </a:rPr>
                        <a:t>Tarefas</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latin typeface="Calibri" pitchFamily="34" charset="0"/>
                          <a:ea typeface="Calibri" pitchFamily="34" charset="-122"/>
                          <a:cs typeface="Calibri" pitchFamily="34" charset="-120"/>
                        </a:rPr>
                        <a:t>Testes</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solidFill>
                      <a:schemeClr val="tx2"/>
                    </a:solidFill>
                  </a:tcPr>
                </a:tc>
              </a:tr>
              <a:tr h="438912">
                <a:tc>
                  <a:txBody>
                    <a:bodyPr/>
                    <a:lstStyle/>
                    <a:p>
                      <a:pPr indent="0" marL="0">
                        <a:buNone/>
                      </a:pPr>
                      <a:r>
                        <a:rPr lang="en-US" sz="1000" b="1" dirty="0">
                          <a:solidFill>
                            <a:srgbClr val="1F2328"/>
                          </a:solidFill>
                          <a:latin typeface="Calibri" pitchFamily="34" charset="0"/>
                          <a:ea typeface="Calibri" pitchFamily="34" charset="-122"/>
                          <a:cs typeface="Calibri" pitchFamily="34" charset="-120"/>
                        </a:rPr>
                        <a:t>E1 Planejamento e arquitetura</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c>
                  <a:txBody>
                    <a:bodyPr/>
                    <a:lstStyle/>
                    <a:p>
                      <a:pPr indent="0" marL="0">
                        <a:buNone/>
                      </a:pPr>
                      <a:r>
                        <a:rPr lang="en-US" sz="1000" dirty="0">
                          <a:solidFill>
                            <a:srgbClr val="1F2328"/>
                          </a:solidFill>
                          <a:latin typeface="Calibri" pitchFamily="34" charset="0"/>
                          <a:ea typeface="Calibri" pitchFamily="34" charset="-122"/>
                          <a:cs typeface="Calibri" pitchFamily="34" charset="-120"/>
                        </a:rPr>
                        <a:t>Requisitos, arquitetura, tarefas, critérios e projetos de teste aprovados.</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c>
                  <a:txBody>
                    <a:bodyPr/>
                    <a:lstStyle/>
                    <a:p>
                      <a:pPr indent="0" marL="0">
                        <a:buNone/>
                      </a:pPr>
                      <a:r>
                        <a:rPr lang="en-US" sz="1000" b="1" dirty="0">
                          <a:solidFill>
                            <a:schemeClr val="accent1"/>
                          </a:solidFill>
                          <a:latin typeface="Calibri" pitchFamily="34" charset="0"/>
                          <a:ea typeface="Calibri" pitchFamily="34" charset="-122"/>
                          <a:cs typeface="Calibri" pitchFamily="34" charset="-120"/>
                        </a:rPr>
                        <a:t>Entregue com pendência</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c>
                  <a:txBody>
                    <a:bodyPr/>
                    <a:lstStyle/>
                    <a:p>
                      <a:pPr indent="0" marL="0">
                        <a:buNone/>
                      </a:pPr>
                      <a:r>
                        <a:rPr lang="en-US" sz="1000" dirty="0">
                          <a:solidFill>
                            <a:srgbClr val="1F2328"/>
                          </a:solidFill>
                          <a:latin typeface="Calibri" pitchFamily="34" charset="0"/>
                          <a:ea typeface="Calibri" pitchFamily="34" charset="-122"/>
                          <a:cs typeface="Calibri" pitchFamily="34" charset="-120"/>
                        </a:rPr>
                        <a:t>4/5</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c>
                  <a:txBody>
                    <a:bodyPr/>
                    <a:lstStyle/>
                    <a:p>
                      <a:pPr indent="0" marL="0">
                        <a:buNone/>
                      </a:pPr>
                      <a:r>
                        <a:rPr lang="en-US" sz="1000" dirty="0">
                          <a:solidFill>
                            <a:srgbClr val="1F232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r>
              <a:tr h="438912">
                <a:tc>
                  <a:txBody>
                    <a:bodyPr/>
                    <a:lstStyle/>
                    <a:p>
                      <a:pPr indent="0" marL="0">
                        <a:buNone/>
                      </a:pPr>
                      <a:r>
                        <a:rPr lang="en-US" sz="1000" b="1" dirty="0">
                          <a:solidFill>
                            <a:srgbClr val="1F2328"/>
                          </a:solidFill>
                          <a:latin typeface="Calibri" pitchFamily="34" charset="0"/>
                          <a:ea typeface="Calibri" pitchFamily="34" charset="-122"/>
                          <a:cs typeface="Calibri" pitchFamily="34" charset="-120"/>
                        </a:rPr>
                        <a:t>E2 Fundação do sistema</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c>
                  <a:txBody>
                    <a:bodyPr/>
                    <a:lstStyle/>
                    <a:p>
                      <a:pPr indent="0" marL="0">
                        <a:buNone/>
                      </a:pPr>
                      <a:r>
                        <a:rPr lang="en-US" sz="1000" dirty="0">
                          <a:solidFill>
                            <a:srgbClr val="1F2328"/>
                          </a:solidFill>
                          <a:latin typeface="Calibri" pitchFamily="34" charset="0"/>
                          <a:ea typeface="Calibri" pitchFamily="34" charset="-122"/>
                          <a:cs typeface="Calibri" pitchFamily="34" charset="-120"/>
                        </a:rPr>
                        <a:t>Os testes rodam sem internet e sem consumir o serviço do modelo.</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c>
                  <a:txBody>
                    <a:bodyPr/>
                    <a:lstStyle/>
                    <a:p>
                      <a:pPr indent="0" marL="0">
                        <a:buNone/>
                      </a:pPr>
                      <a:r>
                        <a:rPr lang="en-US" sz="1000" b="1" dirty="0">
                          <a:solidFill>
                            <a:schemeClr val="accent2"/>
                          </a:solidFill>
                          <a:latin typeface="Calibri" pitchFamily="34" charset="0"/>
                          <a:ea typeface="Calibri" pitchFamily="34" charset="-122"/>
                          <a:cs typeface="Calibri" pitchFamily="34" charset="-120"/>
                        </a:rPr>
                        <a:t>Entregue</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c>
                  <a:txBody>
                    <a:bodyPr/>
                    <a:lstStyle/>
                    <a:p>
                      <a:pPr indent="0" marL="0">
                        <a:buNone/>
                      </a:pPr>
                      <a:r>
                        <a:rPr lang="en-US" sz="1000" dirty="0">
                          <a:solidFill>
                            <a:srgbClr val="1F2328"/>
                          </a:solidFill>
                          <a:latin typeface="Calibri" pitchFamily="34" charset="0"/>
                          <a:ea typeface="Calibri" pitchFamily="34" charset="-122"/>
                          <a:cs typeface="Calibri" pitchFamily="34" charset="-120"/>
                        </a:rPr>
                        <a:t>5/5</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c>
                  <a:txBody>
                    <a:bodyPr/>
                    <a:lstStyle/>
                    <a:p>
                      <a:pPr indent="0" marL="0">
                        <a:buNone/>
                      </a:pPr>
                      <a:r>
                        <a:rPr lang="en-US" sz="1000" dirty="0">
                          <a:solidFill>
                            <a:srgbClr val="1F2328"/>
                          </a:solidFill>
                          <a:latin typeface="Calibri" pitchFamily="34" charset="0"/>
                          <a:ea typeface="Calibri" pitchFamily="34" charset="-122"/>
                          <a:cs typeface="Calibri" pitchFamily="34" charset="-120"/>
                        </a:rPr>
                        <a:t>152</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r>
              <a:tr h="438912">
                <a:tc>
                  <a:txBody>
                    <a:bodyPr/>
                    <a:lstStyle/>
                    <a:p>
                      <a:pPr indent="0" marL="0">
                        <a:buNone/>
                      </a:pPr>
                      <a:r>
                        <a:rPr lang="en-US" sz="1000" b="1" dirty="0">
                          <a:solidFill>
                            <a:srgbClr val="1F2328"/>
                          </a:solidFill>
                          <a:latin typeface="Calibri" pitchFamily="34" charset="0"/>
                          <a:ea typeface="Calibri" pitchFamily="34" charset="-122"/>
                          <a:cs typeface="Calibri" pitchFamily="34" charset="-120"/>
                        </a:rPr>
                        <a:t>E3 O agente e as ferramentas</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c>
                  <a:txBody>
                    <a:bodyPr/>
                    <a:lstStyle/>
                    <a:p>
                      <a:pPr indent="0" marL="0">
                        <a:buNone/>
                      </a:pPr>
                      <a:r>
                        <a:rPr lang="en-US" sz="1000" dirty="0">
                          <a:solidFill>
                            <a:srgbClr val="1F2328"/>
                          </a:solidFill>
                          <a:latin typeface="Calibri" pitchFamily="34" charset="0"/>
                          <a:ea typeface="Calibri" pitchFamily="34" charset="-122"/>
                          <a:cs typeface="Calibri" pitchFamily="34" charset="-120"/>
                        </a:rPr>
                        <a:t>Um agente resolve uma tarefa real com o custo gravado, e trocar de fornecedor não mexe no núcleo.</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c>
                  <a:txBody>
                    <a:bodyPr/>
                    <a:lstStyle/>
                    <a:p>
                      <a:pPr indent="0" marL="0">
                        <a:buNone/>
                      </a:pPr>
                      <a:r>
                        <a:rPr lang="en-US" sz="1000" b="1" dirty="0">
                          <a:solidFill>
                            <a:schemeClr val="accent2"/>
                          </a:solidFill>
                          <a:latin typeface="Calibri" pitchFamily="34" charset="0"/>
                          <a:ea typeface="Calibri" pitchFamily="34" charset="-122"/>
                          <a:cs typeface="Calibri" pitchFamily="34" charset="-120"/>
                        </a:rPr>
                        <a:t>Entregue</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c>
                  <a:txBody>
                    <a:bodyPr/>
                    <a:lstStyle/>
                    <a:p>
                      <a:pPr indent="0" marL="0">
                        <a:buNone/>
                      </a:pPr>
                      <a:r>
                        <a:rPr lang="en-US" sz="1000" dirty="0">
                          <a:solidFill>
                            <a:srgbClr val="1F2328"/>
                          </a:solidFill>
                          <a:latin typeface="Calibri" pitchFamily="34" charset="0"/>
                          <a:ea typeface="Calibri" pitchFamily="34" charset="-122"/>
                          <a:cs typeface="Calibri" pitchFamily="34" charset="-120"/>
                        </a:rPr>
                        <a:t>6/6</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c>
                  <a:txBody>
                    <a:bodyPr/>
                    <a:lstStyle/>
                    <a:p>
                      <a:pPr indent="0" marL="0">
                        <a:buNone/>
                      </a:pPr>
                      <a:r>
                        <a:rPr lang="en-US" sz="1000" dirty="0">
                          <a:solidFill>
                            <a:srgbClr val="1F2328"/>
                          </a:solidFill>
                          <a:latin typeface="Calibri" pitchFamily="34" charset="0"/>
                          <a:ea typeface="Calibri" pitchFamily="34" charset="-122"/>
                          <a:cs typeface="Calibri" pitchFamily="34" charset="-120"/>
                        </a:rPr>
                        <a:t>558</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r>
              <a:tr h="438912">
                <a:tc>
                  <a:txBody>
                    <a:bodyPr/>
                    <a:lstStyle/>
                    <a:p>
                      <a:pPr indent="0" marL="0">
                        <a:buNone/>
                      </a:pPr>
                      <a:r>
                        <a:rPr lang="en-US" sz="1000" b="1" dirty="0">
                          <a:solidFill>
                            <a:srgbClr val="1F2328"/>
                          </a:solidFill>
                          <a:latin typeface="Calibri" pitchFamily="34" charset="0"/>
                          <a:ea typeface="Calibri" pitchFamily="34" charset="-122"/>
                          <a:cs typeface="Calibri" pitchFamily="34" charset="-120"/>
                        </a:rPr>
                        <a:t>E4 Linha de produção de tarefas</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c>
                  <a:txBody>
                    <a:bodyPr/>
                    <a:lstStyle/>
                    <a:p>
                      <a:pPr indent="0" marL="0">
                        <a:buNone/>
                      </a:pPr>
                      <a:r>
                        <a:rPr lang="en-US" sz="1000" dirty="0">
                          <a:solidFill>
                            <a:srgbClr val="1F2328"/>
                          </a:solidFill>
                          <a:latin typeface="Calibri" pitchFamily="34" charset="0"/>
                          <a:ea typeface="Calibri" pitchFamily="34" charset="-122"/>
                          <a:cs typeface="Calibri" pitchFamily="34" charset="-120"/>
                        </a:rPr>
                        <a:t>Uma tarefa percorre os seis estados, é reprovada de propósito, é refeita e conclui.</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c>
                  <a:txBody>
                    <a:bodyPr/>
                    <a:lstStyle/>
                    <a:p>
                      <a:pPr indent="0" marL="0">
                        <a:buNone/>
                      </a:pPr>
                      <a:r>
                        <a:rPr lang="en-US" sz="1000" b="1" dirty="0">
                          <a:solidFill>
                            <a:schemeClr val="accent2"/>
                          </a:solidFill>
                          <a:latin typeface="Calibri" pitchFamily="34" charset="0"/>
                          <a:ea typeface="Calibri" pitchFamily="34" charset="-122"/>
                          <a:cs typeface="Calibri" pitchFamily="34" charset="-120"/>
                        </a:rPr>
                        <a:t>Entregue</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c>
                  <a:txBody>
                    <a:bodyPr/>
                    <a:lstStyle/>
                    <a:p>
                      <a:pPr indent="0" marL="0">
                        <a:buNone/>
                      </a:pPr>
                      <a:r>
                        <a:rPr lang="en-US" sz="1000" dirty="0">
                          <a:solidFill>
                            <a:srgbClr val="1F2328"/>
                          </a:solidFill>
                          <a:latin typeface="Calibri" pitchFamily="34" charset="0"/>
                          <a:ea typeface="Calibri" pitchFamily="34" charset="-122"/>
                          <a:cs typeface="Calibri" pitchFamily="34" charset="-120"/>
                        </a:rPr>
                        <a:t>8/8</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c>
                  <a:txBody>
                    <a:bodyPr/>
                    <a:lstStyle/>
                    <a:p>
                      <a:pPr indent="0" marL="0">
                        <a:buNone/>
                      </a:pPr>
                      <a:r>
                        <a:rPr lang="en-US" sz="1000" dirty="0">
                          <a:solidFill>
                            <a:srgbClr val="1F2328"/>
                          </a:solidFill>
                          <a:latin typeface="Calibri" pitchFamily="34" charset="0"/>
                          <a:ea typeface="Calibri" pitchFamily="34" charset="-122"/>
                          <a:cs typeface="Calibri" pitchFamily="34" charset="-120"/>
                        </a:rPr>
                        <a:t>908</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r>
              <a:tr h="438912">
                <a:tc>
                  <a:txBody>
                    <a:bodyPr/>
                    <a:lstStyle/>
                    <a:p>
                      <a:pPr indent="0" marL="0">
                        <a:buNone/>
                      </a:pPr>
                      <a:r>
                        <a:rPr lang="en-US" sz="1000" b="1" dirty="0">
                          <a:solidFill>
                            <a:srgbClr val="1F2328"/>
                          </a:solidFill>
                          <a:latin typeface="Calibri" pitchFamily="34" charset="0"/>
                          <a:ea typeface="Calibri" pitchFamily="34" charset="-122"/>
                          <a:cs typeface="Calibri" pitchFamily="34" charset="-120"/>
                        </a:rPr>
                        <a:t>E5 Paralelismo e tolerância a falhas</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c>
                  <a:txBody>
                    <a:bodyPr/>
                    <a:lstStyle/>
                    <a:p>
                      <a:pPr indent="0" marL="0">
                        <a:buNone/>
                      </a:pPr>
                      <a:r>
                        <a:rPr lang="en-US" sz="1000" dirty="0">
                          <a:solidFill>
                            <a:srgbClr val="1F2328"/>
                          </a:solidFill>
                          <a:latin typeface="Calibri" pitchFamily="34" charset="0"/>
                          <a:ea typeface="Calibri" pitchFamily="34" charset="-122"/>
                          <a:cs typeface="Calibri" pitchFamily="34" charset="-120"/>
                        </a:rPr>
                        <a:t>Três tarefas em paralelo; encerrar uma no meio não afeta as outras, e ela volta à fila.</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c>
                  <a:txBody>
                    <a:bodyPr/>
                    <a:lstStyle/>
                    <a:p>
                      <a:pPr indent="0" marL="0">
                        <a:buNone/>
                      </a:pPr>
                      <a:r>
                        <a:rPr lang="en-US" sz="1000" b="1" dirty="0">
                          <a:solidFill>
                            <a:schemeClr val="accent2"/>
                          </a:solidFill>
                          <a:latin typeface="Calibri" pitchFamily="34" charset="0"/>
                          <a:ea typeface="Calibri" pitchFamily="34" charset="-122"/>
                          <a:cs typeface="Calibri" pitchFamily="34" charset="-120"/>
                        </a:rPr>
                        <a:t>Entregue</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c>
                  <a:txBody>
                    <a:bodyPr/>
                    <a:lstStyle/>
                    <a:p>
                      <a:pPr indent="0" marL="0">
                        <a:buNone/>
                      </a:pPr>
                      <a:r>
                        <a:rPr lang="en-US" sz="1000" dirty="0">
                          <a:solidFill>
                            <a:srgbClr val="1F2328"/>
                          </a:solidFill>
                          <a:latin typeface="Calibri" pitchFamily="34" charset="0"/>
                          <a:ea typeface="Calibri" pitchFamily="34" charset="-122"/>
                          <a:cs typeface="Calibri" pitchFamily="34" charset="-120"/>
                        </a:rPr>
                        <a:t>6/6</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c>
                  <a:txBody>
                    <a:bodyPr/>
                    <a:lstStyle/>
                    <a:p>
                      <a:pPr indent="0" marL="0">
                        <a:buNone/>
                      </a:pPr>
                      <a:r>
                        <a:rPr lang="en-US" sz="1000" dirty="0">
                          <a:solidFill>
                            <a:srgbClr val="1F2328"/>
                          </a:solidFill>
                          <a:latin typeface="Calibri" pitchFamily="34" charset="0"/>
                          <a:ea typeface="Calibri" pitchFamily="34" charset="-122"/>
                          <a:cs typeface="Calibri" pitchFamily="34" charset="-120"/>
                        </a:rPr>
                        <a:t>995</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r>
              <a:tr h="438912">
                <a:tc>
                  <a:txBody>
                    <a:bodyPr/>
                    <a:lstStyle/>
                    <a:p>
                      <a:pPr indent="0" marL="0">
                        <a:buNone/>
                      </a:pPr>
                      <a:r>
                        <a:rPr lang="en-US" sz="1000" b="1" dirty="0">
                          <a:solidFill>
                            <a:srgbClr val="1F2328"/>
                          </a:solidFill>
                          <a:latin typeface="Calibri" pitchFamily="34" charset="0"/>
                          <a:ea typeface="Calibri" pitchFamily="34" charset="-122"/>
                          <a:cs typeface="Calibri" pitchFamily="34" charset="-120"/>
                        </a:rPr>
                        <a:t>E6 Memória do projeto</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c>
                  <a:txBody>
                    <a:bodyPr/>
                    <a:lstStyle/>
                    <a:p>
                      <a:pPr indent="0" marL="0">
                        <a:buNone/>
                      </a:pPr>
                      <a:r>
                        <a:rPr lang="en-US" sz="1000" dirty="0">
                          <a:solidFill>
                            <a:srgbClr val="1F2328"/>
                          </a:solidFill>
                          <a:latin typeface="Calibri" pitchFamily="34" charset="0"/>
                          <a:ea typeface="Calibri" pitchFamily="34" charset="-122"/>
                          <a:cs typeface="Calibri" pitchFamily="34" charset="-120"/>
                        </a:rPr>
                        <a:t>O agente cita a decisão anterior, com a fonte certa, em vez de decidir de novo.</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c>
                  <a:txBody>
                    <a:bodyPr/>
                    <a:lstStyle/>
                    <a:p>
                      <a:pPr indent="0" marL="0">
                        <a:buNone/>
                      </a:pPr>
                      <a:r>
                        <a:rPr lang="en-US" sz="1000" b="1" dirty="0">
                          <a:solidFill>
                            <a:schemeClr val="accent3"/>
                          </a:solidFill>
                          <a:latin typeface="Calibri" pitchFamily="34" charset="0"/>
                          <a:ea typeface="Calibri" pitchFamily="34" charset="-122"/>
                          <a:cs typeface="Calibri" pitchFamily="34" charset="-120"/>
                        </a:rPr>
                        <a:t>Entrega bloqueada</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c>
                  <a:txBody>
                    <a:bodyPr/>
                    <a:lstStyle/>
                    <a:p>
                      <a:pPr indent="0" marL="0">
                        <a:buNone/>
                      </a:pPr>
                      <a:r>
                        <a:rPr lang="en-US" sz="1000" dirty="0">
                          <a:solidFill>
                            <a:srgbClr val="1F2328"/>
                          </a:solidFill>
                          <a:latin typeface="Calibri" pitchFamily="34" charset="0"/>
                          <a:ea typeface="Calibri" pitchFamily="34" charset="-122"/>
                          <a:cs typeface="Calibri" pitchFamily="34" charset="-120"/>
                        </a:rPr>
                        <a:t>5/6</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c>
                  <a:txBody>
                    <a:bodyPr/>
                    <a:lstStyle/>
                    <a:p>
                      <a:pPr indent="0" marL="0">
                        <a:buNone/>
                      </a:pPr>
                      <a:r>
                        <a:rPr lang="en-US" sz="1000" dirty="0">
                          <a:solidFill>
                            <a:srgbClr val="1F2328"/>
                          </a:solidFill>
                          <a:latin typeface="Calibri" pitchFamily="34" charset="0"/>
                          <a:ea typeface="Calibri" pitchFamily="34" charset="-122"/>
                          <a:cs typeface="Calibri" pitchFamily="34" charset="-120"/>
                        </a:rPr>
                        <a:t>1.080</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r>
              <a:tr h="438912">
                <a:tc>
                  <a:txBody>
                    <a:bodyPr/>
                    <a:lstStyle/>
                    <a:p>
                      <a:pPr indent="0" marL="0">
                        <a:buNone/>
                      </a:pPr>
                      <a:r>
                        <a:rPr lang="en-US" sz="1000" b="1" dirty="0">
                          <a:solidFill>
                            <a:srgbClr val="1F2328"/>
                          </a:solidFill>
                          <a:latin typeface="Calibri" pitchFamily="34" charset="0"/>
                          <a:ea typeface="Calibri" pitchFamily="34" charset="-122"/>
                          <a:cs typeface="Calibri" pitchFamily="34" charset="-120"/>
                        </a:rPr>
                        <a:t>E7 Painel e automação</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c>
                  <a:txBody>
                    <a:bodyPr/>
                    <a:lstStyle/>
                    <a:p>
                      <a:pPr indent="0" marL="0">
                        <a:buNone/>
                      </a:pPr>
                      <a:r>
                        <a:rPr lang="en-US" sz="1000" dirty="0">
                          <a:solidFill>
                            <a:srgbClr val="1F2328"/>
                          </a:solidFill>
                          <a:latin typeface="Calibri" pitchFamily="34" charset="0"/>
                          <a:ea typeface="Calibri" pitchFamily="34" charset="-122"/>
                          <a:cs typeface="Calibri" pitchFamily="34" charset="-120"/>
                        </a:rPr>
                        <a:t>Um projeto inteiro acompanhado na tela, do pedido à entrega, com o custo em tempo real.</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c>
                  <a:txBody>
                    <a:bodyPr/>
                    <a:lstStyle/>
                    <a:p>
                      <a:pPr indent="0" marL="0">
                        <a:buNone/>
                      </a:pPr>
                      <a:r>
                        <a:rPr lang="en-US" sz="1000" b="1" dirty="0">
                          <a:solidFill>
                            <a:schemeClr val="accent1"/>
                          </a:solidFill>
                          <a:latin typeface="Calibri" pitchFamily="34" charset="0"/>
                          <a:ea typeface="Calibri" pitchFamily="34" charset="-122"/>
                          <a:cs typeface="Calibri" pitchFamily="34" charset="-120"/>
                        </a:rPr>
                        <a:t>Em andamento</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c>
                  <a:txBody>
                    <a:bodyPr/>
                    <a:lstStyle/>
                    <a:p>
                      <a:pPr indent="0" marL="0">
                        <a:buNone/>
                      </a:pPr>
                      <a:r>
                        <a:rPr lang="en-US" sz="1000" dirty="0">
                          <a:solidFill>
                            <a:srgbClr val="1F2328"/>
                          </a:solidFill>
                          <a:latin typeface="Calibri" pitchFamily="34" charset="0"/>
                          <a:ea typeface="Calibri" pitchFamily="34" charset="-122"/>
                          <a:cs typeface="Calibri" pitchFamily="34" charset="-120"/>
                        </a:rPr>
                        <a:t>7/8</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c>
                  <a:txBody>
                    <a:bodyPr/>
                    <a:lstStyle/>
                    <a:p>
                      <a:pPr indent="0" marL="0">
                        <a:buNone/>
                      </a:pPr>
                      <a:r>
                        <a:rPr lang="en-US" sz="1000" dirty="0">
                          <a:solidFill>
                            <a:srgbClr val="1F2328"/>
                          </a:solidFill>
                          <a:latin typeface="Calibri" pitchFamily="34" charset="0"/>
                          <a:ea typeface="Calibri" pitchFamily="34" charset="-122"/>
                          <a:cs typeface="Calibri" pitchFamily="34" charset="-120"/>
                        </a:rPr>
                        <a:t>1.220</a:t>
                      </a:r>
                      <a:endParaRPr lang="en-US" sz="1000" dirty="0">
                        <a:latin typeface="Calibri" charset="0"/>
                        <a:ea typeface="Calibri" charset="0"/>
                        <a:cs typeface="Calibri" charset="0"/>
                      </a:endParaRPr>
                    </a:p>
                  </a:txBody>
                  <a:tcPr marL="91440" marR="91440" marT="45720" marB="45720" anchor="ctr">
                    <a:lnL w="6350" cap="flat" cmpd="sng" algn="ctr">
                      <a:solidFill>
                        <a:srgbClr val="F2F4F7"/>
                      </a:solidFill>
                      <a:prstDash val="solid"/>
                      <a:round/>
                      <a:headEnd type="none" w="med" len="med"/>
                      <a:tailEnd type="none" w="med" len="med"/>
                    </a:lnL>
                    <a:lnR w="6350" cap="flat" cmpd="sng" algn="ctr">
                      <a:solidFill>
                        <a:srgbClr val="F2F4F7"/>
                      </a:solidFill>
                      <a:prstDash val="solid"/>
                      <a:round/>
                      <a:headEnd type="none" w="med" len="med"/>
                      <a:tailEnd type="none" w="med" len="med"/>
                    </a:lnR>
                    <a:lnT w="6350" cap="flat" cmpd="sng" algn="ctr">
                      <a:solidFill>
                        <a:srgbClr val="F2F4F7"/>
                      </a:solidFill>
                      <a:prstDash val="solid"/>
                      <a:round/>
                      <a:headEnd type="none" w="med" len="med"/>
                      <a:tailEnd type="none" w="med" len="med"/>
                    </a:lnT>
                    <a:lnB w="6350" cap="flat" cmpd="sng" algn="ctr">
                      <a:solidFill>
                        <a:srgbClr val="F2F4F7"/>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96A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Onde cada etapa entra no sistema</a:t>
            </a:r>
            <a:endParaRPr lang="en-US" sz="2800" dirty="0"/>
          </a:p>
        </p:txBody>
      </p:sp>
      <p:sp>
        <p:nvSpPr>
          <p:cNvPr id="3" name="camada-0"/>
          <p:cNvSpPr/>
          <p:nvPr/>
        </p:nvSpPr>
        <p:spPr>
          <a:xfrm>
            <a:off x="457200" y="1024128"/>
            <a:ext cx="6949440" cy="512064"/>
          </a:xfrm>
          <a:prstGeom prst="roundRect">
            <a:avLst>
              <a:gd name="adj" fmla="val 14286"/>
            </a:avLst>
          </a:prstGeom>
          <a:solidFill>
            <a:schemeClr val="bg2"/>
          </a:solidFill>
          <a:ln w="12700">
            <a:solidFill>
              <a:schemeClr val="bg2"/>
            </a:solidFill>
            <a:prstDash val="solid"/>
          </a:ln>
        </p:spPr>
      </p:sp>
      <p:sp>
        <p:nvSpPr>
          <p:cNvPr id="4" name="Text 2"/>
          <p:cNvSpPr txBox="1"/>
          <p:nvPr/>
        </p:nvSpPr>
        <p:spPr>
          <a:xfrm>
            <a:off x="640080" y="1097280"/>
            <a:ext cx="1280160" cy="36576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Tela</a:t>
            </a:r>
            <a:endParaRPr lang="en-US" sz="1500" dirty="0"/>
          </a:p>
        </p:txBody>
      </p:sp>
      <p:sp>
        <p:nvSpPr>
          <p:cNvPr id="5" name="Text 3"/>
          <p:cNvSpPr txBox="1"/>
          <p:nvPr/>
        </p:nvSpPr>
        <p:spPr>
          <a:xfrm>
            <a:off x="1920240" y="1097280"/>
            <a:ext cx="5394960" cy="36576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quadro de tarefas, console ao vivo, piloto automático</a:t>
            </a:r>
            <a:endParaRPr lang="en-US" sz="1200" dirty="0"/>
          </a:p>
        </p:txBody>
      </p:sp>
      <p:sp>
        <p:nvSpPr>
          <p:cNvPr id="6" name="Shape 4"/>
          <p:cNvSpPr/>
          <p:nvPr/>
        </p:nvSpPr>
        <p:spPr>
          <a:xfrm>
            <a:off x="7589520" y="1024128"/>
            <a:ext cx="1097280" cy="512064"/>
          </a:xfrm>
          <a:prstGeom prst="roundRect">
            <a:avLst>
              <a:gd name="adj" fmla="val 14286"/>
            </a:avLst>
          </a:prstGeom>
          <a:solidFill>
            <a:schemeClr val="accent1"/>
          </a:solidFill>
          <a:ln w="12700">
            <a:solidFill>
              <a:schemeClr val="accent1"/>
            </a:solidFill>
            <a:prstDash val="solid"/>
          </a:ln>
        </p:spPr>
      </p:sp>
      <p:sp>
        <p:nvSpPr>
          <p:cNvPr id="7" name="Text 5"/>
          <p:cNvSpPr txBox="1"/>
          <p:nvPr/>
        </p:nvSpPr>
        <p:spPr>
          <a:xfrm>
            <a:off x="7589520" y="1024128"/>
            <a:ext cx="1097280" cy="512064"/>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E7</a:t>
            </a:r>
            <a:endParaRPr lang="en-US" sz="1800" dirty="0"/>
          </a:p>
        </p:txBody>
      </p:sp>
      <p:sp>
        <p:nvSpPr>
          <p:cNvPr id="8" name="camada-1"/>
          <p:cNvSpPr/>
          <p:nvPr/>
        </p:nvSpPr>
        <p:spPr>
          <a:xfrm>
            <a:off x="457200" y="1627632"/>
            <a:ext cx="6949440" cy="512064"/>
          </a:xfrm>
          <a:prstGeom prst="roundRect">
            <a:avLst>
              <a:gd name="adj" fmla="val 14286"/>
            </a:avLst>
          </a:prstGeom>
          <a:solidFill>
            <a:schemeClr val="bg2"/>
          </a:solidFill>
          <a:ln w="12700">
            <a:solidFill>
              <a:schemeClr val="bg2"/>
            </a:solidFill>
            <a:prstDash val="solid"/>
          </a:ln>
        </p:spPr>
      </p:sp>
      <p:sp>
        <p:nvSpPr>
          <p:cNvPr id="9" name="Text 7"/>
          <p:cNvSpPr txBox="1"/>
          <p:nvPr/>
        </p:nvSpPr>
        <p:spPr>
          <a:xfrm>
            <a:off x="640080" y="1700784"/>
            <a:ext cx="1280160" cy="36576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Motor</a:t>
            </a:r>
            <a:endParaRPr lang="en-US" sz="1500" dirty="0"/>
          </a:p>
        </p:txBody>
      </p:sp>
      <p:sp>
        <p:nvSpPr>
          <p:cNvPr id="10" name="Text 8"/>
          <p:cNvSpPr txBox="1"/>
          <p:nvPr/>
        </p:nvSpPr>
        <p:spPr>
          <a:xfrm>
            <a:off x="1920240" y="1700784"/>
            <a:ext cx="5394960" cy="36576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seis estados, fila por dependências, portões, escada de falha, teto de gasto</a:t>
            </a:r>
            <a:endParaRPr lang="en-US" sz="1200" dirty="0"/>
          </a:p>
        </p:txBody>
      </p:sp>
      <p:sp>
        <p:nvSpPr>
          <p:cNvPr id="11" name="Shape 9"/>
          <p:cNvSpPr/>
          <p:nvPr/>
        </p:nvSpPr>
        <p:spPr>
          <a:xfrm>
            <a:off x="7589520" y="1627632"/>
            <a:ext cx="1097280" cy="512064"/>
          </a:xfrm>
          <a:prstGeom prst="roundRect">
            <a:avLst>
              <a:gd name="adj" fmla="val 14286"/>
            </a:avLst>
          </a:prstGeom>
          <a:solidFill>
            <a:schemeClr val="accent2"/>
          </a:solidFill>
          <a:ln w="12700">
            <a:solidFill>
              <a:schemeClr val="accent2"/>
            </a:solidFill>
            <a:prstDash val="solid"/>
          </a:ln>
        </p:spPr>
      </p:sp>
      <p:sp>
        <p:nvSpPr>
          <p:cNvPr id="12" name="Text 10"/>
          <p:cNvSpPr txBox="1"/>
          <p:nvPr/>
        </p:nvSpPr>
        <p:spPr>
          <a:xfrm>
            <a:off x="7589520" y="1627632"/>
            <a:ext cx="1097280" cy="512064"/>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E4</a:t>
            </a:r>
            <a:endParaRPr lang="en-US" sz="1800" dirty="0"/>
          </a:p>
        </p:txBody>
      </p:sp>
      <p:sp>
        <p:nvSpPr>
          <p:cNvPr id="13" name="camada-2"/>
          <p:cNvSpPr/>
          <p:nvPr/>
        </p:nvSpPr>
        <p:spPr>
          <a:xfrm>
            <a:off x="457200" y="2231136"/>
            <a:ext cx="6949440" cy="512064"/>
          </a:xfrm>
          <a:prstGeom prst="roundRect">
            <a:avLst>
              <a:gd name="adj" fmla="val 14286"/>
            </a:avLst>
          </a:prstGeom>
          <a:solidFill>
            <a:schemeClr val="bg2"/>
          </a:solidFill>
          <a:ln w="12700">
            <a:solidFill>
              <a:schemeClr val="bg2"/>
            </a:solidFill>
            <a:prstDash val="solid"/>
          </a:ln>
        </p:spPr>
      </p:sp>
      <p:sp>
        <p:nvSpPr>
          <p:cNvPr id="14" name="Text 12"/>
          <p:cNvSpPr txBox="1"/>
          <p:nvPr/>
        </p:nvSpPr>
        <p:spPr>
          <a:xfrm>
            <a:off x="640080" y="2304288"/>
            <a:ext cx="1280160" cy="36576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Execução</a:t>
            </a:r>
            <a:endParaRPr lang="en-US" sz="1500" dirty="0"/>
          </a:p>
        </p:txBody>
      </p:sp>
      <p:sp>
        <p:nvSpPr>
          <p:cNvPr id="15" name="Text 13"/>
          <p:cNvSpPr txBox="1"/>
          <p:nvPr/>
        </p:nvSpPr>
        <p:spPr>
          <a:xfrm>
            <a:off x="1920240" y="2304288"/>
            <a:ext cx="5394960" cy="36576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um processo por tarefa, fila durável, paralelismo, parede de cota, recuperação</a:t>
            </a:r>
            <a:endParaRPr lang="en-US" sz="1200" dirty="0"/>
          </a:p>
        </p:txBody>
      </p:sp>
      <p:sp>
        <p:nvSpPr>
          <p:cNvPr id="16" name="Shape 14"/>
          <p:cNvSpPr/>
          <p:nvPr/>
        </p:nvSpPr>
        <p:spPr>
          <a:xfrm>
            <a:off x="7589520" y="2231136"/>
            <a:ext cx="1097280" cy="512064"/>
          </a:xfrm>
          <a:prstGeom prst="roundRect">
            <a:avLst>
              <a:gd name="adj" fmla="val 14286"/>
            </a:avLst>
          </a:prstGeom>
          <a:solidFill>
            <a:schemeClr val="accent2"/>
          </a:solidFill>
          <a:ln w="12700">
            <a:solidFill>
              <a:schemeClr val="accent2"/>
            </a:solidFill>
            <a:prstDash val="solid"/>
          </a:ln>
        </p:spPr>
      </p:sp>
      <p:sp>
        <p:nvSpPr>
          <p:cNvPr id="17" name="Text 15"/>
          <p:cNvSpPr txBox="1"/>
          <p:nvPr/>
        </p:nvSpPr>
        <p:spPr>
          <a:xfrm>
            <a:off x="7589520" y="2231136"/>
            <a:ext cx="1097280" cy="512064"/>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E5</a:t>
            </a:r>
            <a:endParaRPr lang="en-US" sz="1800" dirty="0"/>
          </a:p>
        </p:txBody>
      </p:sp>
      <p:sp>
        <p:nvSpPr>
          <p:cNvPr id="18" name="camada-3"/>
          <p:cNvSpPr/>
          <p:nvPr/>
        </p:nvSpPr>
        <p:spPr>
          <a:xfrm>
            <a:off x="457200" y="2834640"/>
            <a:ext cx="6949440" cy="512064"/>
          </a:xfrm>
          <a:prstGeom prst="roundRect">
            <a:avLst>
              <a:gd name="adj" fmla="val 14286"/>
            </a:avLst>
          </a:prstGeom>
          <a:solidFill>
            <a:schemeClr val="bg2"/>
          </a:solidFill>
          <a:ln w="12700">
            <a:solidFill>
              <a:schemeClr val="bg2"/>
            </a:solidFill>
            <a:prstDash val="solid"/>
          </a:ln>
        </p:spPr>
      </p:sp>
      <p:sp>
        <p:nvSpPr>
          <p:cNvPr id="19" name="Text 17"/>
          <p:cNvSpPr txBox="1"/>
          <p:nvPr/>
        </p:nvSpPr>
        <p:spPr>
          <a:xfrm>
            <a:off x="640080" y="2907792"/>
            <a:ext cx="1280160" cy="36576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Memória</a:t>
            </a:r>
            <a:endParaRPr lang="en-US" sz="1500" dirty="0"/>
          </a:p>
        </p:txBody>
      </p:sp>
      <p:sp>
        <p:nvSpPr>
          <p:cNvPr id="20" name="Text 18"/>
          <p:cNvSpPr txBox="1"/>
          <p:nvPr/>
        </p:nvSpPr>
        <p:spPr>
          <a:xfrm>
            <a:off x="1920240" y="2907792"/>
            <a:ext cx="5394960" cy="36576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histórico do projeto, busca híbrida, contexto com fonte</a:t>
            </a:r>
            <a:endParaRPr lang="en-US" sz="1200" dirty="0"/>
          </a:p>
        </p:txBody>
      </p:sp>
      <p:sp>
        <p:nvSpPr>
          <p:cNvPr id="21" name="Shape 19"/>
          <p:cNvSpPr/>
          <p:nvPr/>
        </p:nvSpPr>
        <p:spPr>
          <a:xfrm>
            <a:off x="7589520" y="2834640"/>
            <a:ext cx="1097280" cy="512064"/>
          </a:xfrm>
          <a:prstGeom prst="roundRect">
            <a:avLst>
              <a:gd name="adj" fmla="val 14286"/>
            </a:avLst>
          </a:prstGeom>
          <a:solidFill>
            <a:schemeClr val="accent3"/>
          </a:solidFill>
          <a:ln w="12700">
            <a:solidFill>
              <a:schemeClr val="accent3"/>
            </a:solidFill>
            <a:prstDash val="solid"/>
          </a:ln>
        </p:spPr>
      </p:sp>
      <p:sp>
        <p:nvSpPr>
          <p:cNvPr id="22" name="Text 20"/>
          <p:cNvSpPr txBox="1"/>
          <p:nvPr/>
        </p:nvSpPr>
        <p:spPr>
          <a:xfrm>
            <a:off x="7589520" y="2834640"/>
            <a:ext cx="1097280" cy="512064"/>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E6</a:t>
            </a:r>
            <a:endParaRPr lang="en-US" sz="1800" dirty="0"/>
          </a:p>
        </p:txBody>
      </p:sp>
      <p:sp>
        <p:nvSpPr>
          <p:cNvPr id="23" name="camada-4"/>
          <p:cNvSpPr/>
          <p:nvPr/>
        </p:nvSpPr>
        <p:spPr>
          <a:xfrm>
            <a:off x="457200" y="3438144"/>
            <a:ext cx="6949440" cy="512064"/>
          </a:xfrm>
          <a:prstGeom prst="roundRect">
            <a:avLst>
              <a:gd name="adj" fmla="val 14286"/>
            </a:avLst>
          </a:prstGeom>
          <a:solidFill>
            <a:schemeClr val="bg2"/>
          </a:solidFill>
          <a:ln w="12700">
            <a:solidFill>
              <a:schemeClr val="bg2"/>
            </a:solidFill>
            <a:prstDash val="solid"/>
          </a:ln>
        </p:spPr>
      </p:sp>
      <p:sp>
        <p:nvSpPr>
          <p:cNvPr id="24" name="Text 22"/>
          <p:cNvSpPr txBox="1"/>
          <p:nvPr/>
        </p:nvSpPr>
        <p:spPr>
          <a:xfrm>
            <a:off x="640080" y="3511296"/>
            <a:ext cx="1280160" cy="36576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Agentes</a:t>
            </a:r>
            <a:endParaRPr lang="en-US" sz="1500" dirty="0"/>
          </a:p>
        </p:txBody>
      </p:sp>
      <p:sp>
        <p:nvSpPr>
          <p:cNvPr id="25" name="Text 23"/>
          <p:cNvSpPr txBox="1"/>
          <p:nvPr/>
        </p:nvSpPr>
        <p:spPr>
          <a:xfrm>
            <a:off x="1920240" y="3511296"/>
            <a:ext cx="5394960" cy="36576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laço de ferramentas, confinamento, teto de chamadas, adaptadores do fornecedor</a:t>
            </a:r>
            <a:endParaRPr lang="en-US" sz="1200" dirty="0"/>
          </a:p>
        </p:txBody>
      </p:sp>
      <p:sp>
        <p:nvSpPr>
          <p:cNvPr id="26" name="Shape 24"/>
          <p:cNvSpPr/>
          <p:nvPr/>
        </p:nvSpPr>
        <p:spPr>
          <a:xfrm>
            <a:off x="7589520" y="3438144"/>
            <a:ext cx="1097280" cy="512064"/>
          </a:xfrm>
          <a:prstGeom prst="roundRect">
            <a:avLst>
              <a:gd name="adj" fmla="val 14286"/>
            </a:avLst>
          </a:prstGeom>
          <a:solidFill>
            <a:schemeClr val="accent2"/>
          </a:solidFill>
          <a:ln w="12700">
            <a:solidFill>
              <a:schemeClr val="accent2"/>
            </a:solidFill>
            <a:prstDash val="solid"/>
          </a:ln>
        </p:spPr>
      </p:sp>
      <p:sp>
        <p:nvSpPr>
          <p:cNvPr id="27" name="Text 25"/>
          <p:cNvSpPr txBox="1"/>
          <p:nvPr/>
        </p:nvSpPr>
        <p:spPr>
          <a:xfrm>
            <a:off x="7589520" y="3438144"/>
            <a:ext cx="1097280" cy="512064"/>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E3</a:t>
            </a:r>
            <a:endParaRPr lang="en-US" sz="1800" dirty="0"/>
          </a:p>
        </p:txBody>
      </p:sp>
      <p:sp>
        <p:nvSpPr>
          <p:cNvPr id="28" name="camada-5"/>
          <p:cNvSpPr/>
          <p:nvPr/>
        </p:nvSpPr>
        <p:spPr>
          <a:xfrm>
            <a:off x="457200" y="4041648"/>
            <a:ext cx="6949440" cy="512064"/>
          </a:xfrm>
          <a:prstGeom prst="roundRect">
            <a:avLst>
              <a:gd name="adj" fmla="val 14286"/>
            </a:avLst>
          </a:prstGeom>
          <a:solidFill>
            <a:schemeClr val="bg2"/>
          </a:solidFill>
          <a:ln w="12700">
            <a:solidFill>
              <a:schemeClr val="bg2"/>
            </a:solidFill>
            <a:prstDash val="solid"/>
          </a:ln>
        </p:spPr>
      </p:sp>
      <p:sp>
        <p:nvSpPr>
          <p:cNvPr id="29" name="Text 27"/>
          <p:cNvSpPr txBox="1"/>
          <p:nvPr/>
        </p:nvSpPr>
        <p:spPr>
          <a:xfrm>
            <a:off x="640080" y="4114800"/>
            <a:ext cx="1280160" cy="36576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Base</a:t>
            </a:r>
            <a:endParaRPr lang="en-US" sz="1500" dirty="0"/>
          </a:p>
        </p:txBody>
      </p:sp>
      <p:sp>
        <p:nvSpPr>
          <p:cNvPr id="30" name="Text 28"/>
          <p:cNvSpPr txBox="1"/>
          <p:nvPr/>
        </p:nvSpPr>
        <p:spPr>
          <a:xfrm>
            <a:off x="1920240" y="4114800"/>
            <a:ext cx="5394960" cy="36576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banco e custo, fronteiras com substitutos de teste, verificação, backup</a:t>
            </a:r>
            <a:endParaRPr lang="en-US" sz="1200" dirty="0"/>
          </a:p>
        </p:txBody>
      </p:sp>
      <p:sp>
        <p:nvSpPr>
          <p:cNvPr id="31" name="Shape 29"/>
          <p:cNvSpPr/>
          <p:nvPr/>
        </p:nvSpPr>
        <p:spPr>
          <a:xfrm>
            <a:off x="7589520" y="4041648"/>
            <a:ext cx="1097280" cy="512064"/>
          </a:xfrm>
          <a:prstGeom prst="roundRect">
            <a:avLst>
              <a:gd name="adj" fmla="val 14286"/>
            </a:avLst>
          </a:prstGeom>
          <a:solidFill>
            <a:schemeClr val="accent2"/>
          </a:solidFill>
          <a:ln w="12700">
            <a:solidFill>
              <a:schemeClr val="accent2"/>
            </a:solidFill>
            <a:prstDash val="solid"/>
          </a:ln>
        </p:spPr>
      </p:sp>
      <p:sp>
        <p:nvSpPr>
          <p:cNvPr id="32" name="Text 30"/>
          <p:cNvSpPr txBox="1"/>
          <p:nvPr/>
        </p:nvSpPr>
        <p:spPr>
          <a:xfrm>
            <a:off x="7589520" y="4041648"/>
            <a:ext cx="1097280" cy="512064"/>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E2</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96A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E1 — Planejamento e arquitetura</a:t>
            </a:r>
            <a:endParaRPr lang="en-US" sz="2800" dirty="0"/>
          </a:p>
        </p:txBody>
      </p:sp>
      <p:sp>
        <p:nvSpPr>
          <p:cNvPr id="3" name="Text 1"/>
          <p:cNvSpPr txBox="1"/>
          <p:nvPr/>
        </p:nvSpPr>
        <p:spPr>
          <a:xfrm>
            <a:off x="457200" y="914400"/>
            <a:ext cx="5486400" cy="274320"/>
          </a:xfrm>
          <a:prstGeom prst="rect">
            <a:avLst/>
          </a:prstGeom>
          <a:noFill/>
          <a:ln/>
        </p:spPr>
        <p:txBody>
          <a:bodyPr wrap="square" lIns="0" tIns="0" rIns="0" bIns="0" rtlCol="0" anchor="t"/>
          <a:lstStyle/>
          <a:p>
            <a:pPr indent="0" marL="0">
              <a:buNone/>
            </a:pPr>
            <a:r>
              <a:rPr lang="en-US" sz="1100" dirty="0">
                <a:solidFill>
                  <a:schemeClr val="accent5"/>
                </a:solidFill>
                <a:latin typeface="Calibri" pitchFamily="34" charset="0"/>
                <a:ea typeface="Calibri" pitchFamily="34" charset="-122"/>
                <a:cs typeface="Calibri" pitchFamily="34" charset="-120"/>
              </a:rPr>
              <a:t>04/09 – 18/09/2026  ·  branch etapa/e1-planejamento</a:t>
            </a:r>
            <a:endParaRPr lang="en-US" sz="1100" dirty="0"/>
          </a:p>
        </p:txBody>
      </p:sp>
      <p:sp>
        <p:nvSpPr>
          <p:cNvPr id="4" name="Shape 2"/>
          <p:cNvSpPr/>
          <p:nvPr/>
        </p:nvSpPr>
        <p:spPr>
          <a:xfrm>
            <a:off x="6675120" y="914400"/>
            <a:ext cx="2011680" cy="292608"/>
          </a:xfrm>
          <a:prstGeom prst="roundRect">
            <a:avLst>
              <a:gd name="adj" fmla="val 50000"/>
            </a:avLst>
          </a:prstGeom>
          <a:solidFill>
            <a:schemeClr val="accent1"/>
          </a:solidFill>
          <a:ln w="12700">
            <a:solidFill>
              <a:schemeClr val="accent1"/>
            </a:solidFill>
            <a:prstDash val="solid"/>
          </a:ln>
        </p:spPr>
      </p:sp>
      <p:sp>
        <p:nvSpPr>
          <p:cNvPr id="5" name="Text 3"/>
          <p:cNvSpPr txBox="1"/>
          <p:nvPr/>
        </p:nvSpPr>
        <p:spPr>
          <a:xfrm>
            <a:off x="6675120" y="914400"/>
            <a:ext cx="201168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Entregue com pendência</a:t>
            </a:r>
            <a:endParaRPr lang="en-US" sz="1100" dirty="0"/>
          </a:p>
        </p:txBody>
      </p:sp>
      <p:sp>
        <p:nvSpPr>
          <p:cNvPr id="6" name="proposta-1"/>
          <p:cNvSpPr/>
          <p:nvPr/>
        </p:nvSpPr>
        <p:spPr>
          <a:xfrm>
            <a:off x="457200" y="1325880"/>
            <a:ext cx="3840480" cy="2697480"/>
          </a:xfrm>
          <a:prstGeom prst="roundRect">
            <a:avLst>
              <a:gd name="adj" fmla="val 2712"/>
            </a:avLst>
          </a:prstGeom>
          <a:solidFill>
            <a:schemeClr val="tx2"/>
          </a:solidFill>
          <a:ln w="12700">
            <a:solidFill>
              <a:schemeClr val="tx2"/>
            </a:solidFill>
            <a:prstDash val="solid"/>
          </a:ln>
        </p:spPr>
      </p:sp>
      <p:sp>
        <p:nvSpPr>
          <p:cNvPr id="7" name="Text 5"/>
          <p:cNvSpPr txBox="1"/>
          <p:nvPr/>
        </p:nvSpPr>
        <p:spPr>
          <a:xfrm>
            <a:off x="685800" y="1481328"/>
            <a:ext cx="3383280" cy="274320"/>
          </a:xfrm>
          <a:prstGeom prst="rect">
            <a:avLst/>
          </a:prstGeom>
          <a:noFill/>
          <a:ln/>
        </p:spPr>
        <p:txBody>
          <a:bodyPr wrap="square" lIns="0" tIns="0" rIns="0" bIns="0" rtlCol="0" anchor="t"/>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PROPOSTA DO PLANO</a:t>
            </a:r>
            <a:endParaRPr lang="en-US" sz="1100" dirty="0"/>
          </a:p>
        </p:txBody>
      </p:sp>
      <p:sp>
        <p:nvSpPr>
          <p:cNvPr id="8" name="Text 6"/>
          <p:cNvSpPr txBox="1"/>
          <p:nvPr/>
        </p:nvSpPr>
        <p:spPr>
          <a:xfrm>
            <a:off x="685800" y="1810512"/>
            <a:ext cx="3429000" cy="137160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Requisitos, arquitetura, tarefas, critérios e projetos de teste aprovados.</a:t>
            </a:r>
            <a:endParaRPr lang="en-US" sz="1600" dirty="0"/>
          </a:p>
        </p:txBody>
      </p:sp>
      <p:sp>
        <p:nvSpPr>
          <p:cNvPr id="9" name="Text 7"/>
          <p:cNvSpPr txBox="1"/>
          <p:nvPr/>
        </p:nvSpPr>
        <p:spPr>
          <a:xfrm>
            <a:off x="4572000" y="1371600"/>
            <a:ext cx="4114800" cy="274320"/>
          </a:xfrm>
          <a:prstGeom prst="rect">
            <a:avLst/>
          </a:prstGeom>
          <a:noFill/>
          <a:ln/>
        </p:spPr>
        <p:txBody>
          <a:bodyPr wrap="square" lIns="0" tIns="0" rIns="0" bIns="0" rtlCol="0" anchor="t"/>
          <a:lstStyle/>
          <a:p>
            <a:pPr indent="0" marL="0">
              <a:buNone/>
            </a:pPr>
            <a:r>
              <a:rPr lang="en-US" sz="1100" b="1" spc="200" kern="0" dirty="0">
                <a:solidFill>
                  <a:schemeClr val="accent4"/>
                </a:solidFill>
                <a:latin typeface="Calibri" pitchFamily="34" charset="0"/>
                <a:ea typeface="Calibri" pitchFamily="34" charset="-122"/>
                <a:cs typeface="Calibri" pitchFamily="34" charset="-120"/>
              </a:rPr>
              <a:t>O QUE FOI ENTREGUE</a:t>
            </a:r>
            <a:endParaRPr lang="en-US" sz="1100" dirty="0"/>
          </a:p>
        </p:txBody>
      </p:sp>
      <p:sp>
        <p:nvSpPr>
          <p:cNvPr id="10" name="Shape 8"/>
          <p:cNvSpPr/>
          <p:nvPr/>
        </p:nvSpPr>
        <p:spPr>
          <a:xfrm>
            <a:off x="4572000" y="1783080"/>
            <a:ext cx="164592" cy="164592"/>
          </a:xfrm>
          <a:prstGeom prst="ellipse">
            <a:avLst/>
          </a:prstGeom>
          <a:solidFill>
            <a:schemeClr val="accent2"/>
          </a:solidFill>
          <a:ln w="12700">
            <a:solidFill>
              <a:schemeClr val="accent2"/>
            </a:solidFill>
            <a:prstDash val="solid"/>
          </a:ln>
        </p:spPr>
      </p:sp>
      <p:sp>
        <p:nvSpPr>
          <p:cNvPr id="11" name="Text 9"/>
          <p:cNvSpPr txBox="1"/>
          <p:nvPr/>
        </p:nvSpPr>
        <p:spPr>
          <a:xfrm>
            <a:off x="4846320" y="1719072"/>
            <a:ext cx="3840480" cy="329184"/>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Levantar os requisitos R1–R15</a:t>
            </a:r>
            <a:endParaRPr lang="en-US" sz="1150" dirty="0"/>
          </a:p>
        </p:txBody>
      </p:sp>
      <p:sp>
        <p:nvSpPr>
          <p:cNvPr id="12" name="Shape 10"/>
          <p:cNvSpPr/>
          <p:nvPr/>
        </p:nvSpPr>
        <p:spPr>
          <a:xfrm>
            <a:off x="4572000" y="2112264"/>
            <a:ext cx="164592" cy="164592"/>
          </a:xfrm>
          <a:prstGeom prst="ellipse">
            <a:avLst/>
          </a:prstGeom>
          <a:solidFill>
            <a:schemeClr val="accent2"/>
          </a:solidFill>
          <a:ln w="12700">
            <a:solidFill>
              <a:schemeClr val="accent2"/>
            </a:solidFill>
            <a:prstDash val="solid"/>
          </a:ln>
        </p:spPr>
      </p:sp>
      <p:sp>
        <p:nvSpPr>
          <p:cNvPr id="13" name="Text 11"/>
          <p:cNvSpPr txBox="1"/>
          <p:nvPr/>
        </p:nvSpPr>
        <p:spPr>
          <a:xfrm>
            <a:off x="4846320" y="2048256"/>
            <a:ext cx="3840480" cy="329184"/>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Estudar o estado da arte</a:t>
            </a:r>
            <a:endParaRPr lang="en-US" sz="1150" dirty="0"/>
          </a:p>
        </p:txBody>
      </p:sp>
      <p:sp>
        <p:nvSpPr>
          <p:cNvPr id="14" name="Shape 12"/>
          <p:cNvSpPr/>
          <p:nvPr/>
        </p:nvSpPr>
        <p:spPr>
          <a:xfrm>
            <a:off x="4572000" y="2441448"/>
            <a:ext cx="164592" cy="164592"/>
          </a:xfrm>
          <a:prstGeom prst="ellipse">
            <a:avLst/>
          </a:prstGeom>
          <a:solidFill>
            <a:schemeClr val="accent2"/>
          </a:solidFill>
          <a:ln w="12700">
            <a:solidFill>
              <a:schemeClr val="accent2"/>
            </a:solidFill>
            <a:prstDash val="solid"/>
          </a:ln>
        </p:spPr>
      </p:sp>
      <p:sp>
        <p:nvSpPr>
          <p:cNvPr id="15" name="Text 13"/>
          <p:cNvSpPr txBox="1"/>
          <p:nvPr/>
        </p:nvSpPr>
        <p:spPr>
          <a:xfrm>
            <a:off x="4846320" y="2377440"/>
            <a:ext cx="3840480" cy="329184"/>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Desenhar a arquitetura</a:t>
            </a:r>
            <a:endParaRPr lang="en-US" sz="1150" dirty="0"/>
          </a:p>
        </p:txBody>
      </p:sp>
      <p:sp>
        <p:nvSpPr>
          <p:cNvPr id="16" name="Shape 14"/>
          <p:cNvSpPr/>
          <p:nvPr/>
        </p:nvSpPr>
        <p:spPr>
          <a:xfrm>
            <a:off x="4572000" y="2770632"/>
            <a:ext cx="164592" cy="164592"/>
          </a:xfrm>
          <a:prstGeom prst="ellipse">
            <a:avLst/>
          </a:prstGeom>
          <a:solidFill>
            <a:schemeClr val="accent2"/>
          </a:solidFill>
          <a:ln w="12700">
            <a:solidFill>
              <a:schemeClr val="accent2"/>
            </a:solidFill>
            <a:prstDash val="solid"/>
          </a:ln>
        </p:spPr>
      </p:sp>
      <p:sp>
        <p:nvSpPr>
          <p:cNvPr id="17" name="Text 15"/>
          <p:cNvSpPr txBox="1"/>
          <p:nvPr/>
        </p:nvSpPr>
        <p:spPr>
          <a:xfrm>
            <a:off x="4846320" y="2706624"/>
            <a:ext cx="3840480" cy="329184"/>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Dividir o trabalho e definir os critérios de desempenho</a:t>
            </a:r>
            <a:endParaRPr lang="en-US" sz="1150" dirty="0"/>
          </a:p>
        </p:txBody>
      </p:sp>
      <p:sp>
        <p:nvSpPr>
          <p:cNvPr id="18" name="Shape 16"/>
          <p:cNvSpPr/>
          <p:nvPr/>
        </p:nvSpPr>
        <p:spPr>
          <a:xfrm>
            <a:off x="4572000" y="3099816"/>
            <a:ext cx="164592" cy="164592"/>
          </a:xfrm>
          <a:prstGeom prst="ellipse">
            <a:avLst/>
          </a:prstGeom>
          <a:solidFill>
            <a:schemeClr val="accent1"/>
          </a:solidFill>
          <a:ln w="12700">
            <a:solidFill>
              <a:schemeClr val="accent1"/>
            </a:solidFill>
            <a:prstDash val="solid"/>
          </a:ln>
        </p:spPr>
      </p:sp>
      <p:sp>
        <p:nvSpPr>
          <p:cNvPr id="19" name="Text 17"/>
          <p:cNvSpPr txBox="1"/>
          <p:nvPr/>
        </p:nvSpPr>
        <p:spPr>
          <a:xfrm>
            <a:off x="4846320" y="3035808"/>
            <a:ext cx="3840480" cy="329184"/>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Definir os cinco projetos de teste</a:t>
            </a:r>
            <a:endParaRPr lang="en-US" sz="1150" dirty="0"/>
          </a:p>
        </p:txBody>
      </p:sp>
      <p:sp>
        <p:nvSpPr>
          <p:cNvPr id="20" name="Text 18"/>
          <p:cNvSpPr txBox="1"/>
          <p:nvPr/>
        </p:nvSpPr>
        <p:spPr>
          <a:xfrm>
            <a:off x="457200" y="4160520"/>
            <a:ext cx="1280160" cy="3200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4/5 </a:t>
            </a:r>
            <a:pPr indent="0" marL="0">
              <a:buNone/>
            </a:pPr>
            <a:r>
              <a:rPr lang="en-US" sz="1100" dirty="0">
                <a:solidFill>
                  <a:schemeClr val="accent5"/>
                </a:solidFill>
                <a:latin typeface="Calibri" pitchFamily="34" charset="0"/>
                <a:ea typeface="Calibri" pitchFamily="34" charset="-122"/>
                <a:cs typeface="Calibri" pitchFamily="34" charset="-120"/>
              </a:rPr>
              <a:t>documentos</a:t>
            </a:r>
            <a:endParaRPr lang="en-US" sz="1400" dirty="0"/>
          </a:p>
        </p:txBody>
      </p:sp>
      <p:sp>
        <p:nvSpPr>
          <p:cNvPr id="21" name="Text 19"/>
          <p:cNvSpPr txBox="1"/>
          <p:nvPr/>
        </p:nvSpPr>
        <p:spPr>
          <a:xfrm>
            <a:off x="1783080" y="4160520"/>
            <a:ext cx="1280160" cy="3200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15 </a:t>
            </a:r>
            <a:pPr indent="0" marL="0">
              <a:buNone/>
            </a:pPr>
            <a:r>
              <a:rPr lang="en-US" sz="1100" dirty="0">
                <a:solidFill>
                  <a:schemeClr val="accent5"/>
                </a:solidFill>
                <a:latin typeface="Calibri" pitchFamily="34" charset="0"/>
                <a:ea typeface="Calibri" pitchFamily="34" charset="-122"/>
                <a:cs typeface="Calibri" pitchFamily="34" charset="-120"/>
              </a:rPr>
              <a:t>requisitos</a:t>
            </a:r>
            <a:endParaRPr lang="en-US" sz="1400" dirty="0"/>
          </a:p>
        </p:txBody>
      </p:sp>
      <p:sp>
        <p:nvSpPr>
          <p:cNvPr id="22" name="Text 20"/>
          <p:cNvSpPr txBox="1"/>
          <p:nvPr/>
        </p:nvSpPr>
        <p:spPr>
          <a:xfrm>
            <a:off x="3108960" y="4160520"/>
            <a:ext cx="1280160" cy="3200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8 </a:t>
            </a:r>
            <a:pPr indent="0" marL="0">
              <a:buNone/>
            </a:pPr>
            <a:r>
              <a:rPr lang="en-US" sz="1100" dirty="0">
                <a:solidFill>
                  <a:schemeClr val="accent5"/>
                </a:solidFill>
                <a:latin typeface="Calibri" pitchFamily="34" charset="0"/>
                <a:ea typeface="Calibri" pitchFamily="34" charset="-122"/>
                <a:cs typeface="Calibri" pitchFamily="34" charset="-120"/>
              </a:rPr>
              <a:t>critérios</a:t>
            </a:r>
            <a:endParaRPr lang="en-US" sz="1400" dirty="0"/>
          </a:p>
        </p:txBody>
      </p:sp>
      <p:sp>
        <p:nvSpPr>
          <p:cNvPr id="23" name="Text 21"/>
          <p:cNvSpPr txBox="1"/>
          <p:nvPr/>
        </p:nvSpPr>
        <p:spPr>
          <a:xfrm>
            <a:off x="4480560" y="4114800"/>
            <a:ext cx="4206240" cy="457200"/>
          </a:xfrm>
          <a:prstGeom prst="rect">
            <a:avLst/>
          </a:prstGeom>
          <a:noFill/>
          <a:ln/>
        </p:spPr>
        <p:txBody>
          <a:bodyPr wrap="square" lIns="0" tIns="0" rIns="0" bIns="0" rtlCol="0" anchor="ctr"/>
          <a:lstStyle/>
          <a:p>
            <a:pPr indent="0" marL="0">
              <a:buNone/>
            </a:pPr>
            <a:r>
              <a:rPr lang="en-US" sz="950" b="1" dirty="0">
                <a:solidFill>
                  <a:schemeClr val="tx1"/>
                </a:solidFill>
                <a:latin typeface="Calibri" pitchFamily="34" charset="0"/>
                <a:ea typeface="Calibri" pitchFamily="34" charset="-122"/>
                <a:cs typeface="Calibri" pitchFamily="34" charset="-120"/>
              </a:rPr>
              <a:t>Prova: </a:t>
            </a:r>
            <a:pPr indent="0" marL="0">
              <a:buNone/>
            </a:pPr>
            <a:r>
              <a:rPr lang="en-US" sz="950" dirty="0">
                <a:solidFill>
                  <a:schemeClr val="tx1"/>
                </a:solidFill>
                <a:latin typeface="Calibri" pitchFamily="34" charset="0"/>
                <a:ea typeface="Calibri" pitchFamily="34" charset="-122"/>
                <a:cs typeface="Calibri" pitchFamily="34" charset="-120"/>
              </a:rPr>
              <a:t>Documentos em docs/planejamento/ e o quadro de tarefas em docs/tasks/.</a:t>
            </a:r>
            <a:endParaRPr lang="en-US" sz="9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96A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E2 — Fundação do sistema</a:t>
            </a:r>
            <a:endParaRPr lang="en-US" sz="2800" dirty="0"/>
          </a:p>
        </p:txBody>
      </p:sp>
      <p:sp>
        <p:nvSpPr>
          <p:cNvPr id="3" name="Text 1"/>
          <p:cNvSpPr txBox="1"/>
          <p:nvPr/>
        </p:nvSpPr>
        <p:spPr>
          <a:xfrm>
            <a:off x="457200" y="914400"/>
            <a:ext cx="5486400" cy="274320"/>
          </a:xfrm>
          <a:prstGeom prst="rect">
            <a:avLst/>
          </a:prstGeom>
          <a:noFill/>
          <a:ln/>
        </p:spPr>
        <p:txBody>
          <a:bodyPr wrap="square" lIns="0" tIns="0" rIns="0" bIns="0" rtlCol="0" anchor="t"/>
          <a:lstStyle/>
          <a:p>
            <a:pPr indent="0" marL="0">
              <a:buNone/>
            </a:pPr>
            <a:r>
              <a:rPr lang="en-US" sz="1100" dirty="0">
                <a:solidFill>
                  <a:schemeClr val="accent5"/>
                </a:solidFill>
                <a:latin typeface="Calibri" pitchFamily="34" charset="0"/>
                <a:ea typeface="Calibri" pitchFamily="34" charset="-122"/>
                <a:cs typeface="Calibri" pitchFamily="34" charset="-120"/>
              </a:rPr>
              <a:t>19/09 – 03/10/2026  ·  branch etapa/e2-fundacao</a:t>
            </a:r>
            <a:endParaRPr lang="en-US" sz="1100" dirty="0"/>
          </a:p>
        </p:txBody>
      </p:sp>
      <p:sp>
        <p:nvSpPr>
          <p:cNvPr id="4" name="Shape 2"/>
          <p:cNvSpPr/>
          <p:nvPr/>
        </p:nvSpPr>
        <p:spPr>
          <a:xfrm>
            <a:off x="6675120" y="914400"/>
            <a:ext cx="2011680" cy="292608"/>
          </a:xfrm>
          <a:prstGeom prst="roundRect">
            <a:avLst>
              <a:gd name="adj" fmla="val 50000"/>
            </a:avLst>
          </a:prstGeom>
          <a:solidFill>
            <a:schemeClr val="accent2"/>
          </a:solidFill>
          <a:ln w="12700">
            <a:solidFill>
              <a:schemeClr val="accent2"/>
            </a:solidFill>
            <a:prstDash val="solid"/>
          </a:ln>
        </p:spPr>
      </p:sp>
      <p:sp>
        <p:nvSpPr>
          <p:cNvPr id="5" name="Text 3"/>
          <p:cNvSpPr txBox="1"/>
          <p:nvPr/>
        </p:nvSpPr>
        <p:spPr>
          <a:xfrm>
            <a:off x="6675120" y="914400"/>
            <a:ext cx="201168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Entregue</a:t>
            </a:r>
            <a:endParaRPr lang="en-US" sz="1100" dirty="0"/>
          </a:p>
        </p:txBody>
      </p:sp>
      <p:sp>
        <p:nvSpPr>
          <p:cNvPr id="6" name="proposta-2"/>
          <p:cNvSpPr/>
          <p:nvPr/>
        </p:nvSpPr>
        <p:spPr>
          <a:xfrm>
            <a:off x="457200" y="1325880"/>
            <a:ext cx="3840480" cy="2697480"/>
          </a:xfrm>
          <a:prstGeom prst="roundRect">
            <a:avLst>
              <a:gd name="adj" fmla="val 2712"/>
            </a:avLst>
          </a:prstGeom>
          <a:solidFill>
            <a:schemeClr val="tx2"/>
          </a:solidFill>
          <a:ln w="12700">
            <a:solidFill>
              <a:schemeClr val="tx2"/>
            </a:solidFill>
            <a:prstDash val="solid"/>
          </a:ln>
        </p:spPr>
      </p:sp>
      <p:sp>
        <p:nvSpPr>
          <p:cNvPr id="7" name="Text 5"/>
          <p:cNvSpPr txBox="1"/>
          <p:nvPr/>
        </p:nvSpPr>
        <p:spPr>
          <a:xfrm>
            <a:off x="685800" y="1481328"/>
            <a:ext cx="3383280" cy="274320"/>
          </a:xfrm>
          <a:prstGeom prst="rect">
            <a:avLst/>
          </a:prstGeom>
          <a:noFill/>
          <a:ln/>
        </p:spPr>
        <p:txBody>
          <a:bodyPr wrap="square" lIns="0" tIns="0" rIns="0" bIns="0" rtlCol="0" anchor="t"/>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PROPOSTA DO PLANO</a:t>
            </a:r>
            <a:endParaRPr lang="en-US" sz="1100" dirty="0"/>
          </a:p>
        </p:txBody>
      </p:sp>
      <p:sp>
        <p:nvSpPr>
          <p:cNvPr id="8" name="Text 6"/>
          <p:cNvSpPr txBox="1"/>
          <p:nvPr/>
        </p:nvSpPr>
        <p:spPr>
          <a:xfrm>
            <a:off x="685800" y="1810512"/>
            <a:ext cx="3429000" cy="137160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Os testes rodam sem internet e sem consumir o serviço do modelo.</a:t>
            </a:r>
            <a:endParaRPr lang="en-US" sz="1600" dirty="0"/>
          </a:p>
        </p:txBody>
      </p:sp>
      <p:sp>
        <p:nvSpPr>
          <p:cNvPr id="9" name="Text 7"/>
          <p:cNvSpPr txBox="1"/>
          <p:nvPr/>
        </p:nvSpPr>
        <p:spPr>
          <a:xfrm>
            <a:off x="685800" y="3520440"/>
            <a:ext cx="3383280" cy="274320"/>
          </a:xfrm>
          <a:prstGeom prst="rect">
            <a:avLst/>
          </a:prstGeom>
          <a:noFill/>
          <a:ln/>
        </p:spPr>
        <p:txBody>
          <a:bodyPr wrap="square" lIns="0" tIns="0" rIns="0" bIns="0" rtlCol="0" anchor="t"/>
          <a:lstStyle/>
          <a:p>
            <a:pPr indent="0" marL="0">
              <a:buNone/>
            </a:pPr>
            <a:r>
              <a:rPr lang="en-US" sz="1100" dirty="0">
                <a:solidFill>
                  <a:schemeClr val="bg2"/>
                </a:solidFill>
                <a:latin typeface="Calibri" pitchFamily="34" charset="0"/>
                <a:ea typeface="Calibri" pitchFamily="34" charset="-122"/>
                <a:cs typeface="Calibri" pitchFamily="34" charset="-120"/>
              </a:rPr>
              <a:t>Requisitos: R10 · R12 · R15</a:t>
            </a:r>
            <a:endParaRPr lang="en-US" sz="1100" dirty="0"/>
          </a:p>
        </p:txBody>
      </p:sp>
      <p:sp>
        <p:nvSpPr>
          <p:cNvPr id="10" name="Text 8"/>
          <p:cNvSpPr txBox="1"/>
          <p:nvPr/>
        </p:nvSpPr>
        <p:spPr>
          <a:xfrm>
            <a:off x="4572000" y="1371600"/>
            <a:ext cx="4114800" cy="274320"/>
          </a:xfrm>
          <a:prstGeom prst="rect">
            <a:avLst/>
          </a:prstGeom>
          <a:noFill/>
          <a:ln/>
        </p:spPr>
        <p:txBody>
          <a:bodyPr wrap="square" lIns="0" tIns="0" rIns="0" bIns="0" rtlCol="0" anchor="t"/>
          <a:lstStyle/>
          <a:p>
            <a:pPr indent="0" marL="0">
              <a:buNone/>
            </a:pPr>
            <a:r>
              <a:rPr lang="en-US" sz="1100" b="1" spc="200" kern="0" dirty="0">
                <a:solidFill>
                  <a:schemeClr val="accent4"/>
                </a:solidFill>
                <a:latin typeface="Calibri" pitchFamily="34" charset="0"/>
                <a:ea typeface="Calibri" pitchFamily="34" charset="-122"/>
                <a:cs typeface="Calibri" pitchFamily="34" charset="-120"/>
              </a:rPr>
              <a:t>O QUE FOI ENTREGUE</a:t>
            </a:r>
            <a:endParaRPr lang="en-US" sz="1100" dirty="0"/>
          </a:p>
        </p:txBody>
      </p:sp>
      <p:sp>
        <p:nvSpPr>
          <p:cNvPr id="11" name="Shape 9"/>
          <p:cNvSpPr/>
          <p:nvPr/>
        </p:nvSpPr>
        <p:spPr>
          <a:xfrm>
            <a:off x="4572000" y="1783080"/>
            <a:ext cx="164592" cy="164592"/>
          </a:xfrm>
          <a:prstGeom prst="ellipse">
            <a:avLst/>
          </a:prstGeom>
          <a:solidFill>
            <a:schemeClr val="accent2"/>
          </a:solidFill>
          <a:ln w="12700">
            <a:solidFill>
              <a:schemeClr val="accent2"/>
            </a:solidFill>
            <a:prstDash val="solid"/>
          </a:ln>
        </p:spPr>
      </p:sp>
      <p:sp>
        <p:nvSpPr>
          <p:cNvPr id="12" name="Text 10"/>
          <p:cNvSpPr txBox="1"/>
          <p:nvPr/>
        </p:nvSpPr>
        <p:spPr>
          <a:xfrm>
            <a:off x="4846320" y="1719072"/>
            <a:ext cx="3840480" cy="329184"/>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Montar o ambiente e a verificação em um comando</a:t>
            </a:r>
            <a:endParaRPr lang="en-US" sz="1150" dirty="0"/>
          </a:p>
        </p:txBody>
      </p:sp>
      <p:sp>
        <p:nvSpPr>
          <p:cNvPr id="13" name="Shape 11"/>
          <p:cNvSpPr/>
          <p:nvPr/>
        </p:nvSpPr>
        <p:spPr>
          <a:xfrm>
            <a:off x="4572000" y="2112264"/>
            <a:ext cx="164592" cy="164592"/>
          </a:xfrm>
          <a:prstGeom prst="ellipse">
            <a:avLst/>
          </a:prstGeom>
          <a:solidFill>
            <a:schemeClr val="accent2"/>
          </a:solidFill>
          <a:ln w="12700">
            <a:solidFill>
              <a:schemeClr val="accent2"/>
            </a:solidFill>
            <a:prstDash val="solid"/>
          </a:ln>
        </p:spPr>
      </p:sp>
      <p:sp>
        <p:nvSpPr>
          <p:cNvPr id="14" name="Text 12"/>
          <p:cNvSpPr txBox="1"/>
          <p:nvPr/>
        </p:nvSpPr>
        <p:spPr>
          <a:xfrm>
            <a:off x="4846320" y="2048256"/>
            <a:ext cx="3840480" cy="329184"/>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Criar o banco de dados e a contagem de custo</a:t>
            </a:r>
            <a:endParaRPr lang="en-US" sz="1150" dirty="0"/>
          </a:p>
        </p:txBody>
      </p:sp>
      <p:sp>
        <p:nvSpPr>
          <p:cNvPr id="15" name="Shape 13"/>
          <p:cNvSpPr/>
          <p:nvPr/>
        </p:nvSpPr>
        <p:spPr>
          <a:xfrm>
            <a:off x="4572000" y="2441448"/>
            <a:ext cx="164592" cy="164592"/>
          </a:xfrm>
          <a:prstGeom prst="ellipse">
            <a:avLst/>
          </a:prstGeom>
          <a:solidFill>
            <a:schemeClr val="accent2"/>
          </a:solidFill>
          <a:ln w="12700">
            <a:solidFill>
              <a:schemeClr val="accent2"/>
            </a:solidFill>
            <a:prstDash val="solid"/>
          </a:ln>
        </p:spPr>
      </p:sp>
      <p:sp>
        <p:nvSpPr>
          <p:cNvPr id="16" name="Text 14"/>
          <p:cNvSpPr txBox="1"/>
          <p:nvPr/>
        </p:nvSpPr>
        <p:spPr>
          <a:xfrm>
            <a:off x="4846320" y="2377440"/>
            <a:ext cx="3840480" cy="329184"/>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Criar as fronteiras do modelo e da busca, com substitutos de teste</a:t>
            </a:r>
            <a:endParaRPr lang="en-US" sz="1150" dirty="0"/>
          </a:p>
        </p:txBody>
      </p:sp>
      <p:sp>
        <p:nvSpPr>
          <p:cNvPr id="17" name="Shape 15"/>
          <p:cNvSpPr/>
          <p:nvPr/>
        </p:nvSpPr>
        <p:spPr>
          <a:xfrm>
            <a:off x="4572000" y="2770632"/>
            <a:ext cx="164592" cy="164592"/>
          </a:xfrm>
          <a:prstGeom prst="ellipse">
            <a:avLst/>
          </a:prstGeom>
          <a:solidFill>
            <a:schemeClr val="accent2"/>
          </a:solidFill>
          <a:ln w="12700">
            <a:solidFill>
              <a:schemeClr val="accent2"/>
            </a:solidFill>
            <a:prstDash val="solid"/>
          </a:ln>
        </p:spPr>
      </p:sp>
      <p:sp>
        <p:nvSpPr>
          <p:cNvPr id="18" name="Text 16"/>
          <p:cNvSpPr txBox="1"/>
          <p:nvPr/>
        </p:nvSpPr>
        <p:spPr>
          <a:xfrm>
            <a:off x="4846320" y="2706624"/>
            <a:ext cx="3840480" cy="329184"/>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Cópia de segurança do banco</a:t>
            </a:r>
            <a:endParaRPr lang="en-US" sz="1150" dirty="0"/>
          </a:p>
        </p:txBody>
      </p:sp>
      <p:sp>
        <p:nvSpPr>
          <p:cNvPr id="19" name="Shape 17"/>
          <p:cNvSpPr/>
          <p:nvPr/>
        </p:nvSpPr>
        <p:spPr>
          <a:xfrm>
            <a:off x="4572000" y="3099816"/>
            <a:ext cx="164592" cy="164592"/>
          </a:xfrm>
          <a:prstGeom prst="ellipse">
            <a:avLst/>
          </a:prstGeom>
          <a:solidFill>
            <a:schemeClr val="accent2"/>
          </a:solidFill>
          <a:ln w="12700">
            <a:solidFill>
              <a:schemeClr val="accent2"/>
            </a:solidFill>
            <a:prstDash val="solid"/>
          </a:ln>
        </p:spPr>
      </p:sp>
      <p:sp>
        <p:nvSpPr>
          <p:cNvPr id="20" name="Text 18"/>
          <p:cNvSpPr txBox="1"/>
          <p:nvPr/>
        </p:nvSpPr>
        <p:spPr>
          <a:xfrm>
            <a:off x="4846320" y="3035808"/>
            <a:ext cx="3840480" cy="329184"/>
          </a:xfrm>
          <a:prstGeom prst="rect">
            <a:avLst/>
          </a:prstGeom>
          <a:noFill/>
          <a:ln/>
        </p:spPr>
        <p:txBody>
          <a:bodyPr wrap="square" lIns="0" tIns="0" rIns="0" bIns="0" rtlCol="0" anchor="ctr"/>
          <a:lstStyle/>
          <a:p>
            <a:pPr indent="0" marL="0">
              <a:buNone/>
            </a:pPr>
            <a:r>
              <a:rPr lang="en-US" sz="1150" b="1" dirty="0">
                <a:solidFill>
                  <a:schemeClr val="tx1"/>
                </a:solidFill>
                <a:latin typeface="Calibri" pitchFamily="34" charset="0"/>
                <a:ea typeface="Calibri" pitchFamily="34" charset="-122"/>
                <a:cs typeface="Calibri" pitchFamily="34" charset="-120"/>
              </a:rPr>
              <a:t>Marco: a suíte roda sem internet e sem cota</a:t>
            </a:r>
            <a:endParaRPr lang="en-US" sz="1150" dirty="0"/>
          </a:p>
        </p:txBody>
      </p:sp>
      <p:sp>
        <p:nvSpPr>
          <p:cNvPr id="21" name="Text 19"/>
          <p:cNvSpPr txBox="1"/>
          <p:nvPr/>
        </p:nvSpPr>
        <p:spPr>
          <a:xfrm>
            <a:off x="457200" y="4160520"/>
            <a:ext cx="1280160" cy="3200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5/5 </a:t>
            </a:r>
            <a:pPr indent="0" marL="0">
              <a:buNone/>
            </a:pPr>
            <a:r>
              <a:rPr lang="en-US" sz="1100" dirty="0">
                <a:solidFill>
                  <a:schemeClr val="accent5"/>
                </a:solidFill>
                <a:latin typeface="Calibri" pitchFamily="34" charset="0"/>
                <a:ea typeface="Calibri" pitchFamily="34" charset="-122"/>
                <a:cs typeface="Calibri" pitchFamily="34" charset="-120"/>
              </a:rPr>
              <a:t>tarefas</a:t>
            </a:r>
            <a:endParaRPr lang="en-US" sz="1400" dirty="0"/>
          </a:p>
        </p:txBody>
      </p:sp>
      <p:sp>
        <p:nvSpPr>
          <p:cNvPr id="22" name="Text 20"/>
          <p:cNvSpPr txBox="1"/>
          <p:nvPr/>
        </p:nvSpPr>
        <p:spPr>
          <a:xfrm>
            <a:off x="1783080" y="4160520"/>
            <a:ext cx="1280160" cy="3200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152 </a:t>
            </a:r>
            <a:pPr indent="0" marL="0">
              <a:buNone/>
            </a:pPr>
            <a:r>
              <a:rPr lang="en-US" sz="1100" dirty="0">
                <a:solidFill>
                  <a:schemeClr val="accent5"/>
                </a:solidFill>
                <a:latin typeface="Calibri" pitchFamily="34" charset="0"/>
                <a:ea typeface="Calibri" pitchFamily="34" charset="-122"/>
                <a:cs typeface="Calibri" pitchFamily="34" charset="-120"/>
              </a:rPr>
              <a:t>testes</a:t>
            </a:r>
            <a:endParaRPr lang="en-US" sz="1400" dirty="0"/>
          </a:p>
        </p:txBody>
      </p:sp>
      <p:sp>
        <p:nvSpPr>
          <p:cNvPr id="23" name="Text 21"/>
          <p:cNvSpPr txBox="1"/>
          <p:nvPr/>
        </p:nvSpPr>
        <p:spPr>
          <a:xfrm>
            <a:off x="3108960" y="4160520"/>
            <a:ext cx="1280160" cy="3200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10 </a:t>
            </a:r>
            <a:pPr indent="0" marL="0">
              <a:buNone/>
            </a:pPr>
            <a:r>
              <a:rPr lang="en-US" sz="1100" dirty="0">
                <a:solidFill>
                  <a:schemeClr val="accent5"/>
                </a:solidFill>
                <a:latin typeface="Calibri" pitchFamily="34" charset="0"/>
                <a:ea typeface="Calibri" pitchFamily="34" charset="-122"/>
                <a:cs typeface="Calibri" pitchFamily="34" charset="-120"/>
              </a:rPr>
              <a:t>commits</a:t>
            </a:r>
            <a:endParaRPr lang="en-US" sz="1400" dirty="0"/>
          </a:p>
        </p:txBody>
      </p:sp>
      <p:sp>
        <p:nvSpPr>
          <p:cNvPr id="24" name="Text 22"/>
          <p:cNvSpPr txBox="1"/>
          <p:nvPr/>
        </p:nvSpPr>
        <p:spPr>
          <a:xfrm>
            <a:off x="4480560" y="4114800"/>
            <a:ext cx="4206240" cy="457200"/>
          </a:xfrm>
          <a:prstGeom prst="rect">
            <a:avLst/>
          </a:prstGeom>
          <a:noFill/>
          <a:ln/>
        </p:spPr>
        <p:txBody>
          <a:bodyPr wrap="square" lIns="0" tIns="0" rIns="0" bIns="0" rtlCol="0" anchor="ctr"/>
          <a:lstStyle/>
          <a:p>
            <a:pPr indent="0" marL="0">
              <a:buNone/>
            </a:pPr>
            <a:r>
              <a:rPr lang="en-US" sz="950" b="1" dirty="0">
                <a:solidFill>
                  <a:schemeClr val="tx1"/>
                </a:solidFill>
                <a:latin typeface="Calibri" pitchFamily="34" charset="0"/>
                <a:ea typeface="Calibri" pitchFamily="34" charset="-122"/>
                <a:cs typeface="Calibri" pitchFamily="34" charset="-120"/>
              </a:rPr>
              <a:t>Prova: </a:t>
            </a:r>
            <a:pPr indent="0" marL="0">
              <a:buNone/>
            </a:pPr>
            <a:r>
              <a:rPr lang="en-US" sz="950" dirty="0">
                <a:solidFill>
                  <a:schemeClr val="tx1"/>
                </a:solidFill>
                <a:latin typeface="Calibri" pitchFamily="34" charset="0"/>
                <a:ea typeface="Calibri" pitchFamily="34" charset="-122"/>
                <a:cs typeface="Calibri" pitchFamily="34" charset="-120"/>
              </a:rPr>
              <a:t>mix test test/factory/milestone_e2_test.exs — falha se houver tráfego de rede, cliente HTTP ou chave de acesso no ambiente.</a:t>
            </a:r>
            <a:endParaRPr lang="en-US" sz="9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96A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E3 — O agente e as ferramentas</a:t>
            </a:r>
            <a:endParaRPr lang="en-US" sz="2800" dirty="0"/>
          </a:p>
        </p:txBody>
      </p:sp>
      <p:sp>
        <p:nvSpPr>
          <p:cNvPr id="3" name="Text 1"/>
          <p:cNvSpPr txBox="1"/>
          <p:nvPr/>
        </p:nvSpPr>
        <p:spPr>
          <a:xfrm>
            <a:off x="457200" y="914400"/>
            <a:ext cx="5486400" cy="274320"/>
          </a:xfrm>
          <a:prstGeom prst="rect">
            <a:avLst/>
          </a:prstGeom>
          <a:noFill/>
          <a:ln/>
        </p:spPr>
        <p:txBody>
          <a:bodyPr wrap="square" lIns="0" tIns="0" rIns="0" bIns="0" rtlCol="0" anchor="t"/>
          <a:lstStyle/>
          <a:p>
            <a:pPr indent="0" marL="0">
              <a:buNone/>
            </a:pPr>
            <a:r>
              <a:rPr lang="en-US" sz="1100" dirty="0">
                <a:solidFill>
                  <a:schemeClr val="accent5"/>
                </a:solidFill>
                <a:latin typeface="Calibri" pitchFamily="34" charset="0"/>
                <a:ea typeface="Calibri" pitchFamily="34" charset="-122"/>
                <a:cs typeface="Calibri" pitchFamily="34" charset="-120"/>
              </a:rPr>
              <a:t>04/10 – 18/10/2026  ·  branch etapa/e3-agente</a:t>
            </a:r>
            <a:endParaRPr lang="en-US" sz="1100" dirty="0"/>
          </a:p>
        </p:txBody>
      </p:sp>
      <p:sp>
        <p:nvSpPr>
          <p:cNvPr id="4" name="Shape 2"/>
          <p:cNvSpPr/>
          <p:nvPr/>
        </p:nvSpPr>
        <p:spPr>
          <a:xfrm>
            <a:off x="6675120" y="914400"/>
            <a:ext cx="2011680" cy="292608"/>
          </a:xfrm>
          <a:prstGeom prst="roundRect">
            <a:avLst>
              <a:gd name="adj" fmla="val 50000"/>
            </a:avLst>
          </a:prstGeom>
          <a:solidFill>
            <a:schemeClr val="accent2"/>
          </a:solidFill>
          <a:ln w="12700">
            <a:solidFill>
              <a:schemeClr val="accent2"/>
            </a:solidFill>
            <a:prstDash val="solid"/>
          </a:ln>
        </p:spPr>
      </p:sp>
      <p:sp>
        <p:nvSpPr>
          <p:cNvPr id="5" name="Text 3"/>
          <p:cNvSpPr txBox="1"/>
          <p:nvPr/>
        </p:nvSpPr>
        <p:spPr>
          <a:xfrm>
            <a:off x="6675120" y="914400"/>
            <a:ext cx="201168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Entregue</a:t>
            </a:r>
            <a:endParaRPr lang="en-US" sz="1100" dirty="0"/>
          </a:p>
        </p:txBody>
      </p:sp>
      <p:sp>
        <p:nvSpPr>
          <p:cNvPr id="6" name="proposta-3"/>
          <p:cNvSpPr/>
          <p:nvPr/>
        </p:nvSpPr>
        <p:spPr>
          <a:xfrm>
            <a:off x="457200" y="1325880"/>
            <a:ext cx="3840480" cy="2697480"/>
          </a:xfrm>
          <a:prstGeom prst="roundRect">
            <a:avLst>
              <a:gd name="adj" fmla="val 2712"/>
            </a:avLst>
          </a:prstGeom>
          <a:solidFill>
            <a:schemeClr val="tx2"/>
          </a:solidFill>
          <a:ln w="12700">
            <a:solidFill>
              <a:schemeClr val="tx2"/>
            </a:solidFill>
            <a:prstDash val="solid"/>
          </a:ln>
        </p:spPr>
      </p:sp>
      <p:sp>
        <p:nvSpPr>
          <p:cNvPr id="7" name="Text 5"/>
          <p:cNvSpPr txBox="1"/>
          <p:nvPr/>
        </p:nvSpPr>
        <p:spPr>
          <a:xfrm>
            <a:off x="685800" y="1481328"/>
            <a:ext cx="3383280" cy="274320"/>
          </a:xfrm>
          <a:prstGeom prst="rect">
            <a:avLst/>
          </a:prstGeom>
          <a:noFill/>
          <a:ln/>
        </p:spPr>
        <p:txBody>
          <a:bodyPr wrap="square" lIns="0" tIns="0" rIns="0" bIns="0" rtlCol="0" anchor="t"/>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PROPOSTA DO PLANO</a:t>
            </a:r>
            <a:endParaRPr lang="en-US" sz="1100" dirty="0"/>
          </a:p>
        </p:txBody>
      </p:sp>
      <p:sp>
        <p:nvSpPr>
          <p:cNvPr id="8" name="Text 6"/>
          <p:cNvSpPr txBox="1"/>
          <p:nvPr/>
        </p:nvSpPr>
        <p:spPr>
          <a:xfrm>
            <a:off x="685800" y="1810512"/>
            <a:ext cx="3429000" cy="137160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Um agente resolve uma tarefa real com o custo gravado, e trocar de fornecedor não mexe no núcleo.</a:t>
            </a:r>
            <a:endParaRPr lang="en-US" sz="1600" dirty="0"/>
          </a:p>
        </p:txBody>
      </p:sp>
      <p:sp>
        <p:nvSpPr>
          <p:cNvPr id="9" name="Text 7"/>
          <p:cNvSpPr txBox="1"/>
          <p:nvPr/>
        </p:nvSpPr>
        <p:spPr>
          <a:xfrm>
            <a:off x="685800" y="3520440"/>
            <a:ext cx="3383280" cy="274320"/>
          </a:xfrm>
          <a:prstGeom prst="rect">
            <a:avLst/>
          </a:prstGeom>
          <a:noFill/>
          <a:ln/>
        </p:spPr>
        <p:txBody>
          <a:bodyPr wrap="square" lIns="0" tIns="0" rIns="0" bIns="0" rtlCol="0" anchor="t"/>
          <a:lstStyle/>
          <a:p>
            <a:pPr indent="0" marL="0">
              <a:buNone/>
            </a:pPr>
            <a:r>
              <a:rPr lang="en-US" sz="1100" dirty="0">
                <a:solidFill>
                  <a:schemeClr val="bg2"/>
                </a:solidFill>
                <a:latin typeface="Calibri" pitchFamily="34" charset="0"/>
                <a:ea typeface="Calibri" pitchFamily="34" charset="-122"/>
                <a:cs typeface="Calibri" pitchFamily="34" charset="-120"/>
              </a:rPr>
              <a:t>Requisitos: R11 · R15</a:t>
            </a:r>
            <a:endParaRPr lang="en-US" sz="1100" dirty="0"/>
          </a:p>
        </p:txBody>
      </p:sp>
      <p:sp>
        <p:nvSpPr>
          <p:cNvPr id="10" name="Text 8"/>
          <p:cNvSpPr txBox="1"/>
          <p:nvPr/>
        </p:nvSpPr>
        <p:spPr>
          <a:xfrm>
            <a:off x="4572000" y="1371600"/>
            <a:ext cx="4114800" cy="274320"/>
          </a:xfrm>
          <a:prstGeom prst="rect">
            <a:avLst/>
          </a:prstGeom>
          <a:noFill/>
          <a:ln/>
        </p:spPr>
        <p:txBody>
          <a:bodyPr wrap="square" lIns="0" tIns="0" rIns="0" bIns="0" rtlCol="0" anchor="t"/>
          <a:lstStyle/>
          <a:p>
            <a:pPr indent="0" marL="0">
              <a:buNone/>
            </a:pPr>
            <a:r>
              <a:rPr lang="en-US" sz="1100" b="1" spc="200" kern="0" dirty="0">
                <a:solidFill>
                  <a:schemeClr val="accent4"/>
                </a:solidFill>
                <a:latin typeface="Calibri" pitchFamily="34" charset="0"/>
                <a:ea typeface="Calibri" pitchFamily="34" charset="-122"/>
                <a:cs typeface="Calibri" pitchFamily="34" charset="-120"/>
              </a:rPr>
              <a:t>O QUE FOI ENTREGUE</a:t>
            </a:r>
            <a:endParaRPr lang="en-US" sz="1100" dirty="0"/>
          </a:p>
        </p:txBody>
      </p:sp>
      <p:sp>
        <p:nvSpPr>
          <p:cNvPr id="11" name="Shape 9"/>
          <p:cNvSpPr/>
          <p:nvPr/>
        </p:nvSpPr>
        <p:spPr>
          <a:xfrm>
            <a:off x="4572000" y="1783080"/>
            <a:ext cx="164592" cy="164592"/>
          </a:xfrm>
          <a:prstGeom prst="ellipse">
            <a:avLst/>
          </a:prstGeom>
          <a:solidFill>
            <a:schemeClr val="accent2"/>
          </a:solidFill>
          <a:ln w="12700">
            <a:solidFill>
              <a:schemeClr val="accent2"/>
            </a:solidFill>
            <a:prstDash val="solid"/>
          </a:ln>
        </p:spPr>
      </p:sp>
      <p:sp>
        <p:nvSpPr>
          <p:cNvPr id="12" name="Text 10"/>
          <p:cNvSpPr txBox="1"/>
          <p:nvPr/>
        </p:nvSpPr>
        <p:spPr>
          <a:xfrm>
            <a:off x="4846320" y="1719072"/>
            <a:ext cx="3840480" cy="329184"/>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Ferramentas de arquivo e de comando</a:t>
            </a:r>
            <a:endParaRPr lang="en-US" sz="1150" dirty="0"/>
          </a:p>
        </p:txBody>
      </p:sp>
      <p:sp>
        <p:nvSpPr>
          <p:cNvPr id="13" name="Shape 11"/>
          <p:cNvSpPr/>
          <p:nvPr/>
        </p:nvSpPr>
        <p:spPr>
          <a:xfrm>
            <a:off x="4572000" y="2112264"/>
            <a:ext cx="164592" cy="164592"/>
          </a:xfrm>
          <a:prstGeom prst="ellipse">
            <a:avLst/>
          </a:prstGeom>
          <a:solidFill>
            <a:schemeClr val="accent2"/>
          </a:solidFill>
          <a:ln w="12700">
            <a:solidFill>
              <a:schemeClr val="accent2"/>
            </a:solidFill>
            <a:prstDash val="solid"/>
          </a:ln>
        </p:spPr>
      </p:sp>
      <p:sp>
        <p:nvSpPr>
          <p:cNvPr id="14" name="Text 12"/>
          <p:cNvSpPr txBox="1"/>
          <p:nvPr/>
        </p:nvSpPr>
        <p:spPr>
          <a:xfrm>
            <a:off x="4846320" y="2048256"/>
            <a:ext cx="3840480" cy="329184"/>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Confinamento: nenhum agente escreve fora do projeto</a:t>
            </a:r>
            <a:endParaRPr lang="en-US" sz="1150" dirty="0"/>
          </a:p>
        </p:txBody>
      </p:sp>
      <p:sp>
        <p:nvSpPr>
          <p:cNvPr id="15" name="Shape 13"/>
          <p:cNvSpPr/>
          <p:nvPr/>
        </p:nvSpPr>
        <p:spPr>
          <a:xfrm>
            <a:off x="4572000" y="2441448"/>
            <a:ext cx="164592" cy="164592"/>
          </a:xfrm>
          <a:prstGeom prst="ellipse">
            <a:avLst/>
          </a:prstGeom>
          <a:solidFill>
            <a:schemeClr val="accent2"/>
          </a:solidFill>
          <a:ln w="12700">
            <a:solidFill>
              <a:schemeClr val="accent2"/>
            </a:solidFill>
            <a:prstDash val="solid"/>
          </a:ln>
        </p:spPr>
      </p:sp>
      <p:sp>
        <p:nvSpPr>
          <p:cNvPr id="16" name="Text 14"/>
          <p:cNvSpPr txBox="1"/>
          <p:nvPr/>
        </p:nvSpPr>
        <p:spPr>
          <a:xfrm>
            <a:off x="4846320" y="2377440"/>
            <a:ext cx="3840480" cy="329184"/>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Resumo do projeto para orientar o agente</a:t>
            </a:r>
            <a:endParaRPr lang="en-US" sz="1150" dirty="0"/>
          </a:p>
        </p:txBody>
      </p:sp>
      <p:sp>
        <p:nvSpPr>
          <p:cNvPr id="17" name="Shape 15"/>
          <p:cNvSpPr/>
          <p:nvPr/>
        </p:nvSpPr>
        <p:spPr>
          <a:xfrm>
            <a:off x="4572000" y="2770632"/>
            <a:ext cx="164592" cy="164592"/>
          </a:xfrm>
          <a:prstGeom prst="ellipse">
            <a:avLst/>
          </a:prstGeom>
          <a:solidFill>
            <a:schemeClr val="accent2"/>
          </a:solidFill>
          <a:ln w="12700">
            <a:solidFill>
              <a:schemeClr val="accent2"/>
            </a:solidFill>
            <a:prstDash val="solid"/>
          </a:ln>
        </p:spPr>
      </p:sp>
      <p:sp>
        <p:nvSpPr>
          <p:cNvPr id="18" name="Text 16"/>
          <p:cNvSpPr txBox="1"/>
          <p:nvPr/>
        </p:nvSpPr>
        <p:spPr>
          <a:xfrm>
            <a:off x="4846320" y="2706624"/>
            <a:ext cx="3840480" cy="329184"/>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O agente como processo supervisionado, com limite de chamadas</a:t>
            </a:r>
            <a:endParaRPr lang="en-US" sz="1150" dirty="0"/>
          </a:p>
        </p:txBody>
      </p:sp>
      <p:sp>
        <p:nvSpPr>
          <p:cNvPr id="19" name="Shape 17"/>
          <p:cNvSpPr/>
          <p:nvPr/>
        </p:nvSpPr>
        <p:spPr>
          <a:xfrm>
            <a:off x="4572000" y="3099816"/>
            <a:ext cx="164592" cy="164592"/>
          </a:xfrm>
          <a:prstGeom prst="ellipse">
            <a:avLst/>
          </a:prstGeom>
          <a:solidFill>
            <a:schemeClr val="accent2"/>
          </a:solidFill>
          <a:ln w="12700">
            <a:solidFill>
              <a:schemeClr val="accent2"/>
            </a:solidFill>
            <a:prstDash val="solid"/>
          </a:ln>
        </p:spPr>
      </p:sp>
      <p:sp>
        <p:nvSpPr>
          <p:cNvPr id="20" name="Text 18"/>
          <p:cNvSpPr txBox="1"/>
          <p:nvPr/>
        </p:nvSpPr>
        <p:spPr>
          <a:xfrm>
            <a:off x="4846320" y="3035808"/>
            <a:ext cx="3840480" cy="329184"/>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Adaptadores do fornecedor, com o controle medido antes</a:t>
            </a:r>
            <a:endParaRPr lang="en-US" sz="1150" dirty="0"/>
          </a:p>
        </p:txBody>
      </p:sp>
      <p:sp>
        <p:nvSpPr>
          <p:cNvPr id="21" name="Shape 19"/>
          <p:cNvSpPr/>
          <p:nvPr/>
        </p:nvSpPr>
        <p:spPr>
          <a:xfrm>
            <a:off x="4572000" y="3429000"/>
            <a:ext cx="164592" cy="164592"/>
          </a:xfrm>
          <a:prstGeom prst="ellipse">
            <a:avLst/>
          </a:prstGeom>
          <a:solidFill>
            <a:schemeClr val="accent2"/>
          </a:solidFill>
          <a:ln w="12700">
            <a:solidFill>
              <a:schemeClr val="accent2"/>
            </a:solidFill>
            <a:prstDash val="solid"/>
          </a:ln>
        </p:spPr>
      </p:sp>
      <p:sp>
        <p:nvSpPr>
          <p:cNvPr id="22" name="Text 20"/>
          <p:cNvSpPr txBox="1"/>
          <p:nvPr/>
        </p:nvSpPr>
        <p:spPr>
          <a:xfrm>
            <a:off x="4846320" y="3364992"/>
            <a:ext cx="3840480" cy="329184"/>
          </a:xfrm>
          <a:prstGeom prst="rect">
            <a:avLst/>
          </a:prstGeom>
          <a:noFill/>
          <a:ln/>
        </p:spPr>
        <p:txBody>
          <a:bodyPr wrap="square" lIns="0" tIns="0" rIns="0" bIns="0" rtlCol="0" anchor="ctr"/>
          <a:lstStyle/>
          <a:p>
            <a:pPr indent="0" marL="0">
              <a:buNone/>
            </a:pPr>
            <a:r>
              <a:rPr lang="en-US" sz="1150" b="1" dirty="0">
                <a:solidFill>
                  <a:schemeClr val="tx1"/>
                </a:solidFill>
                <a:latin typeface="Calibri" pitchFamily="34" charset="0"/>
                <a:ea typeface="Calibri" pitchFamily="34" charset="-122"/>
                <a:cs typeface="Calibri" pitchFamily="34" charset="-120"/>
              </a:rPr>
              <a:t>Marco: um agente real resolve uma tarefa real, com o custo gravado</a:t>
            </a:r>
            <a:endParaRPr lang="en-US" sz="1150" dirty="0"/>
          </a:p>
        </p:txBody>
      </p:sp>
      <p:sp>
        <p:nvSpPr>
          <p:cNvPr id="23" name="Text 21"/>
          <p:cNvSpPr txBox="1"/>
          <p:nvPr/>
        </p:nvSpPr>
        <p:spPr>
          <a:xfrm>
            <a:off x="457200" y="4160520"/>
            <a:ext cx="1280160" cy="3200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6/6 </a:t>
            </a:r>
            <a:pPr indent="0" marL="0">
              <a:buNone/>
            </a:pPr>
            <a:r>
              <a:rPr lang="en-US" sz="1100" dirty="0">
                <a:solidFill>
                  <a:schemeClr val="accent5"/>
                </a:solidFill>
                <a:latin typeface="Calibri" pitchFamily="34" charset="0"/>
                <a:ea typeface="Calibri" pitchFamily="34" charset="-122"/>
                <a:cs typeface="Calibri" pitchFamily="34" charset="-120"/>
              </a:rPr>
              <a:t>tarefas</a:t>
            </a:r>
            <a:endParaRPr lang="en-US" sz="1400" dirty="0"/>
          </a:p>
        </p:txBody>
      </p:sp>
      <p:sp>
        <p:nvSpPr>
          <p:cNvPr id="24" name="Text 22"/>
          <p:cNvSpPr txBox="1"/>
          <p:nvPr/>
        </p:nvSpPr>
        <p:spPr>
          <a:xfrm>
            <a:off x="1783080" y="4160520"/>
            <a:ext cx="1280160" cy="3200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558 </a:t>
            </a:r>
            <a:pPr indent="0" marL="0">
              <a:buNone/>
            </a:pPr>
            <a:r>
              <a:rPr lang="en-US" sz="1100" dirty="0">
                <a:solidFill>
                  <a:schemeClr val="accent5"/>
                </a:solidFill>
                <a:latin typeface="Calibri" pitchFamily="34" charset="0"/>
                <a:ea typeface="Calibri" pitchFamily="34" charset="-122"/>
                <a:cs typeface="Calibri" pitchFamily="34" charset="-120"/>
              </a:rPr>
              <a:t>testes</a:t>
            </a:r>
            <a:endParaRPr lang="en-US" sz="1400" dirty="0"/>
          </a:p>
        </p:txBody>
      </p:sp>
      <p:sp>
        <p:nvSpPr>
          <p:cNvPr id="25" name="Text 23"/>
          <p:cNvSpPr txBox="1"/>
          <p:nvPr/>
        </p:nvSpPr>
        <p:spPr>
          <a:xfrm>
            <a:off x="3108960" y="4160520"/>
            <a:ext cx="1280160" cy="3200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13 </a:t>
            </a:r>
            <a:pPr indent="0" marL="0">
              <a:buNone/>
            </a:pPr>
            <a:r>
              <a:rPr lang="en-US" sz="1100" dirty="0">
                <a:solidFill>
                  <a:schemeClr val="accent5"/>
                </a:solidFill>
                <a:latin typeface="Calibri" pitchFamily="34" charset="0"/>
                <a:ea typeface="Calibri" pitchFamily="34" charset="-122"/>
                <a:cs typeface="Calibri" pitchFamily="34" charset="-120"/>
              </a:rPr>
              <a:t>commits</a:t>
            </a:r>
            <a:endParaRPr lang="en-US" sz="1400" dirty="0"/>
          </a:p>
        </p:txBody>
      </p:sp>
      <p:sp>
        <p:nvSpPr>
          <p:cNvPr id="26" name="Text 24"/>
          <p:cNvSpPr txBox="1"/>
          <p:nvPr/>
        </p:nvSpPr>
        <p:spPr>
          <a:xfrm>
            <a:off x="4480560" y="4114800"/>
            <a:ext cx="4206240" cy="457200"/>
          </a:xfrm>
          <a:prstGeom prst="rect">
            <a:avLst/>
          </a:prstGeom>
          <a:noFill/>
          <a:ln/>
        </p:spPr>
        <p:txBody>
          <a:bodyPr wrap="square" lIns="0" tIns="0" rIns="0" bIns="0" rtlCol="0" anchor="ctr"/>
          <a:lstStyle/>
          <a:p>
            <a:pPr indent="0" marL="0">
              <a:buNone/>
            </a:pPr>
            <a:r>
              <a:rPr lang="en-US" sz="950" b="1" dirty="0">
                <a:solidFill>
                  <a:schemeClr val="tx1"/>
                </a:solidFill>
                <a:latin typeface="Calibri" pitchFamily="34" charset="0"/>
                <a:ea typeface="Calibri" pitchFamily="34" charset="-122"/>
                <a:cs typeface="Calibri" pitchFamily="34" charset="-120"/>
              </a:rPr>
              <a:t>Prova: </a:t>
            </a:r>
            <a:pPr indent="0" marL="0">
              <a:buNone/>
            </a:pPr>
            <a:r>
              <a:rPr lang="en-US" sz="950" dirty="0">
                <a:solidFill>
                  <a:schemeClr val="tx1"/>
                </a:solidFill>
                <a:latin typeface="Calibri" pitchFamily="34" charset="0"/>
                <a:ea typeface="Calibri" pitchFamily="34" charset="-122"/>
                <a:cs typeface="Calibri" pitchFamily="34" charset="-120"/>
              </a:rPr>
              <a:t>mix run priv/probes/milestone_e3_agent.exs — contra o modelo real: arquivo escrito, uma linha de consumo por volta, soma igual no banco.</a:t>
            </a:r>
            <a:endParaRPr lang="en-US" sz="9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96A3"/>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E4 — Linha de produção de tarefas</a:t>
            </a:r>
            <a:endParaRPr lang="en-US" sz="2800" dirty="0"/>
          </a:p>
        </p:txBody>
      </p:sp>
      <p:sp>
        <p:nvSpPr>
          <p:cNvPr id="3" name="Text 1"/>
          <p:cNvSpPr txBox="1"/>
          <p:nvPr/>
        </p:nvSpPr>
        <p:spPr>
          <a:xfrm>
            <a:off x="457200" y="914400"/>
            <a:ext cx="5486400" cy="274320"/>
          </a:xfrm>
          <a:prstGeom prst="rect">
            <a:avLst/>
          </a:prstGeom>
          <a:noFill/>
          <a:ln/>
        </p:spPr>
        <p:txBody>
          <a:bodyPr wrap="square" lIns="0" tIns="0" rIns="0" bIns="0" rtlCol="0" anchor="t"/>
          <a:lstStyle/>
          <a:p>
            <a:pPr indent="0" marL="0">
              <a:buNone/>
            </a:pPr>
            <a:r>
              <a:rPr lang="en-US" sz="1100" dirty="0">
                <a:solidFill>
                  <a:schemeClr val="accent5"/>
                </a:solidFill>
                <a:latin typeface="Calibri" pitchFamily="34" charset="0"/>
                <a:ea typeface="Calibri" pitchFamily="34" charset="-122"/>
                <a:cs typeface="Calibri" pitchFamily="34" charset="-120"/>
              </a:rPr>
              <a:t>19/10 – 02/11/2026  ·  branch etapa/e4-linha-de-producao</a:t>
            </a:r>
            <a:endParaRPr lang="en-US" sz="1100" dirty="0"/>
          </a:p>
        </p:txBody>
      </p:sp>
      <p:sp>
        <p:nvSpPr>
          <p:cNvPr id="4" name="Shape 2"/>
          <p:cNvSpPr/>
          <p:nvPr/>
        </p:nvSpPr>
        <p:spPr>
          <a:xfrm>
            <a:off x="6675120" y="914400"/>
            <a:ext cx="2011680" cy="292608"/>
          </a:xfrm>
          <a:prstGeom prst="roundRect">
            <a:avLst>
              <a:gd name="adj" fmla="val 50000"/>
            </a:avLst>
          </a:prstGeom>
          <a:solidFill>
            <a:schemeClr val="accent2"/>
          </a:solidFill>
          <a:ln w="12700">
            <a:solidFill>
              <a:schemeClr val="accent2"/>
            </a:solidFill>
            <a:prstDash val="solid"/>
          </a:ln>
        </p:spPr>
      </p:sp>
      <p:sp>
        <p:nvSpPr>
          <p:cNvPr id="5" name="Text 3"/>
          <p:cNvSpPr txBox="1"/>
          <p:nvPr/>
        </p:nvSpPr>
        <p:spPr>
          <a:xfrm>
            <a:off x="6675120" y="914400"/>
            <a:ext cx="201168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Entregue</a:t>
            </a:r>
            <a:endParaRPr lang="en-US" sz="1100" dirty="0"/>
          </a:p>
        </p:txBody>
      </p:sp>
      <p:sp>
        <p:nvSpPr>
          <p:cNvPr id="6" name="proposta-4"/>
          <p:cNvSpPr/>
          <p:nvPr/>
        </p:nvSpPr>
        <p:spPr>
          <a:xfrm>
            <a:off x="457200" y="1325880"/>
            <a:ext cx="3840480" cy="2697480"/>
          </a:xfrm>
          <a:prstGeom prst="roundRect">
            <a:avLst>
              <a:gd name="adj" fmla="val 2712"/>
            </a:avLst>
          </a:prstGeom>
          <a:solidFill>
            <a:schemeClr val="tx2"/>
          </a:solidFill>
          <a:ln w="12700">
            <a:solidFill>
              <a:schemeClr val="tx2"/>
            </a:solidFill>
            <a:prstDash val="solid"/>
          </a:ln>
        </p:spPr>
      </p:sp>
      <p:sp>
        <p:nvSpPr>
          <p:cNvPr id="7" name="Text 5"/>
          <p:cNvSpPr txBox="1"/>
          <p:nvPr/>
        </p:nvSpPr>
        <p:spPr>
          <a:xfrm>
            <a:off x="685800" y="1481328"/>
            <a:ext cx="3383280" cy="274320"/>
          </a:xfrm>
          <a:prstGeom prst="rect">
            <a:avLst/>
          </a:prstGeom>
          <a:noFill/>
          <a:ln/>
        </p:spPr>
        <p:txBody>
          <a:bodyPr wrap="square" lIns="0" tIns="0" rIns="0" bIns="0" rtlCol="0" anchor="t"/>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PROPOSTA DO PLANO</a:t>
            </a:r>
            <a:endParaRPr lang="en-US" sz="1100" dirty="0"/>
          </a:p>
        </p:txBody>
      </p:sp>
      <p:sp>
        <p:nvSpPr>
          <p:cNvPr id="8" name="Text 6"/>
          <p:cNvSpPr txBox="1"/>
          <p:nvPr/>
        </p:nvSpPr>
        <p:spPr>
          <a:xfrm>
            <a:off x="685800" y="1810512"/>
            <a:ext cx="3429000" cy="137160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Uma tarefa percorre os seis estados, é reprovada de propósito, é refeita e conclui.</a:t>
            </a:r>
            <a:endParaRPr lang="en-US" sz="1600" dirty="0"/>
          </a:p>
        </p:txBody>
      </p:sp>
      <p:sp>
        <p:nvSpPr>
          <p:cNvPr id="9" name="Text 7"/>
          <p:cNvSpPr txBox="1"/>
          <p:nvPr/>
        </p:nvSpPr>
        <p:spPr>
          <a:xfrm>
            <a:off x="685800" y="3520440"/>
            <a:ext cx="3383280" cy="274320"/>
          </a:xfrm>
          <a:prstGeom prst="rect">
            <a:avLst/>
          </a:prstGeom>
          <a:noFill/>
          <a:ln/>
        </p:spPr>
        <p:txBody>
          <a:bodyPr wrap="square" lIns="0" tIns="0" rIns="0" bIns="0" rtlCol="0" anchor="t"/>
          <a:lstStyle/>
          <a:p>
            <a:pPr indent="0" marL="0">
              <a:buNone/>
            </a:pPr>
            <a:r>
              <a:rPr lang="en-US" sz="1100" dirty="0">
                <a:solidFill>
                  <a:schemeClr val="bg2"/>
                </a:solidFill>
                <a:latin typeface="Calibri" pitchFamily="34" charset="0"/>
                <a:ea typeface="Calibri" pitchFamily="34" charset="-122"/>
                <a:cs typeface="Calibri" pitchFamily="34" charset="-120"/>
              </a:rPr>
              <a:t>Requisitos: R1 · R2 · R3 · R4 · R5 · R14</a:t>
            </a:r>
            <a:endParaRPr lang="en-US" sz="1100" dirty="0"/>
          </a:p>
        </p:txBody>
      </p:sp>
      <p:sp>
        <p:nvSpPr>
          <p:cNvPr id="10" name="Text 8"/>
          <p:cNvSpPr txBox="1"/>
          <p:nvPr/>
        </p:nvSpPr>
        <p:spPr>
          <a:xfrm>
            <a:off x="4572000" y="1371600"/>
            <a:ext cx="4114800" cy="274320"/>
          </a:xfrm>
          <a:prstGeom prst="rect">
            <a:avLst/>
          </a:prstGeom>
          <a:noFill/>
          <a:ln/>
        </p:spPr>
        <p:txBody>
          <a:bodyPr wrap="square" lIns="0" tIns="0" rIns="0" bIns="0" rtlCol="0" anchor="t"/>
          <a:lstStyle/>
          <a:p>
            <a:pPr indent="0" marL="0">
              <a:buNone/>
            </a:pPr>
            <a:r>
              <a:rPr lang="en-US" sz="1100" b="1" spc="200" kern="0" dirty="0">
                <a:solidFill>
                  <a:schemeClr val="accent4"/>
                </a:solidFill>
                <a:latin typeface="Calibri" pitchFamily="34" charset="0"/>
                <a:ea typeface="Calibri" pitchFamily="34" charset="-122"/>
                <a:cs typeface="Calibri" pitchFamily="34" charset="-120"/>
              </a:rPr>
              <a:t>O QUE FOI ENTREGUE</a:t>
            </a:r>
            <a:endParaRPr lang="en-US" sz="1100" dirty="0"/>
          </a:p>
        </p:txBody>
      </p:sp>
      <p:sp>
        <p:nvSpPr>
          <p:cNvPr id="11" name="Shape 9"/>
          <p:cNvSpPr/>
          <p:nvPr/>
        </p:nvSpPr>
        <p:spPr>
          <a:xfrm>
            <a:off x="4572000" y="1783080"/>
            <a:ext cx="164592" cy="164592"/>
          </a:xfrm>
          <a:prstGeom prst="ellipse">
            <a:avLst/>
          </a:prstGeom>
          <a:solidFill>
            <a:schemeClr val="accent2"/>
          </a:solidFill>
          <a:ln w="12700">
            <a:solidFill>
              <a:schemeClr val="accent2"/>
            </a:solidFill>
            <a:prstDash val="solid"/>
          </a:ln>
        </p:spPr>
      </p:sp>
      <p:sp>
        <p:nvSpPr>
          <p:cNvPr id="12" name="Text 10"/>
          <p:cNvSpPr txBox="1"/>
          <p:nvPr/>
        </p:nvSpPr>
        <p:spPr>
          <a:xfrm>
            <a:off x="4846320" y="1719072"/>
            <a:ext cx="3840480" cy="291465"/>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Os seis estados, com a mudança gravada de uma vez só</a:t>
            </a:r>
            <a:endParaRPr lang="en-US" sz="1050" dirty="0"/>
          </a:p>
        </p:txBody>
      </p:sp>
      <p:sp>
        <p:nvSpPr>
          <p:cNvPr id="13" name="Shape 11"/>
          <p:cNvSpPr/>
          <p:nvPr/>
        </p:nvSpPr>
        <p:spPr>
          <a:xfrm>
            <a:off x="4572000" y="2074545"/>
            <a:ext cx="164592" cy="164592"/>
          </a:xfrm>
          <a:prstGeom prst="ellipse">
            <a:avLst/>
          </a:prstGeom>
          <a:solidFill>
            <a:schemeClr val="accent2"/>
          </a:solidFill>
          <a:ln w="12700">
            <a:solidFill>
              <a:schemeClr val="accent2"/>
            </a:solidFill>
            <a:prstDash val="solid"/>
          </a:ln>
        </p:spPr>
      </p:sp>
      <p:sp>
        <p:nvSpPr>
          <p:cNvPr id="14" name="Text 12"/>
          <p:cNvSpPr txBox="1"/>
          <p:nvPr/>
        </p:nvSpPr>
        <p:spPr>
          <a:xfrm>
            <a:off x="4846320" y="2010537"/>
            <a:ext cx="3840480" cy="291465"/>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Fila por dependências e equipe especializada</a:t>
            </a:r>
            <a:endParaRPr lang="en-US" sz="1050" dirty="0"/>
          </a:p>
        </p:txBody>
      </p:sp>
      <p:sp>
        <p:nvSpPr>
          <p:cNvPr id="15" name="Shape 13"/>
          <p:cNvSpPr/>
          <p:nvPr/>
        </p:nvSpPr>
        <p:spPr>
          <a:xfrm>
            <a:off x="4572000" y="2366010"/>
            <a:ext cx="164592" cy="164592"/>
          </a:xfrm>
          <a:prstGeom prst="ellipse">
            <a:avLst/>
          </a:prstGeom>
          <a:solidFill>
            <a:schemeClr val="accent2"/>
          </a:solidFill>
          <a:ln w="12700">
            <a:solidFill>
              <a:schemeClr val="accent2"/>
            </a:solidFill>
            <a:prstDash val="solid"/>
          </a:ln>
        </p:spPr>
      </p:sp>
      <p:sp>
        <p:nvSpPr>
          <p:cNvPr id="16" name="Text 14"/>
          <p:cNvSpPr txBox="1"/>
          <p:nvPr/>
        </p:nvSpPr>
        <p:spPr>
          <a:xfrm>
            <a:off x="4846320" y="2302002"/>
            <a:ext cx="3840480" cy="291465"/>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Critérios de aceite executados sozinhos</a:t>
            </a:r>
            <a:endParaRPr lang="en-US" sz="1050" dirty="0"/>
          </a:p>
        </p:txBody>
      </p:sp>
      <p:sp>
        <p:nvSpPr>
          <p:cNvPr id="17" name="Shape 15"/>
          <p:cNvSpPr/>
          <p:nvPr/>
        </p:nvSpPr>
        <p:spPr>
          <a:xfrm>
            <a:off x="4572000" y="2657475"/>
            <a:ext cx="164592" cy="164592"/>
          </a:xfrm>
          <a:prstGeom prst="ellipse">
            <a:avLst/>
          </a:prstGeom>
          <a:solidFill>
            <a:schemeClr val="accent2"/>
          </a:solidFill>
          <a:ln w="12700">
            <a:solidFill>
              <a:schemeClr val="accent2"/>
            </a:solidFill>
            <a:prstDash val="solid"/>
          </a:ln>
        </p:spPr>
      </p:sp>
      <p:sp>
        <p:nvSpPr>
          <p:cNvPr id="18" name="Text 16"/>
          <p:cNvSpPr txBox="1"/>
          <p:nvPr/>
        </p:nvSpPr>
        <p:spPr>
          <a:xfrm>
            <a:off x="4846320" y="2593467"/>
            <a:ext cx="3840480" cy="291465"/>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Os dois portões</a:t>
            </a:r>
            <a:endParaRPr lang="en-US" sz="1050" dirty="0"/>
          </a:p>
        </p:txBody>
      </p:sp>
      <p:sp>
        <p:nvSpPr>
          <p:cNvPr id="19" name="Shape 17"/>
          <p:cNvSpPr/>
          <p:nvPr/>
        </p:nvSpPr>
        <p:spPr>
          <a:xfrm>
            <a:off x="4572000" y="2948940"/>
            <a:ext cx="164592" cy="164592"/>
          </a:xfrm>
          <a:prstGeom prst="ellipse">
            <a:avLst/>
          </a:prstGeom>
          <a:solidFill>
            <a:schemeClr val="accent2"/>
          </a:solidFill>
          <a:ln w="12700">
            <a:solidFill>
              <a:schemeClr val="accent2"/>
            </a:solidFill>
            <a:prstDash val="solid"/>
          </a:ln>
        </p:spPr>
      </p:sp>
      <p:sp>
        <p:nvSpPr>
          <p:cNvPr id="20" name="Text 18"/>
          <p:cNvSpPr txBox="1"/>
          <p:nvPr/>
        </p:nvSpPr>
        <p:spPr>
          <a:xfrm>
            <a:off x="4846320" y="2884932"/>
            <a:ext cx="3840480" cy="291465"/>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Diagnóstico da reprovação e escada de resposta</a:t>
            </a:r>
            <a:endParaRPr lang="en-US" sz="1050" dirty="0"/>
          </a:p>
        </p:txBody>
      </p:sp>
      <p:sp>
        <p:nvSpPr>
          <p:cNvPr id="21" name="Shape 19"/>
          <p:cNvSpPr/>
          <p:nvPr/>
        </p:nvSpPr>
        <p:spPr>
          <a:xfrm>
            <a:off x="4572000" y="3240405"/>
            <a:ext cx="164592" cy="164592"/>
          </a:xfrm>
          <a:prstGeom prst="ellipse">
            <a:avLst/>
          </a:prstGeom>
          <a:solidFill>
            <a:schemeClr val="accent2"/>
          </a:solidFill>
          <a:ln w="12700">
            <a:solidFill>
              <a:schemeClr val="accent2"/>
            </a:solidFill>
            <a:prstDash val="solid"/>
          </a:ln>
        </p:spPr>
      </p:sp>
      <p:sp>
        <p:nvSpPr>
          <p:cNvPr id="22" name="Text 20"/>
          <p:cNvSpPr txBox="1"/>
          <p:nvPr/>
        </p:nvSpPr>
        <p:spPr>
          <a:xfrm>
            <a:off x="4846320" y="3176397"/>
            <a:ext cx="3840480" cy="291465"/>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Teto de gasto por rodada e por tarefa</a:t>
            </a:r>
            <a:endParaRPr lang="en-US" sz="1050" dirty="0"/>
          </a:p>
        </p:txBody>
      </p:sp>
      <p:sp>
        <p:nvSpPr>
          <p:cNvPr id="23" name="Shape 21"/>
          <p:cNvSpPr/>
          <p:nvPr/>
        </p:nvSpPr>
        <p:spPr>
          <a:xfrm>
            <a:off x="4572000" y="3531870"/>
            <a:ext cx="164592" cy="164592"/>
          </a:xfrm>
          <a:prstGeom prst="ellipse">
            <a:avLst/>
          </a:prstGeom>
          <a:solidFill>
            <a:schemeClr val="accent2"/>
          </a:solidFill>
          <a:ln w="12700">
            <a:solidFill>
              <a:schemeClr val="accent2"/>
            </a:solidFill>
            <a:prstDash val="solid"/>
          </a:ln>
        </p:spPr>
      </p:sp>
      <p:sp>
        <p:nvSpPr>
          <p:cNvPr id="24" name="Text 22"/>
          <p:cNvSpPr txBox="1"/>
          <p:nvPr/>
        </p:nvSpPr>
        <p:spPr>
          <a:xfrm>
            <a:off x="4846320" y="3467862"/>
            <a:ext cx="3840480" cy="291465"/>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Do pedido às tarefas: o planejador</a:t>
            </a:r>
            <a:endParaRPr lang="en-US" sz="1050" dirty="0"/>
          </a:p>
        </p:txBody>
      </p:sp>
      <p:sp>
        <p:nvSpPr>
          <p:cNvPr id="25" name="Shape 23"/>
          <p:cNvSpPr/>
          <p:nvPr/>
        </p:nvSpPr>
        <p:spPr>
          <a:xfrm>
            <a:off x="4572000" y="3823335"/>
            <a:ext cx="164592" cy="164592"/>
          </a:xfrm>
          <a:prstGeom prst="ellipse">
            <a:avLst/>
          </a:prstGeom>
          <a:solidFill>
            <a:schemeClr val="accent2"/>
          </a:solidFill>
          <a:ln w="12700">
            <a:solidFill>
              <a:schemeClr val="accent2"/>
            </a:solidFill>
            <a:prstDash val="solid"/>
          </a:ln>
        </p:spPr>
      </p:sp>
      <p:sp>
        <p:nvSpPr>
          <p:cNvPr id="26" name="Text 24"/>
          <p:cNvSpPr txBox="1"/>
          <p:nvPr/>
        </p:nvSpPr>
        <p:spPr>
          <a:xfrm>
            <a:off x="4846320" y="3759327"/>
            <a:ext cx="3840480" cy="291465"/>
          </a:xfrm>
          <a:prstGeom prst="rect">
            <a:avLst/>
          </a:prstGeom>
          <a:noFill/>
          <a:ln/>
        </p:spPr>
        <p:txBody>
          <a:bodyPr wrap="square" lIns="0" tIns="0" rIns="0" bIns="0" rtlCol="0" anchor="ctr"/>
          <a:lstStyle/>
          <a:p>
            <a:pPr indent="0" marL="0">
              <a:buNone/>
            </a:pPr>
            <a:r>
              <a:rPr lang="en-US" sz="1050" b="1" dirty="0">
                <a:solidFill>
                  <a:schemeClr val="tx1"/>
                </a:solidFill>
                <a:latin typeface="Calibri" pitchFamily="34" charset="0"/>
                <a:ea typeface="Calibri" pitchFamily="34" charset="-122"/>
                <a:cs typeface="Calibri" pitchFamily="34" charset="-120"/>
              </a:rPr>
              <a:t>Marco: reprovada de propósito, refeita e concluída</a:t>
            </a:r>
            <a:endParaRPr lang="en-US" sz="1050" dirty="0"/>
          </a:p>
        </p:txBody>
      </p:sp>
      <p:sp>
        <p:nvSpPr>
          <p:cNvPr id="27" name="Text 25"/>
          <p:cNvSpPr txBox="1"/>
          <p:nvPr/>
        </p:nvSpPr>
        <p:spPr>
          <a:xfrm>
            <a:off x="457200" y="4160520"/>
            <a:ext cx="1280160" cy="3200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8/8 </a:t>
            </a:r>
            <a:pPr indent="0" marL="0">
              <a:buNone/>
            </a:pPr>
            <a:r>
              <a:rPr lang="en-US" sz="1100" dirty="0">
                <a:solidFill>
                  <a:schemeClr val="accent5"/>
                </a:solidFill>
                <a:latin typeface="Calibri" pitchFamily="34" charset="0"/>
                <a:ea typeface="Calibri" pitchFamily="34" charset="-122"/>
                <a:cs typeface="Calibri" pitchFamily="34" charset="-120"/>
              </a:rPr>
              <a:t>tarefas</a:t>
            </a:r>
            <a:endParaRPr lang="en-US" sz="1400" dirty="0"/>
          </a:p>
        </p:txBody>
      </p:sp>
      <p:sp>
        <p:nvSpPr>
          <p:cNvPr id="28" name="Text 26"/>
          <p:cNvSpPr txBox="1"/>
          <p:nvPr/>
        </p:nvSpPr>
        <p:spPr>
          <a:xfrm>
            <a:off x="1783080" y="4160520"/>
            <a:ext cx="1280160" cy="3200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908 </a:t>
            </a:r>
            <a:pPr indent="0" marL="0">
              <a:buNone/>
            </a:pPr>
            <a:r>
              <a:rPr lang="en-US" sz="1100" dirty="0">
                <a:solidFill>
                  <a:schemeClr val="accent5"/>
                </a:solidFill>
                <a:latin typeface="Calibri" pitchFamily="34" charset="0"/>
                <a:ea typeface="Calibri" pitchFamily="34" charset="-122"/>
                <a:cs typeface="Calibri" pitchFamily="34" charset="-120"/>
              </a:rPr>
              <a:t>testes</a:t>
            </a:r>
            <a:endParaRPr lang="en-US" sz="1400" dirty="0"/>
          </a:p>
        </p:txBody>
      </p:sp>
      <p:sp>
        <p:nvSpPr>
          <p:cNvPr id="29" name="Text 27"/>
          <p:cNvSpPr txBox="1"/>
          <p:nvPr/>
        </p:nvSpPr>
        <p:spPr>
          <a:xfrm>
            <a:off x="3108960" y="4160520"/>
            <a:ext cx="1280160" cy="3200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16 </a:t>
            </a:r>
            <a:pPr indent="0" marL="0">
              <a:buNone/>
            </a:pPr>
            <a:r>
              <a:rPr lang="en-US" sz="1100" dirty="0">
                <a:solidFill>
                  <a:schemeClr val="accent5"/>
                </a:solidFill>
                <a:latin typeface="Calibri" pitchFamily="34" charset="0"/>
                <a:ea typeface="Calibri" pitchFamily="34" charset="-122"/>
                <a:cs typeface="Calibri" pitchFamily="34" charset="-120"/>
              </a:rPr>
              <a:t>commits</a:t>
            </a:r>
            <a:endParaRPr lang="en-US" sz="1400" dirty="0"/>
          </a:p>
        </p:txBody>
      </p:sp>
      <p:sp>
        <p:nvSpPr>
          <p:cNvPr id="30" name="Text 28"/>
          <p:cNvSpPr txBox="1"/>
          <p:nvPr/>
        </p:nvSpPr>
        <p:spPr>
          <a:xfrm>
            <a:off x="4480560" y="4114800"/>
            <a:ext cx="4206240" cy="457200"/>
          </a:xfrm>
          <a:prstGeom prst="rect">
            <a:avLst/>
          </a:prstGeom>
          <a:noFill/>
          <a:ln/>
        </p:spPr>
        <p:txBody>
          <a:bodyPr wrap="square" lIns="0" tIns="0" rIns="0" bIns="0" rtlCol="0" anchor="ctr"/>
          <a:lstStyle/>
          <a:p>
            <a:pPr indent="0" marL="0">
              <a:buNone/>
            </a:pPr>
            <a:r>
              <a:rPr lang="en-US" sz="950" b="1" dirty="0">
                <a:solidFill>
                  <a:schemeClr val="tx1"/>
                </a:solidFill>
                <a:latin typeface="Calibri" pitchFamily="34" charset="0"/>
                <a:ea typeface="Calibri" pitchFamily="34" charset="-122"/>
                <a:cs typeface="Calibri" pitchFamily="34" charset="-120"/>
              </a:rPr>
              <a:t>Prova: </a:t>
            </a:r>
            <a:pPr indent="0" marL="0">
              <a:buNone/>
            </a:pPr>
            <a:r>
              <a:rPr lang="en-US" sz="950" dirty="0">
                <a:solidFill>
                  <a:schemeClr val="tx1"/>
                </a:solidFill>
                <a:latin typeface="Calibri" pitchFamily="34" charset="0"/>
                <a:ea typeface="Calibri" pitchFamily="34" charset="-122"/>
                <a:cs typeface="Calibri" pitchFamily="34" charset="-120"/>
              </a:rPr>
              <a:t>mix test test/factory/milestone_e4_test.exs — histórico com os seis estados, reprovação por entrega errada, modelo sobe no 2º ciclo, custo por ciclo separado.</a:t>
            </a:r>
            <a:endParaRPr lang="en-US" sz="9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96A3"/>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E5 — Paralelismo e tolerância a falhas</a:t>
            </a:r>
            <a:endParaRPr lang="en-US" sz="2800" dirty="0"/>
          </a:p>
        </p:txBody>
      </p:sp>
      <p:sp>
        <p:nvSpPr>
          <p:cNvPr id="3" name="Text 1"/>
          <p:cNvSpPr txBox="1"/>
          <p:nvPr/>
        </p:nvSpPr>
        <p:spPr>
          <a:xfrm>
            <a:off x="457200" y="914400"/>
            <a:ext cx="5486400" cy="274320"/>
          </a:xfrm>
          <a:prstGeom prst="rect">
            <a:avLst/>
          </a:prstGeom>
          <a:noFill/>
          <a:ln/>
        </p:spPr>
        <p:txBody>
          <a:bodyPr wrap="square" lIns="0" tIns="0" rIns="0" bIns="0" rtlCol="0" anchor="t"/>
          <a:lstStyle/>
          <a:p>
            <a:pPr indent="0" marL="0">
              <a:buNone/>
            </a:pPr>
            <a:r>
              <a:rPr lang="en-US" sz="1100" dirty="0">
                <a:solidFill>
                  <a:schemeClr val="accent5"/>
                </a:solidFill>
                <a:latin typeface="Calibri" pitchFamily="34" charset="0"/>
                <a:ea typeface="Calibri" pitchFamily="34" charset="-122"/>
                <a:cs typeface="Calibri" pitchFamily="34" charset="-120"/>
              </a:rPr>
              <a:t>03/11 – 17/11/2026  ·  branch etapa/e5-paralelismo</a:t>
            </a:r>
            <a:endParaRPr lang="en-US" sz="1100" dirty="0"/>
          </a:p>
        </p:txBody>
      </p:sp>
      <p:sp>
        <p:nvSpPr>
          <p:cNvPr id="4" name="Shape 2"/>
          <p:cNvSpPr/>
          <p:nvPr/>
        </p:nvSpPr>
        <p:spPr>
          <a:xfrm>
            <a:off x="6675120" y="914400"/>
            <a:ext cx="2011680" cy="292608"/>
          </a:xfrm>
          <a:prstGeom prst="roundRect">
            <a:avLst>
              <a:gd name="adj" fmla="val 50000"/>
            </a:avLst>
          </a:prstGeom>
          <a:solidFill>
            <a:schemeClr val="accent2"/>
          </a:solidFill>
          <a:ln w="12700">
            <a:solidFill>
              <a:schemeClr val="accent2"/>
            </a:solidFill>
            <a:prstDash val="solid"/>
          </a:ln>
        </p:spPr>
      </p:sp>
      <p:sp>
        <p:nvSpPr>
          <p:cNvPr id="5" name="Text 3"/>
          <p:cNvSpPr txBox="1"/>
          <p:nvPr/>
        </p:nvSpPr>
        <p:spPr>
          <a:xfrm>
            <a:off x="6675120" y="914400"/>
            <a:ext cx="201168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Entregue</a:t>
            </a:r>
            <a:endParaRPr lang="en-US" sz="1100" dirty="0"/>
          </a:p>
        </p:txBody>
      </p:sp>
      <p:sp>
        <p:nvSpPr>
          <p:cNvPr id="6" name="proposta-5"/>
          <p:cNvSpPr/>
          <p:nvPr/>
        </p:nvSpPr>
        <p:spPr>
          <a:xfrm>
            <a:off x="457200" y="1325880"/>
            <a:ext cx="3840480" cy="2697480"/>
          </a:xfrm>
          <a:prstGeom prst="roundRect">
            <a:avLst>
              <a:gd name="adj" fmla="val 2712"/>
            </a:avLst>
          </a:prstGeom>
          <a:solidFill>
            <a:schemeClr val="tx2"/>
          </a:solidFill>
          <a:ln w="12700">
            <a:solidFill>
              <a:schemeClr val="tx2"/>
            </a:solidFill>
            <a:prstDash val="solid"/>
          </a:ln>
        </p:spPr>
      </p:sp>
      <p:sp>
        <p:nvSpPr>
          <p:cNvPr id="7" name="Text 5"/>
          <p:cNvSpPr txBox="1"/>
          <p:nvPr/>
        </p:nvSpPr>
        <p:spPr>
          <a:xfrm>
            <a:off x="685800" y="1481328"/>
            <a:ext cx="3383280" cy="274320"/>
          </a:xfrm>
          <a:prstGeom prst="rect">
            <a:avLst/>
          </a:prstGeom>
          <a:noFill/>
          <a:ln/>
        </p:spPr>
        <p:txBody>
          <a:bodyPr wrap="square" lIns="0" tIns="0" rIns="0" bIns="0" rtlCol="0" anchor="t"/>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PROPOSTA DO PLANO</a:t>
            </a:r>
            <a:endParaRPr lang="en-US" sz="1100" dirty="0"/>
          </a:p>
        </p:txBody>
      </p:sp>
      <p:sp>
        <p:nvSpPr>
          <p:cNvPr id="8" name="Text 6"/>
          <p:cNvSpPr txBox="1"/>
          <p:nvPr/>
        </p:nvSpPr>
        <p:spPr>
          <a:xfrm>
            <a:off x="685800" y="1810512"/>
            <a:ext cx="3429000" cy="137160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Três tarefas em paralelo; encerrar uma no meio não afeta as outras, e ela volta à fila.</a:t>
            </a:r>
            <a:endParaRPr lang="en-US" sz="1600" dirty="0"/>
          </a:p>
        </p:txBody>
      </p:sp>
      <p:sp>
        <p:nvSpPr>
          <p:cNvPr id="9" name="Text 7"/>
          <p:cNvSpPr txBox="1"/>
          <p:nvPr/>
        </p:nvSpPr>
        <p:spPr>
          <a:xfrm>
            <a:off x="685800" y="3520440"/>
            <a:ext cx="3383280" cy="274320"/>
          </a:xfrm>
          <a:prstGeom prst="rect">
            <a:avLst/>
          </a:prstGeom>
          <a:noFill/>
          <a:ln/>
        </p:spPr>
        <p:txBody>
          <a:bodyPr wrap="square" lIns="0" tIns="0" rIns="0" bIns="0" rtlCol="0" anchor="t"/>
          <a:lstStyle/>
          <a:p>
            <a:pPr indent="0" marL="0">
              <a:buNone/>
            </a:pPr>
            <a:r>
              <a:rPr lang="en-US" sz="1100" dirty="0">
                <a:solidFill>
                  <a:schemeClr val="bg2"/>
                </a:solidFill>
                <a:latin typeface="Calibri" pitchFamily="34" charset="0"/>
                <a:ea typeface="Calibri" pitchFamily="34" charset="-122"/>
                <a:cs typeface="Calibri" pitchFamily="34" charset="-120"/>
              </a:rPr>
              <a:t>Requisitos: R6 · R9 · R13</a:t>
            </a:r>
            <a:endParaRPr lang="en-US" sz="1100" dirty="0"/>
          </a:p>
        </p:txBody>
      </p:sp>
      <p:sp>
        <p:nvSpPr>
          <p:cNvPr id="10" name="Text 8"/>
          <p:cNvSpPr txBox="1"/>
          <p:nvPr/>
        </p:nvSpPr>
        <p:spPr>
          <a:xfrm>
            <a:off x="4572000" y="1371600"/>
            <a:ext cx="4114800" cy="274320"/>
          </a:xfrm>
          <a:prstGeom prst="rect">
            <a:avLst/>
          </a:prstGeom>
          <a:noFill/>
          <a:ln/>
        </p:spPr>
        <p:txBody>
          <a:bodyPr wrap="square" lIns="0" tIns="0" rIns="0" bIns="0" rtlCol="0" anchor="t"/>
          <a:lstStyle/>
          <a:p>
            <a:pPr indent="0" marL="0">
              <a:buNone/>
            </a:pPr>
            <a:r>
              <a:rPr lang="en-US" sz="1100" b="1" spc="200" kern="0" dirty="0">
                <a:solidFill>
                  <a:schemeClr val="accent4"/>
                </a:solidFill>
                <a:latin typeface="Calibri" pitchFamily="34" charset="0"/>
                <a:ea typeface="Calibri" pitchFamily="34" charset="-122"/>
                <a:cs typeface="Calibri" pitchFamily="34" charset="-120"/>
              </a:rPr>
              <a:t>O QUE FOI ENTREGUE</a:t>
            </a:r>
            <a:endParaRPr lang="en-US" sz="1100" dirty="0"/>
          </a:p>
        </p:txBody>
      </p:sp>
      <p:sp>
        <p:nvSpPr>
          <p:cNvPr id="11" name="Shape 9"/>
          <p:cNvSpPr/>
          <p:nvPr/>
        </p:nvSpPr>
        <p:spPr>
          <a:xfrm>
            <a:off x="4572000" y="1783080"/>
            <a:ext cx="164592" cy="164592"/>
          </a:xfrm>
          <a:prstGeom prst="ellipse">
            <a:avLst/>
          </a:prstGeom>
          <a:solidFill>
            <a:schemeClr val="accent2"/>
          </a:solidFill>
          <a:ln w="12700">
            <a:solidFill>
              <a:schemeClr val="accent2"/>
            </a:solidFill>
            <a:prstDash val="solid"/>
          </a:ln>
        </p:spPr>
      </p:sp>
      <p:sp>
        <p:nvSpPr>
          <p:cNvPr id="12" name="Text 10"/>
          <p:cNvSpPr txBox="1"/>
          <p:nvPr/>
        </p:nvSpPr>
        <p:spPr>
          <a:xfrm>
            <a:off x="4846320" y="1719072"/>
            <a:ext cx="3840480" cy="329184"/>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Um processo supervisionado por tarefa</a:t>
            </a:r>
            <a:endParaRPr lang="en-US" sz="1150" dirty="0"/>
          </a:p>
        </p:txBody>
      </p:sp>
      <p:sp>
        <p:nvSpPr>
          <p:cNvPr id="13" name="Shape 11"/>
          <p:cNvSpPr/>
          <p:nvPr/>
        </p:nvSpPr>
        <p:spPr>
          <a:xfrm>
            <a:off x="4572000" y="2112264"/>
            <a:ext cx="164592" cy="164592"/>
          </a:xfrm>
          <a:prstGeom prst="ellipse">
            <a:avLst/>
          </a:prstGeom>
          <a:solidFill>
            <a:schemeClr val="accent2"/>
          </a:solidFill>
          <a:ln w="12700">
            <a:solidFill>
              <a:schemeClr val="accent2"/>
            </a:solidFill>
            <a:prstDash val="solid"/>
          </a:ln>
        </p:spPr>
      </p:sp>
      <p:sp>
        <p:nvSpPr>
          <p:cNvPr id="14" name="Text 12"/>
          <p:cNvSpPr txBox="1"/>
          <p:nvPr/>
        </p:nvSpPr>
        <p:spPr>
          <a:xfrm>
            <a:off x="4846320" y="2048256"/>
            <a:ext cx="3840480" cy="329184"/>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Fila durável no banco</a:t>
            </a:r>
            <a:endParaRPr lang="en-US" sz="1150" dirty="0"/>
          </a:p>
        </p:txBody>
      </p:sp>
      <p:sp>
        <p:nvSpPr>
          <p:cNvPr id="15" name="Shape 13"/>
          <p:cNvSpPr/>
          <p:nvPr/>
        </p:nvSpPr>
        <p:spPr>
          <a:xfrm>
            <a:off x="4572000" y="2441448"/>
            <a:ext cx="164592" cy="164592"/>
          </a:xfrm>
          <a:prstGeom prst="ellipse">
            <a:avLst/>
          </a:prstGeom>
          <a:solidFill>
            <a:schemeClr val="accent2"/>
          </a:solidFill>
          <a:ln w="12700">
            <a:solidFill>
              <a:schemeClr val="accent2"/>
            </a:solidFill>
            <a:prstDash val="solid"/>
          </a:ln>
        </p:spPr>
      </p:sp>
      <p:sp>
        <p:nvSpPr>
          <p:cNvPr id="16" name="Text 14"/>
          <p:cNvSpPr txBox="1"/>
          <p:nvPr/>
        </p:nvSpPr>
        <p:spPr>
          <a:xfrm>
            <a:off x="4846320" y="2377440"/>
            <a:ext cx="3840480" cy="329184"/>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Tarefas em paralelo sem disputar arquivo</a:t>
            </a:r>
            <a:endParaRPr lang="en-US" sz="1150" dirty="0"/>
          </a:p>
        </p:txBody>
      </p:sp>
      <p:sp>
        <p:nvSpPr>
          <p:cNvPr id="17" name="Shape 15"/>
          <p:cNvSpPr/>
          <p:nvPr/>
        </p:nvSpPr>
        <p:spPr>
          <a:xfrm>
            <a:off x="4572000" y="2770632"/>
            <a:ext cx="164592" cy="164592"/>
          </a:xfrm>
          <a:prstGeom prst="ellipse">
            <a:avLst/>
          </a:prstGeom>
          <a:solidFill>
            <a:schemeClr val="accent2"/>
          </a:solidFill>
          <a:ln w="12700">
            <a:solidFill>
              <a:schemeClr val="accent2"/>
            </a:solidFill>
            <a:prstDash val="solid"/>
          </a:ln>
        </p:spPr>
      </p:sp>
      <p:sp>
        <p:nvSpPr>
          <p:cNvPr id="18" name="Text 16"/>
          <p:cNvSpPr txBox="1"/>
          <p:nvPr/>
        </p:nvSpPr>
        <p:spPr>
          <a:xfrm>
            <a:off x="4846320" y="2706624"/>
            <a:ext cx="3840480" cy="329184"/>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Reconhecer o limite de uso do fornecedor e retomar</a:t>
            </a:r>
            <a:endParaRPr lang="en-US" sz="1150" dirty="0"/>
          </a:p>
        </p:txBody>
      </p:sp>
      <p:sp>
        <p:nvSpPr>
          <p:cNvPr id="19" name="Shape 17"/>
          <p:cNvSpPr/>
          <p:nvPr/>
        </p:nvSpPr>
        <p:spPr>
          <a:xfrm>
            <a:off x="4572000" y="3099816"/>
            <a:ext cx="164592" cy="164592"/>
          </a:xfrm>
          <a:prstGeom prst="ellipse">
            <a:avLst/>
          </a:prstGeom>
          <a:solidFill>
            <a:schemeClr val="accent2"/>
          </a:solidFill>
          <a:ln w="12700">
            <a:solidFill>
              <a:schemeClr val="accent2"/>
            </a:solidFill>
            <a:prstDash val="solid"/>
          </a:ln>
        </p:spPr>
      </p:sp>
      <p:sp>
        <p:nvSpPr>
          <p:cNvPr id="20" name="Text 18"/>
          <p:cNvSpPr txBox="1"/>
          <p:nvPr/>
        </p:nvSpPr>
        <p:spPr>
          <a:xfrm>
            <a:off x="4846320" y="3035808"/>
            <a:ext cx="3840480" cy="329184"/>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Recuperar trabalho interrompido</a:t>
            </a:r>
            <a:endParaRPr lang="en-US" sz="1150" dirty="0"/>
          </a:p>
        </p:txBody>
      </p:sp>
      <p:sp>
        <p:nvSpPr>
          <p:cNvPr id="21" name="Shape 19"/>
          <p:cNvSpPr/>
          <p:nvPr/>
        </p:nvSpPr>
        <p:spPr>
          <a:xfrm>
            <a:off x="4572000" y="3429000"/>
            <a:ext cx="164592" cy="164592"/>
          </a:xfrm>
          <a:prstGeom prst="ellipse">
            <a:avLst/>
          </a:prstGeom>
          <a:solidFill>
            <a:schemeClr val="accent2"/>
          </a:solidFill>
          <a:ln w="12700">
            <a:solidFill>
              <a:schemeClr val="accent2"/>
            </a:solidFill>
            <a:prstDash val="solid"/>
          </a:ln>
        </p:spPr>
      </p:sp>
      <p:sp>
        <p:nvSpPr>
          <p:cNvPr id="22" name="Text 20"/>
          <p:cNvSpPr txBox="1"/>
          <p:nvPr/>
        </p:nvSpPr>
        <p:spPr>
          <a:xfrm>
            <a:off x="4846320" y="3364992"/>
            <a:ext cx="3840480" cy="329184"/>
          </a:xfrm>
          <a:prstGeom prst="rect">
            <a:avLst/>
          </a:prstGeom>
          <a:noFill/>
          <a:ln/>
        </p:spPr>
        <p:txBody>
          <a:bodyPr wrap="square" lIns="0" tIns="0" rIns="0" bIns="0" rtlCol="0" anchor="ctr"/>
          <a:lstStyle/>
          <a:p>
            <a:pPr indent="0" marL="0">
              <a:buNone/>
            </a:pPr>
            <a:r>
              <a:rPr lang="en-US" sz="1150" b="1" dirty="0">
                <a:solidFill>
                  <a:schemeClr val="tx1"/>
                </a:solidFill>
                <a:latin typeface="Calibri" pitchFamily="34" charset="0"/>
                <a:ea typeface="Calibri" pitchFamily="34" charset="-122"/>
                <a:cs typeface="Calibri" pitchFamily="34" charset="-120"/>
              </a:rPr>
              <a:t>Marco: três em paralelo, e matar uma não derruba as outras</a:t>
            </a:r>
            <a:endParaRPr lang="en-US" sz="1150" dirty="0"/>
          </a:p>
        </p:txBody>
      </p:sp>
      <p:sp>
        <p:nvSpPr>
          <p:cNvPr id="23" name="Text 21"/>
          <p:cNvSpPr txBox="1"/>
          <p:nvPr/>
        </p:nvSpPr>
        <p:spPr>
          <a:xfrm>
            <a:off x="457200" y="4160520"/>
            <a:ext cx="1280160" cy="3200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6/6 </a:t>
            </a:r>
            <a:pPr indent="0" marL="0">
              <a:buNone/>
            </a:pPr>
            <a:r>
              <a:rPr lang="en-US" sz="1100" dirty="0">
                <a:solidFill>
                  <a:schemeClr val="accent5"/>
                </a:solidFill>
                <a:latin typeface="Calibri" pitchFamily="34" charset="0"/>
                <a:ea typeface="Calibri" pitchFamily="34" charset="-122"/>
                <a:cs typeface="Calibri" pitchFamily="34" charset="-120"/>
              </a:rPr>
              <a:t>tarefas</a:t>
            </a:r>
            <a:endParaRPr lang="en-US" sz="1400" dirty="0"/>
          </a:p>
        </p:txBody>
      </p:sp>
      <p:sp>
        <p:nvSpPr>
          <p:cNvPr id="24" name="Text 22"/>
          <p:cNvSpPr txBox="1"/>
          <p:nvPr/>
        </p:nvSpPr>
        <p:spPr>
          <a:xfrm>
            <a:off x="1783080" y="4160520"/>
            <a:ext cx="1280160" cy="3200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995 </a:t>
            </a:r>
            <a:pPr indent="0" marL="0">
              <a:buNone/>
            </a:pPr>
            <a:r>
              <a:rPr lang="en-US" sz="1100" dirty="0">
                <a:solidFill>
                  <a:schemeClr val="accent5"/>
                </a:solidFill>
                <a:latin typeface="Calibri" pitchFamily="34" charset="0"/>
                <a:ea typeface="Calibri" pitchFamily="34" charset="-122"/>
                <a:cs typeface="Calibri" pitchFamily="34" charset="-120"/>
              </a:rPr>
              <a:t>testes</a:t>
            </a:r>
            <a:endParaRPr lang="en-US" sz="1400" dirty="0"/>
          </a:p>
        </p:txBody>
      </p:sp>
      <p:sp>
        <p:nvSpPr>
          <p:cNvPr id="25" name="Text 23"/>
          <p:cNvSpPr txBox="1"/>
          <p:nvPr/>
        </p:nvSpPr>
        <p:spPr>
          <a:xfrm>
            <a:off x="3108960" y="4160520"/>
            <a:ext cx="1280160" cy="3200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10 </a:t>
            </a:r>
            <a:pPr indent="0" marL="0">
              <a:buNone/>
            </a:pPr>
            <a:r>
              <a:rPr lang="en-US" sz="1100" dirty="0">
                <a:solidFill>
                  <a:schemeClr val="accent5"/>
                </a:solidFill>
                <a:latin typeface="Calibri" pitchFamily="34" charset="0"/>
                <a:ea typeface="Calibri" pitchFamily="34" charset="-122"/>
                <a:cs typeface="Calibri" pitchFamily="34" charset="-120"/>
              </a:rPr>
              <a:t>commits</a:t>
            </a:r>
            <a:endParaRPr lang="en-US" sz="1400" dirty="0"/>
          </a:p>
        </p:txBody>
      </p:sp>
      <p:sp>
        <p:nvSpPr>
          <p:cNvPr id="26" name="Text 24"/>
          <p:cNvSpPr txBox="1"/>
          <p:nvPr/>
        </p:nvSpPr>
        <p:spPr>
          <a:xfrm>
            <a:off x="4480560" y="4114800"/>
            <a:ext cx="4206240" cy="457200"/>
          </a:xfrm>
          <a:prstGeom prst="rect">
            <a:avLst/>
          </a:prstGeom>
          <a:noFill/>
          <a:ln/>
        </p:spPr>
        <p:txBody>
          <a:bodyPr wrap="square" lIns="0" tIns="0" rIns="0" bIns="0" rtlCol="0" anchor="ctr"/>
          <a:lstStyle/>
          <a:p>
            <a:pPr indent="0" marL="0">
              <a:buNone/>
            </a:pPr>
            <a:r>
              <a:rPr lang="en-US" sz="950" b="1" dirty="0">
                <a:solidFill>
                  <a:schemeClr val="tx1"/>
                </a:solidFill>
                <a:latin typeface="Calibri" pitchFamily="34" charset="0"/>
                <a:ea typeface="Calibri" pitchFamily="34" charset="-122"/>
                <a:cs typeface="Calibri" pitchFamily="34" charset="-120"/>
              </a:rPr>
              <a:t>Prova: </a:t>
            </a:r>
            <a:pPr indent="0" marL="0">
              <a:buNone/>
            </a:pPr>
            <a:r>
              <a:rPr lang="en-US" sz="950" dirty="0">
                <a:solidFill>
                  <a:schemeClr val="tx1"/>
                </a:solidFill>
                <a:latin typeface="Calibri" pitchFamily="34" charset="0"/>
                <a:ea typeface="Calibri" pitchFamily="34" charset="-122"/>
                <a:cs typeface="Calibri" pitchFamily="34" charset="-120"/>
              </a:rPr>
              <a:t>mix test test/factory/milestone_e5_test.exs — três agentes reais em voo, um é morto, os outros seguem e o morto volta à fila.</a:t>
            </a:r>
            <a:endParaRPr lang="en-US" sz="9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96A3"/>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E6 — Memória do projeto</a:t>
            </a:r>
            <a:endParaRPr lang="en-US" sz="2800" dirty="0"/>
          </a:p>
        </p:txBody>
      </p:sp>
      <p:sp>
        <p:nvSpPr>
          <p:cNvPr id="3" name="Text 1"/>
          <p:cNvSpPr txBox="1"/>
          <p:nvPr/>
        </p:nvSpPr>
        <p:spPr>
          <a:xfrm>
            <a:off x="457200" y="914400"/>
            <a:ext cx="5486400" cy="274320"/>
          </a:xfrm>
          <a:prstGeom prst="rect">
            <a:avLst/>
          </a:prstGeom>
          <a:noFill/>
          <a:ln/>
        </p:spPr>
        <p:txBody>
          <a:bodyPr wrap="square" lIns="0" tIns="0" rIns="0" bIns="0" rtlCol="0" anchor="t"/>
          <a:lstStyle/>
          <a:p>
            <a:pPr indent="0" marL="0">
              <a:buNone/>
            </a:pPr>
            <a:r>
              <a:rPr lang="en-US" sz="1100" dirty="0">
                <a:solidFill>
                  <a:schemeClr val="accent5"/>
                </a:solidFill>
                <a:latin typeface="Calibri" pitchFamily="34" charset="0"/>
                <a:ea typeface="Calibri" pitchFamily="34" charset="-122"/>
                <a:cs typeface="Calibri" pitchFamily="34" charset="-120"/>
              </a:rPr>
              <a:t>18/11 – 02/12/2026  ·  branch etapa/e6-memoria</a:t>
            </a:r>
            <a:endParaRPr lang="en-US" sz="1100" dirty="0"/>
          </a:p>
        </p:txBody>
      </p:sp>
      <p:sp>
        <p:nvSpPr>
          <p:cNvPr id="4" name="Shape 2"/>
          <p:cNvSpPr/>
          <p:nvPr/>
        </p:nvSpPr>
        <p:spPr>
          <a:xfrm>
            <a:off x="6675120" y="914400"/>
            <a:ext cx="2011680" cy="292608"/>
          </a:xfrm>
          <a:prstGeom prst="roundRect">
            <a:avLst>
              <a:gd name="adj" fmla="val 50000"/>
            </a:avLst>
          </a:prstGeom>
          <a:solidFill>
            <a:schemeClr val="accent3"/>
          </a:solidFill>
          <a:ln w="12700">
            <a:solidFill>
              <a:schemeClr val="accent3"/>
            </a:solidFill>
            <a:prstDash val="solid"/>
          </a:ln>
        </p:spPr>
      </p:sp>
      <p:sp>
        <p:nvSpPr>
          <p:cNvPr id="5" name="Text 3"/>
          <p:cNvSpPr txBox="1"/>
          <p:nvPr/>
        </p:nvSpPr>
        <p:spPr>
          <a:xfrm>
            <a:off x="6675120" y="914400"/>
            <a:ext cx="201168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Entrega bloqueada</a:t>
            </a:r>
            <a:endParaRPr lang="en-US" sz="1100" dirty="0"/>
          </a:p>
        </p:txBody>
      </p:sp>
      <p:sp>
        <p:nvSpPr>
          <p:cNvPr id="6" name="proposta-6"/>
          <p:cNvSpPr/>
          <p:nvPr/>
        </p:nvSpPr>
        <p:spPr>
          <a:xfrm>
            <a:off x="457200" y="1325880"/>
            <a:ext cx="3840480" cy="2697480"/>
          </a:xfrm>
          <a:prstGeom prst="roundRect">
            <a:avLst>
              <a:gd name="adj" fmla="val 2712"/>
            </a:avLst>
          </a:prstGeom>
          <a:solidFill>
            <a:schemeClr val="tx2"/>
          </a:solidFill>
          <a:ln w="12700">
            <a:solidFill>
              <a:schemeClr val="tx2"/>
            </a:solidFill>
            <a:prstDash val="solid"/>
          </a:ln>
        </p:spPr>
      </p:sp>
      <p:sp>
        <p:nvSpPr>
          <p:cNvPr id="7" name="Text 5"/>
          <p:cNvSpPr txBox="1"/>
          <p:nvPr/>
        </p:nvSpPr>
        <p:spPr>
          <a:xfrm>
            <a:off x="685800" y="1481328"/>
            <a:ext cx="3383280" cy="274320"/>
          </a:xfrm>
          <a:prstGeom prst="rect">
            <a:avLst/>
          </a:prstGeom>
          <a:noFill/>
          <a:ln/>
        </p:spPr>
        <p:txBody>
          <a:bodyPr wrap="square" lIns="0" tIns="0" rIns="0" bIns="0" rtlCol="0" anchor="t"/>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PROPOSTA DO PLANO</a:t>
            </a:r>
            <a:endParaRPr lang="en-US" sz="1100" dirty="0"/>
          </a:p>
        </p:txBody>
      </p:sp>
      <p:sp>
        <p:nvSpPr>
          <p:cNvPr id="8" name="Text 6"/>
          <p:cNvSpPr txBox="1"/>
          <p:nvPr/>
        </p:nvSpPr>
        <p:spPr>
          <a:xfrm>
            <a:off x="685800" y="1810512"/>
            <a:ext cx="3429000" cy="137160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O agente cita a decisão anterior, com a fonte certa, em vez de decidir de novo.</a:t>
            </a:r>
            <a:endParaRPr lang="en-US" sz="1600" dirty="0"/>
          </a:p>
        </p:txBody>
      </p:sp>
      <p:sp>
        <p:nvSpPr>
          <p:cNvPr id="9" name="Text 7"/>
          <p:cNvSpPr txBox="1"/>
          <p:nvPr/>
        </p:nvSpPr>
        <p:spPr>
          <a:xfrm>
            <a:off x="685800" y="3520440"/>
            <a:ext cx="3383280" cy="274320"/>
          </a:xfrm>
          <a:prstGeom prst="rect">
            <a:avLst/>
          </a:prstGeom>
          <a:noFill/>
          <a:ln/>
        </p:spPr>
        <p:txBody>
          <a:bodyPr wrap="square" lIns="0" tIns="0" rIns="0" bIns="0" rtlCol="0" anchor="t"/>
          <a:lstStyle/>
          <a:p>
            <a:pPr indent="0" marL="0">
              <a:buNone/>
            </a:pPr>
            <a:r>
              <a:rPr lang="en-US" sz="1100" dirty="0">
                <a:solidFill>
                  <a:schemeClr val="bg2"/>
                </a:solidFill>
                <a:latin typeface="Calibri" pitchFamily="34" charset="0"/>
                <a:ea typeface="Calibri" pitchFamily="34" charset="-122"/>
                <a:cs typeface="Calibri" pitchFamily="34" charset="-120"/>
              </a:rPr>
              <a:t>Requisitos: R7 · R9</a:t>
            </a:r>
            <a:endParaRPr lang="en-US" sz="1100" dirty="0"/>
          </a:p>
        </p:txBody>
      </p:sp>
      <p:sp>
        <p:nvSpPr>
          <p:cNvPr id="10" name="Text 8"/>
          <p:cNvSpPr txBox="1"/>
          <p:nvPr/>
        </p:nvSpPr>
        <p:spPr>
          <a:xfrm>
            <a:off x="4572000" y="1371600"/>
            <a:ext cx="4114800" cy="274320"/>
          </a:xfrm>
          <a:prstGeom prst="rect">
            <a:avLst/>
          </a:prstGeom>
          <a:noFill/>
          <a:ln/>
        </p:spPr>
        <p:txBody>
          <a:bodyPr wrap="square" lIns="0" tIns="0" rIns="0" bIns="0" rtlCol="0" anchor="t"/>
          <a:lstStyle/>
          <a:p>
            <a:pPr indent="0" marL="0">
              <a:buNone/>
            </a:pPr>
            <a:r>
              <a:rPr lang="en-US" sz="1100" b="1" spc="200" kern="0" dirty="0">
                <a:solidFill>
                  <a:schemeClr val="accent4"/>
                </a:solidFill>
                <a:latin typeface="Calibri" pitchFamily="34" charset="0"/>
                <a:ea typeface="Calibri" pitchFamily="34" charset="-122"/>
                <a:cs typeface="Calibri" pitchFamily="34" charset="-120"/>
              </a:rPr>
              <a:t>O QUE FOI ENTREGUE</a:t>
            </a:r>
            <a:endParaRPr lang="en-US" sz="1100" dirty="0"/>
          </a:p>
        </p:txBody>
      </p:sp>
      <p:sp>
        <p:nvSpPr>
          <p:cNvPr id="11" name="Shape 9"/>
          <p:cNvSpPr/>
          <p:nvPr/>
        </p:nvSpPr>
        <p:spPr>
          <a:xfrm>
            <a:off x="4572000" y="1783080"/>
            <a:ext cx="164592" cy="164592"/>
          </a:xfrm>
          <a:prstGeom prst="ellipse">
            <a:avLst/>
          </a:prstGeom>
          <a:solidFill>
            <a:schemeClr val="accent2"/>
          </a:solidFill>
          <a:ln w="12700">
            <a:solidFill>
              <a:schemeClr val="accent2"/>
            </a:solidFill>
            <a:prstDash val="solid"/>
          </a:ln>
        </p:spPr>
      </p:sp>
      <p:sp>
        <p:nvSpPr>
          <p:cNvPr id="12" name="Text 10"/>
          <p:cNvSpPr txBox="1"/>
          <p:nvPr/>
        </p:nvSpPr>
        <p:spPr>
          <a:xfrm>
            <a:off x="4846320" y="1719072"/>
            <a:ext cx="3840480" cy="329184"/>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Medir antes de escolher onde a busca roda</a:t>
            </a:r>
            <a:endParaRPr lang="en-US" sz="1150" dirty="0"/>
          </a:p>
        </p:txBody>
      </p:sp>
      <p:sp>
        <p:nvSpPr>
          <p:cNvPr id="13" name="Shape 11"/>
          <p:cNvSpPr/>
          <p:nvPr/>
        </p:nvSpPr>
        <p:spPr>
          <a:xfrm>
            <a:off x="4572000" y="2112264"/>
            <a:ext cx="164592" cy="164592"/>
          </a:xfrm>
          <a:prstGeom prst="ellipse">
            <a:avLst/>
          </a:prstGeom>
          <a:solidFill>
            <a:schemeClr val="accent2"/>
          </a:solidFill>
          <a:ln w="12700">
            <a:solidFill>
              <a:schemeClr val="accent2"/>
            </a:solidFill>
            <a:prstDash val="solid"/>
          </a:ln>
        </p:spPr>
      </p:sp>
      <p:sp>
        <p:nvSpPr>
          <p:cNvPr id="14" name="Text 12"/>
          <p:cNvSpPr txBox="1"/>
          <p:nvPr/>
        </p:nvSpPr>
        <p:spPr>
          <a:xfrm>
            <a:off x="4846320" y="2048256"/>
            <a:ext cx="3840480" cy="329184"/>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Guardar o histórico a cada alteração</a:t>
            </a:r>
            <a:endParaRPr lang="en-US" sz="1150" dirty="0"/>
          </a:p>
        </p:txBody>
      </p:sp>
      <p:sp>
        <p:nvSpPr>
          <p:cNvPr id="15" name="Shape 13"/>
          <p:cNvSpPr/>
          <p:nvPr/>
        </p:nvSpPr>
        <p:spPr>
          <a:xfrm>
            <a:off x="4572000" y="2441448"/>
            <a:ext cx="164592" cy="164592"/>
          </a:xfrm>
          <a:prstGeom prst="ellipse">
            <a:avLst/>
          </a:prstGeom>
          <a:solidFill>
            <a:schemeClr val="accent2"/>
          </a:solidFill>
          <a:ln w="12700">
            <a:solidFill>
              <a:schemeClr val="accent2"/>
            </a:solidFill>
            <a:prstDash val="solid"/>
          </a:ln>
        </p:spPr>
      </p:sp>
      <p:sp>
        <p:nvSpPr>
          <p:cNvPr id="16" name="Text 14"/>
          <p:cNvSpPr txBox="1"/>
          <p:nvPr/>
        </p:nvSpPr>
        <p:spPr>
          <a:xfrm>
            <a:off x="4846320" y="2377440"/>
            <a:ext cx="3840480" cy="329184"/>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Busca por significado e por termo exato</a:t>
            </a:r>
            <a:endParaRPr lang="en-US" sz="1150" dirty="0"/>
          </a:p>
        </p:txBody>
      </p:sp>
      <p:sp>
        <p:nvSpPr>
          <p:cNvPr id="17" name="Shape 15"/>
          <p:cNvSpPr/>
          <p:nvPr/>
        </p:nvSpPr>
        <p:spPr>
          <a:xfrm>
            <a:off x="4572000" y="2770632"/>
            <a:ext cx="164592" cy="164592"/>
          </a:xfrm>
          <a:prstGeom prst="ellipse">
            <a:avLst/>
          </a:prstGeom>
          <a:solidFill>
            <a:schemeClr val="accent2"/>
          </a:solidFill>
          <a:ln w="12700">
            <a:solidFill>
              <a:schemeClr val="accent2"/>
            </a:solidFill>
            <a:prstDash val="solid"/>
          </a:ln>
        </p:spPr>
      </p:sp>
      <p:sp>
        <p:nvSpPr>
          <p:cNvPr id="18" name="Text 16"/>
          <p:cNvSpPr txBox="1"/>
          <p:nvPr/>
        </p:nvSpPr>
        <p:spPr>
          <a:xfrm>
            <a:off x="4846320" y="2706624"/>
            <a:ext cx="3840480" cy="329184"/>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Entregar o contexto com a fonte citada</a:t>
            </a:r>
            <a:endParaRPr lang="en-US" sz="1150" dirty="0"/>
          </a:p>
        </p:txBody>
      </p:sp>
      <p:sp>
        <p:nvSpPr>
          <p:cNvPr id="19" name="Shape 17"/>
          <p:cNvSpPr/>
          <p:nvPr/>
        </p:nvSpPr>
        <p:spPr>
          <a:xfrm>
            <a:off x="4572000" y="3099816"/>
            <a:ext cx="164592" cy="164592"/>
          </a:xfrm>
          <a:prstGeom prst="ellipse">
            <a:avLst/>
          </a:prstGeom>
          <a:solidFill>
            <a:schemeClr val="accent2"/>
          </a:solidFill>
          <a:ln w="12700">
            <a:solidFill>
              <a:schemeClr val="accent2"/>
            </a:solidFill>
            <a:prstDash val="solid"/>
          </a:ln>
        </p:spPr>
      </p:sp>
      <p:sp>
        <p:nvSpPr>
          <p:cNvPr id="20" name="Text 18"/>
          <p:cNvSpPr txBox="1"/>
          <p:nvPr/>
        </p:nvSpPr>
        <p:spPr>
          <a:xfrm>
            <a:off x="4846320" y="3035808"/>
            <a:ext cx="3840480" cy="329184"/>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Avaliar a qualidade da busca</a:t>
            </a:r>
            <a:endParaRPr lang="en-US" sz="1150" dirty="0"/>
          </a:p>
        </p:txBody>
      </p:sp>
      <p:sp>
        <p:nvSpPr>
          <p:cNvPr id="21" name="Shape 19"/>
          <p:cNvSpPr/>
          <p:nvPr/>
        </p:nvSpPr>
        <p:spPr>
          <a:xfrm>
            <a:off x="4572000" y="3429000"/>
            <a:ext cx="164592" cy="164592"/>
          </a:xfrm>
          <a:prstGeom prst="ellipse">
            <a:avLst/>
          </a:prstGeom>
          <a:solidFill>
            <a:schemeClr val="accent3"/>
          </a:solidFill>
          <a:ln w="12700">
            <a:solidFill>
              <a:schemeClr val="accent3"/>
            </a:solidFill>
            <a:prstDash val="solid"/>
          </a:ln>
        </p:spPr>
      </p:sp>
      <p:sp>
        <p:nvSpPr>
          <p:cNvPr id="22" name="Text 20"/>
          <p:cNvSpPr txBox="1"/>
          <p:nvPr/>
        </p:nvSpPr>
        <p:spPr>
          <a:xfrm>
            <a:off x="4846320" y="3364992"/>
            <a:ext cx="3840480" cy="329184"/>
          </a:xfrm>
          <a:prstGeom prst="rect">
            <a:avLst/>
          </a:prstGeom>
          <a:noFill/>
          <a:ln/>
        </p:spPr>
        <p:txBody>
          <a:bodyPr wrap="square" lIns="0" tIns="0" rIns="0" bIns="0" rtlCol="0" anchor="ctr"/>
          <a:lstStyle/>
          <a:p>
            <a:pPr indent="0" marL="0">
              <a:buNone/>
            </a:pPr>
            <a:r>
              <a:rPr lang="en-US" sz="1150" b="1" dirty="0">
                <a:solidFill>
                  <a:schemeClr val="tx1"/>
                </a:solidFill>
                <a:latin typeface="Calibri" pitchFamily="34" charset="0"/>
                <a:ea typeface="Calibri" pitchFamily="34" charset="-122"/>
                <a:cs typeface="Calibri" pitchFamily="34" charset="-120"/>
              </a:rPr>
              <a:t>Marco: o agente cita a decisão anterior</a:t>
            </a:r>
            <a:endParaRPr lang="en-US" sz="1150" dirty="0"/>
          </a:p>
        </p:txBody>
      </p:sp>
      <p:sp>
        <p:nvSpPr>
          <p:cNvPr id="23" name="Text 21"/>
          <p:cNvSpPr txBox="1"/>
          <p:nvPr/>
        </p:nvSpPr>
        <p:spPr>
          <a:xfrm>
            <a:off x="457200" y="4160520"/>
            <a:ext cx="1280160" cy="3200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5/6 </a:t>
            </a:r>
            <a:pPr indent="0" marL="0">
              <a:buNone/>
            </a:pPr>
            <a:r>
              <a:rPr lang="en-US" sz="1100" dirty="0">
                <a:solidFill>
                  <a:schemeClr val="accent5"/>
                </a:solidFill>
                <a:latin typeface="Calibri" pitchFamily="34" charset="0"/>
                <a:ea typeface="Calibri" pitchFamily="34" charset="-122"/>
                <a:cs typeface="Calibri" pitchFamily="34" charset="-120"/>
              </a:rPr>
              <a:t>tarefas</a:t>
            </a:r>
            <a:endParaRPr lang="en-US" sz="1400" dirty="0"/>
          </a:p>
        </p:txBody>
      </p:sp>
      <p:sp>
        <p:nvSpPr>
          <p:cNvPr id="24" name="Text 22"/>
          <p:cNvSpPr txBox="1"/>
          <p:nvPr/>
        </p:nvSpPr>
        <p:spPr>
          <a:xfrm>
            <a:off x="1783080" y="4160520"/>
            <a:ext cx="1280160" cy="3200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1.080 </a:t>
            </a:r>
            <a:pPr indent="0" marL="0">
              <a:buNone/>
            </a:pPr>
            <a:r>
              <a:rPr lang="en-US" sz="1100" dirty="0">
                <a:solidFill>
                  <a:schemeClr val="accent5"/>
                </a:solidFill>
                <a:latin typeface="Calibri" pitchFamily="34" charset="0"/>
                <a:ea typeface="Calibri" pitchFamily="34" charset="-122"/>
                <a:cs typeface="Calibri" pitchFamily="34" charset="-120"/>
              </a:rPr>
              <a:t>testes</a:t>
            </a:r>
            <a:endParaRPr lang="en-US" sz="1400" dirty="0"/>
          </a:p>
        </p:txBody>
      </p:sp>
      <p:sp>
        <p:nvSpPr>
          <p:cNvPr id="25" name="Text 23"/>
          <p:cNvSpPr txBox="1"/>
          <p:nvPr/>
        </p:nvSpPr>
        <p:spPr>
          <a:xfrm>
            <a:off x="3108960" y="4160520"/>
            <a:ext cx="1280160" cy="3200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9 </a:t>
            </a:r>
            <a:pPr indent="0" marL="0">
              <a:buNone/>
            </a:pPr>
            <a:r>
              <a:rPr lang="en-US" sz="1100" dirty="0">
                <a:solidFill>
                  <a:schemeClr val="accent5"/>
                </a:solidFill>
                <a:latin typeface="Calibri" pitchFamily="34" charset="0"/>
                <a:ea typeface="Calibri" pitchFamily="34" charset="-122"/>
                <a:cs typeface="Calibri" pitchFamily="34" charset="-120"/>
              </a:rPr>
              <a:t>commits</a:t>
            </a:r>
            <a:endParaRPr lang="en-US" sz="1400" dirty="0"/>
          </a:p>
        </p:txBody>
      </p:sp>
      <p:sp>
        <p:nvSpPr>
          <p:cNvPr id="26" name="Text 24"/>
          <p:cNvSpPr txBox="1"/>
          <p:nvPr/>
        </p:nvSpPr>
        <p:spPr>
          <a:xfrm>
            <a:off x="4480560" y="4114800"/>
            <a:ext cx="4206240" cy="457200"/>
          </a:xfrm>
          <a:prstGeom prst="rect">
            <a:avLst/>
          </a:prstGeom>
          <a:noFill/>
          <a:ln/>
        </p:spPr>
        <p:txBody>
          <a:bodyPr wrap="square" lIns="0" tIns="0" rIns="0" bIns="0" rtlCol="0" anchor="ctr"/>
          <a:lstStyle/>
          <a:p>
            <a:pPr indent="0" marL="0">
              <a:buNone/>
            </a:pPr>
            <a:r>
              <a:rPr lang="en-US" sz="950" b="1" dirty="0">
                <a:solidFill>
                  <a:schemeClr val="tx1"/>
                </a:solidFill>
                <a:latin typeface="Calibri" pitchFamily="34" charset="0"/>
                <a:ea typeface="Calibri" pitchFamily="34" charset="-122"/>
                <a:cs typeface="Calibri" pitchFamily="34" charset="-120"/>
              </a:rPr>
              <a:t>Prova: </a:t>
            </a:r>
            <a:pPr indent="0" marL="0">
              <a:buNone/>
            </a:pPr>
            <a:r>
              <a:rPr lang="en-US" sz="950" dirty="0">
                <a:solidFill>
                  <a:schemeClr val="tx1"/>
                </a:solidFill>
                <a:latin typeface="Calibri" pitchFamily="34" charset="0"/>
                <a:ea typeface="Calibri" pitchFamily="34" charset="-122"/>
                <a:cs typeface="Calibri" pitchFamily="34" charset="-120"/>
              </a:rPr>
              <a:t>mix test test/factory/memory/ — busca, contexto, ingestão e avaliação.</a:t>
            </a:r>
            <a:endParaRPr lang="en-US" sz="9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96A3"/>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E7 — Painel e automação</a:t>
            </a:r>
            <a:endParaRPr lang="en-US" sz="2800" dirty="0"/>
          </a:p>
        </p:txBody>
      </p:sp>
      <p:sp>
        <p:nvSpPr>
          <p:cNvPr id="3" name="Text 1"/>
          <p:cNvSpPr txBox="1"/>
          <p:nvPr/>
        </p:nvSpPr>
        <p:spPr>
          <a:xfrm>
            <a:off x="457200" y="914400"/>
            <a:ext cx="5486400" cy="274320"/>
          </a:xfrm>
          <a:prstGeom prst="rect">
            <a:avLst/>
          </a:prstGeom>
          <a:noFill/>
          <a:ln/>
        </p:spPr>
        <p:txBody>
          <a:bodyPr wrap="square" lIns="0" tIns="0" rIns="0" bIns="0" rtlCol="0" anchor="t"/>
          <a:lstStyle/>
          <a:p>
            <a:pPr indent="0" marL="0">
              <a:buNone/>
            </a:pPr>
            <a:r>
              <a:rPr lang="en-US" sz="1100" dirty="0">
                <a:solidFill>
                  <a:schemeClr val="accent5"/>
                </a:solidFill>
                <a:latin typeface="Calibri" pitchFamily="34" charset="0"/>
                <a:ea typeface="Calibri" pitchFamily="34" charset="-122"/>
                <a:cs typeface="Calibri" pitchFamily="34" charset="-120"/>
              </a:rPr>
              <a:t>03/12 – 17/12/2026  ·  branch etapa/e7-painel</a:t>
            </a:r>
            <a:endParaRPr lang="en-US" sz="1100" dirty="0"/>
          </a:p>
        </p:txBody>
      </p:sp>
      <p:sp>
        <p:nvSpPr>
          <p:cNvPr id="4" name="Shape 2"/>
          <p:cNvSpPr/>
          <p:nvPr/>
        </p:nvSpPr>
        <p:spPr>
          <a:xfrm>
            <a:off x="6675120" y="914400"/>
            <a:ext cx="2011680" cy="292608"/>
          </a:xfrm>
          <a:prstGeom prst="roundRect">
            <a:avLst>
              <a:gd name="adj" fmla="val 50000"/>
            </a:avLst>
          </a:prstGeom>
          <a:solidFill>
            <a:schemeClr val="accent1"/>
          </a:solidFill>
          <a:ln w="12700">
            <a:solidFill>
              <a:schemeClr val="accent1"/>
            </a:solidFill>
            <a:prstDash val="solid"/>
          </a:ln>
        </p:spPr>
      </p:sp>
      <p:sp>
        <p:nvSpPr>
          <p:cNvPr id="5" name="Text 3"/>
          <p:cNvSpPr txBox="1"/>
          <p:nvPr/>
        </p:nvSpPr>
        <p:spPr>
          <a:xfrm>
            <a:off x="6675120" y="914400"/>
            <a:ext cx="201168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Em andamento</a:t>
            </a:r>
            <a:endParaRPr lang="en-US" sz="1100" dirty="0"/>
          </a:p>
        </p:txBody>
      </p:sp>
      <p:sp>
        <p:nvSpPr>
          <p:cNvPr id="6" name="proposta-7"/>
          <p:cNvSpPr/>
          <p:nvPr/>
        </p:nvSpPr>
        <p:spPr>
          <a:xfrm>
            <a:off x="457200" y="1325880"/>
            <a:ext cx="3840480" cy="2697480"/>
          </a:xfrm>
          <a:prstGeom prst="roundRect">
            <a:avLst>
              <a:gd name="adj" fmla="val 2712"/>
            </a:avLst>
          </a:prstGeom>
          <a:solidFill>
            <a:schemeClr val="tx2"/>
          </a:solidFill>
          <a:ln w="12700">
            <a:solidFill>
              <a:schemeClr val="tx2"/>
            </a:solidFill>
            <a:prstDash val="solid"/>
          </a:ln>
        </p:spPr>
      </p:sp>
      <p:sp>
        <p:nvSpPr>
          <p:cNvPr id="7" name="Text 5"/>
          <p:cNvSpPr txBox="1"/>
          <p:nvPr/>
        </p:nvSpPr>
        <p:spPr>
          <a:xfrm>
            <a:off x="685800" y="1481328"/>
            <a:ext cx="3383280" cy="274320"/>
          </a:xfrm>
          <a:prstGeom prst="rect">
            <a:avLst/>
          </a:prstGeom>
          <a:noFill/>
          <a:ln/>
        </p:spPr>
        <p:txBody>
          <a:bodyPr wrap="square" lIns="0" tIns="0" rIns="0" bIns="0" rtlCol="0" anchor="t"/>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PROPOSTA DO PLANO</a:t>
            </a:r>
            <a:endParaRPr lang="en-US" sz="1100" dirty="0"/>
          </a:p>
        </p:txBody>
      </p:sp>
      <p:sp>
        <p:nvSpPr>
          <p:cNvPr id="8" name="Text 6"/>
          <p:cNvSpPr txBox="1"/>
          <p:nvPr/>
        </p:nvSpPr>
        <p:spPr>
          <a:xfrm>
            <a:off x="685800" y="1810512"/>
            <a:ext cx="3429000" cy="137160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Um projeto inteiro acompanhado na tela, do pedido à entrega, com o custo em tempo real.</a:t>
            </a:r>
            <a:endParaRPr lang="en-US" sz="1600" dirty="0"/>
          </a:p>
        </p:txBody>
      </p:sp>
      <p:sp>
        <p:nvSpPr>
          <p:cNvPr id="9" name="Text 7"/>
          <p:cNvSpPr txBox="1"/>
          <p:nvPr/>
        </p:nvSpPr>
        <p:spPr>
          <a:xfrm>
            <a:off x="685800" y="3520440"/>
            <a:ext cx="3383280" cy="274320"/>
          </a:xfrm>
          <a:prstGeom prst="rect">
            <a:avLst/>
          </a:prstGeom>
          <a:noFill/>
          <a:ln/>
        </p:spPr>
        <p:txBody>
          <a:bodyPr wrap="square" lIns="0" tIns="0" rIns="0" bIns="0" rtlCol="0" anchor="t"/>
          <a:lstStyle/>
          <a:p>
            <a:pPr indent="0" marL="0">
              <a:buNone/>
            </a:pPr>
            <a:r>
              <a:rPr lang="en-US" sz="1100" dirty="0">
                <a:solidFill>
                  <a:schemeClr val="bg2"/>
                </a:solidFill>
                <a:latin typeface="Calibri" pitchFamily="34" charset="0"/>
                <a:ea typeface="Calibri" pitchFamily="34" charset="-122"/>
                <a:cs typeface="Calibri" pitchFamily="34" charset="-120"/>
              </a:rPr>
              <a:t>Requisitos: R8</a:t>
            </a:r>
            <a:endParaRPr lang="en-US" sz="1100" dirty="0"/>
          </a:p>
        </p:txBody>
      </p:sp>
      <p:sp>
        <p:nvSpPr>
          <p:cNvPr id="10" name="Text 8"/>
          <p:cNvSpPr txBox="1"/>
          <p:nvPr/>
        </p:nvSpPr>
        <p:spPr>
          <a:xfrm>
            <a:off x="4572000" y="1371600"/>
            <a:ext cx="4114800" cy="274320"/>
          </a:xfrm>
          <a:prstGeom prst="rect">
            <a:avLst/>
          </a:prstGeom>
          <a:noFill/>
          <a:ln/>
        </p:spPr>
        <p:txBody>
          <a:bodyPr wrap="square" lIns="0" tIns="0" rIns="0" bIns="0" rtlCol="0" anchor="t"/>
          <a:lstStyle/>
          <a:p>
            <a:pPr indent="0" marL="0">
              <a:buNone/>
            </a:pPr>
            <a:r>
              <a:rPr lang="en-US" sz="1100" b="1" spc="200" kern="0" dirty="0">
                <a:solidFill>
                  <a:schemeClr val="accent4"/>
                </a:solidFill>
                <a:latin typeface="Calibri" pitchFamily="34" charset="0"/>
                <a:ea typeface="Calibri" pitchFamily="34" charset="-122"/>
                <a:cs typeface="Calibri" pitchFamily="34" charset="-120"/>
              </a:rPr>
              <a:t>O QUE FOI ENTREGUE</a:t>
            </a:r>
            <a:endParaRPr lang="en-US" sz="1100" dirty="0"/>
          </a:p>
        </p:txBody>
      </p:sp>
      <p:sp>
        <p:nvSpPr>
          <p:cNvPr id="11" name="Shape 9"/>
          <p:cNvSpPr/>
          <p:nvPr/>
        </p:nvSpPr>
        <p:spPr>
          <a:xfrm>
            <a:off x="4572000" y="1783080"/>
            <a:ext cx="164592" cy="164592"/>
          </a:xfrm>
          <a:prstGeom prst="ellipse">
            <a:avLst/>
          </a:prstGeom>
          <a:solidFill>
            <a:schemeClr val="accent2"/>
          </a:solidFill>
          <a:ln w="12700">
            <a:solidFill>
              <a:schemeClr val="accent2"/>
            </a:solidFill>
            <a:prstDash val="solid"/>
          </a:ln>
        </p:spPr>
      </p:sp>
      <p:sp>
        <p:nvSpPr>
          <p:cNvPr id="12" name="Text 10"/>
          <p:cNvSpPr txBox="1"/>
          <p:nvPr/>
        </p:nvSpPr>
        <p:spPr>
          <a:xfrm>
            <a:off x="4846320" y="1719072"/>
            <a:ext cx="3840480" cy="291465"/>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Medidas de cada execução</a:t>
            </a:r>
            <a:endParaRPr lang="en-US" sz="1050" dirty="0"/>
          </a:p>
        </p:txBody>
      </p:sp>
      <p:sp>
        <p:nvSpPr>
          <p:cNvPr id="13" name="Shape 11"/>
          <p:cNvSpPr/>
          <p:nvPr/>
        </p:nvSpPr>
        <p:spPr>
          <a:xfrm>
            <a:off x="4572000" y="2074545"/>
            <a:ext cx="164592" cy="164592"/>
          </a:xfrm>
          <a:prstGeom prst="ellipse">
            <a:avLst/>
          </a:prstGeom>
          <a:solidFill>
            <a:schemeClr val="accent2"/>
          </a:solidFill>
          <a:ln w="12700">
            <a:solidFill>
              <a:schemeClr val="accent2"/>
            </a:solidFill>
            <a:prstDash val="solid"/>
          </a:ln>
        </p:spPr>
      </p:sp>
      <p:sp>
        <p:nvSpPr>
          <p:cNvPr id="14" name="Text 12"/>
          <p:cNvSpPr txBox="1"/>
          <p:nvPr/>
        </p:nvSpPr>
        <p:spPr>
          <a:xfrm>
            <a:off x="4846320" y="2010537"/>
            <a:ext cx="3840480" cy="291465"/>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Quadro de tarefas e console ao vivo, com custo</a:t>
            </a:r>
            <a:endParaRPr lang="en-US" sz="1050" dirty="0"/>
          </a:p>
        </p:txBody>
      </p:sp>
      <p:sp>
        <p:nvSpPr>
          <p:cNvPr id="15" name="Shape 13"/>
          <p:cNvSpPr/>
          <p:nvPr/>
        </p:nvSpPr>
        <p:spPr>
          <a:xfrm>
            <a:off x="4572000" y="2366010"/>
            <a:ext cx="164592" cy="164592"/>
          </a:xfrm>
          <a:prstGeom prst="ellipse">
            <a:avLst/>
          </a:prstGeom>
          <a:solidFill>
            <a:schemeClr val="accent2"/>
          </a:solidFill>
          <a:ln w="12700">
            <a:solidFill>
              <a:schemeClr val="accent2"/>
            </a:solidFill>
            <a:prstDash val="solid"/>
          </a:ln>
        </p:spPr>
      </p:sp>
      <p:sp>
        <p:nvSpPr>
          <p:cNvPr id="16" name="Text 14"/>
          <p:cNvSpPr txBox="1"/>
          <p:nvPr/>
        </p:nvSpPr>
        <p:spPr>
          <a:xfrm>
            <a:off x="4846320" y="2302002"/>
            <a:ext cx="3840480" cy="291465"/>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Parar e retomar</a:t>
            </a:r>
            <a:endParaRPr lang="en-US" sz="1050" dirty="0"/>
          </a:p>
        </p:txBody>
      </p:sp>
      <p:sp>
        <p:nvSpPr>
          <p:cNvPr id="17" name="Shape 15"/>
          <p:cNvSpPr/>
          <p:nvPr/>
        </p:nvSpPr>
        <p:spPr>
          <a:xfrm>
            <a:off x="4572000" y="2657475"/>
            <a:ext cx="164592" cy="164592"/>
          </a:xfrm>
          <a:prstGeom prst="ellipse">
            <a:avLst/>
          </a:prstGeom>
          <a:solidFill>
            <a:schemeClr val="accent2"/>
          </a:solidFill>
          <a:ln w="12700">
            <a:solidFill>
              <a:schemeClr val="accent2"/>
            </a:solidFill>
            <a:prstDash val="solid"/>
          </a:ln>
        </p:spPr>
      </p:sp>
      <p:sp>
        <p:nvSpPr>
          <p:cNvPr id="18" name="Text 16"/>
          <p:cNvSpPr txBox="1"/>
          <p:nvPr/>
        </p:nvSpPr>
        <p:spPr>
          <a:xfrm>
            <a:off x="4846320" y="2593467"/>
            <a:ext cx="3840480" cy="291465"/>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Rodadas automáticas com teto de gasto</a:t>
            </a:r>
            <a:endParaRPr lang="en-US" sz="1050" dirty="0"/>
          </a:p>
        </p:txBody>
      </p:sp>
      <p:sp>
        <p:nvSpPr>
          <p:cNvPr id="19" name="Shape 17"/>
          <p:cNvSpPr/>
          <p:nvPr/>
        </p:nvSpPr>
        <p:spPr>
          <a:xfrm>
            <a:off x="4572000" y="2948940"/>
            <a:ext cx="164592" cy="164592"/>
          </a:xfrm>
          <a:prstGeom prst="ellipse">
            <a:avLst/>
          </a:prstGeom>
          <a:solidFill>
            <a:schemeClr val="accent2"/>
          </a:solidFill>
          <a:ln w="12700">
            <a:solidFill>
              <a:schemeClr val="accent2"/>
            </a:solidFill>
            <a:prstDash val="solid"/>
          </a:ln>
        </p:spPr>
      </p:sp>
      <p:sp>
        <p:nvSpPr>
          <p:cNvPr id="20" name="Text 18"/>
          <p:cNvSpPr txBox="1"/>
          <p:nvPr/>
        </p:nvSpPr>
        <p:spPr>
          <a:xfrm>
            <a:off x="4846320" y="2884932"/>
            <a:ext cx="3840480" cy="291465"/>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Entregas que não são código</a:t>
            </a:r>
            <a:endParaRPr lang="en-US" sz="1050" dirty="0"/>
          </a:p>
        </p:txBody>
      </p:sp>
      <p:sp>
        <p:nvSpPr>
          <p:cNvPr id="21" name="Shape 19"/>
          <p:cNvSpPr/>
          <p:nvPr/>
        </p:nvSpPr>
        <p:spPr>
          <a:xfrm>
            <a:off x="4572000" y="3240405"/>
            <a:ext cx="164592" cy="164592"/>
          </a:xfrm>
          <a:prstGeom prst="ellipse">
            <a:avLst/>
          </a:prstGeom>
          <a:solidFill>
            <a:schemeClr val="accent2"/>
          </a:solidFill>
          <a:ln w="12700">
            <a:solidFill>
              <a:schemeClr val="accent2"/>
            </a:solidFill>
            <a:prstDash val="solid"/>
          </a:ln>
        </p:spPr>
      </p:sp>
      <p:sp>
        <p:nvSpPr>
          <p:cNvPr id="22" name="Text 20"/>
          <p:cNvSpPr txBox="1"/>
          <p:nvPr/>
        </p:nvSpPr>
        <p:spPr>
          <a:xfrm>
            <a:off x="4846320" y="3176397"/>
            <a:ext cx="3840480" cy="291465"/>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Busca de segredos antes de publicar</a:t>
            </a:r>
            <a:endParaRPr lang="en-US" sz="1050" dirty="0"/>
          </a:p>
        </p:txBody>
      </p:sp>
      <p:sp>
        <p:nvSpPr>
          <p:cNvPr id="23" name="Shape 21"/>
          <p:cNvSpPr/>
          <p:nvPr/>
        </p:nvSpPr>
        <p:spPr>
          <a:xfrm>
            <a:off x="4572000" y="3531870"/>
            <a:ext cx="164592" cy="164592"/>
          </a:xfrm>
          <a:prstGeom prst="ellipse">
            <a:avLst/>
          </a:prstGeom>
          <a:solidFill>
            <a:schemeClr val="accent2"/>
          </a:solidFill>
          <a:ln w="12700">
            <a:solidFill>
              <a:schemeClr val="accent2"/>
            </a:solidFill>
            <a:prstDash val="solid"/>
          </a:ln>
        </p:spPr>
      </p:sp>
      <p:sp>
        <p:nvSpPr>
          <p:cNvPr id="24" name="Text 22"/>
          <p:cNvSpPr txBox="1"/>
          <p:nvPr/>
        </p:nvSpPr>
        <p:spPr>
          <a:xfrm>
            <a:off x="4846320" y="3467862"/>
            <a:ext cx="3840480" cy="291465"/>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O agente real de ponta a ponta</a:t>
            </a:r>
            <a:endParaRPr lang="en-US" sz="1050" dirty="0"/>
          </a:p>
        </p:txBody>
      </p:sp>
      <p:sp>
        <p:nvSpPr>
          <p:cNvPr id="25" name="Shape 23"/>
          <p:cNvSpPr/>
          <p:nvPr/>
        </p:nvSpPr>
        <p:spPr>
          <a:xfrm>
            <a:off x="4572000" y="3823335"/>
            <a:ext cx="164592" cy="164592"/>
          </a:xfrm>
          <a:prstGeom prst="ellipse">
            <a:avLst/>
          </a:prstGeom>
          <a:solidFill>
            <a:schemeClr val="accent1"/>
          </a:solidFill>
          <a:ln w="12700">
            <a:solidFill>
              <a:schemeClr val="accent1"/>
            </a:solidFill>
            <a:prstDash val="solid"/>
          </a:ln>
        </p:spPr>
      </p:sp>
      <p:sp>
        <p:nvSpPr>
          <p:cNvPr id="26" name="Text 24"/>
          <p:cNvSpPr txBox="1"/>
          <p:nvPr/>
        </p:nvSpPr>
        <p:spPr>
          <a:xfrm>
            <a:off x="4846320" y="3759327"/>
            <a:ext cx="3840480" cy="291465"/>
          </a:xfrm>
          <a:prstGeom prst="rect">
            <a:avLst/>
          </a:prstGeom>
          <a:noFill/>
          <a:ln/>
        </p:spPr>
        <p:txBody>
          <a:bodyPr wrap="square" lIns="0" tIns="0" rIns="0" bIns="0" rtlCol="0" anchor="ctr"/>
          <a:lstStyle/>
          <a:p>
            <a:pPr indent="0" marL="0">
              <a:buNone/>
            </a:pPr>
            <a:r>
              <a:rPr lang="en-US" sz="1050" b="1" dirty="0">
                <a:solidFill>
                  <a:schemeClr val="tx1"/>
                </a:solidFill>
                <a:latin typeface="Calibri" pitchFamily="34" charset="0"/>
                <a:ea typeface="Calibri" pitchFamily="34" charset="-122"/>
                <a:cs typeface="Calibri" pitchFamily="34" charset="-120"/>
              </a:rPr>
              <a:t>Marco: um projeto inteiro, sem intervenção, acompanhado na tela</a:t>
            </a:r>
            <a:endParaRPr lang="en-US" sz="1050" dirty="0"/>
          </a:p>
        </p:txBody>
      </p:sp>
      <p:sp>
        <p:nvSpPr>
          <p:cNvPr id="27" name="Text 25"/>
          <p:cNvSpPr txBox="1"/>
          <p:nvPr/>
        </p:nvSpPr>
        <p:spPr>
          <a:xfrm>
            <a:off x="457200" y="4160520"/>
            <a:ext cx="1280160" cy="3200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7/8 </a:t>
            </a:r>
            <a:pPr indent="0" marL="0">
              <a:buNone/>
            </a:pPr>
            <a:r>
              <a:rPr lang="en-US" sz="1100" dirty="0">
                <a:solidFill>
                  <a:schemeClr val="accent5"/>
                </a:solidFill>
                <a:latin typeface="Calibri" pitchFamily="34" charset="0"/>
                <a:ea typeface="Calibri" pitchFamily="34" charset="-122"/>
                <a:cs typeface="Calibri" pitchFamily="34" charset="-120"/>
              </a:rPr>
              <a:t>tarefas</a:t>
            </a:r>
            <a:endParaRPr lang="en-US" sz="1400" dirty="0"/>
          </a:p>
        </p:txBody>
      </p:sp>
      <p:sp>
        <p:nvSpPr>
          <p:cNvPr id="28" name="Text 26"/>
          <p:cNvSpPr txBox="1"/>
          <p:nvPr/>
        </p:nvSpPr>
        <p:spPr>
          <a:xfrm>
            <a:off x="1783080" y="4160520"/>
            <a:ext cx="1280160" cy="3200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1.220 </a:t>
            </a:r>
            <a:pPr indent="0" marL="0">
              <a:buNone/>
            </a:pPr>
            <a:r>
              <a:rPr lang="en-US" sz="1100" dirty="0">
                <a:solidFill>
                  <a:schemeClr val="accent5"/>
                </a:solidFill>
                <a:latin typeface="Calibri" pitchFamily="34" charset="0"/>
                <a:ea typeface="Calibri" pitchFamily="34" charset="-122"/>
                <a:cs typeface="Calibri" pitchFamily="34" charset="-120"/>
              </a:rPr>
              <a:t>testes</a:t>
            </a:r>
            <a:endParaRPr lang="en-US" sz="1400" dirty="0"/>
          </a:p>
        </p:txBody>
      </p:sp>
      <p:sp>
        <p:nvSpPr>
          <p:cNvPr id="29" name="Text 27"/>
          <p:cNvSpPr txBox="1"/>
          <p:nvPr/>
        </p:nvSpPr>
        <p:spPr>
          <a:xfrm>
            <a:off x="3108960" y="4160520"/>
            <a:ext cx="1280160" cy="32004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14 </a:t>
            </a:r>
            <a:pPr indent="0" marL="0">
              <a:buNone/>
            </a:pPr>
            <a:r>
              <a:rPr lang="en-US" sz="1100" dirty="0">
                <a:solidFill>
                  <a:schemeClr val="accent5"/>
                </a:solidFill>
                <a:latin typeface="Calibri" pitchFamily="34" charset="0"/>
                <a:ea typeface="Calibri" pitchFamily="34" charset="-122"/>
                <a:cs typeface="Calibri" pitchFamily="34" charset="-120"/>
              </a:rPr>
              <a:t>commits</a:t>
            </a:r>
            <a:endParaRPr lang="en-US" sz="1400" dirty="0"/>
          </a:p>
        </p:txBody>
      </p:sp>
      <p:sp>
        <p:nvSpPr>
          <p:cNvPr id="30" name="Text 28"/>
          <p:cNvSpPr txBox="1"/>
          <p:nvPr/>
        </p:nvSpPr>
        <p:spPr>
          <a:xfrm>
            <a:off x="4480560" y="4114800"/>
            <a:ext cx="4206240" cy="457200"/>
          </a:xfrm>
          <a:prstGeom prst="rect">
            <a:avLst/>
          </a:prstGeom>
          <a:noFill/>
          <a:ln/>
        </p:spPr>
        <p:txBody>
          <a:bodyPr wrap="square" lIns="0" tIns="0" rIns="0" bIns="0" rtlCol="0" anchor="ctr"/>
          <a:lstStyle/>
          <a:p>
            <a:pPr indent="0" marL="0">
              <a:buNone/>
            </a:pPr>
            <a:r>
              <a:rPr lang="en-US" sz="950" b="1" dirty="0">
                <a:solidFill>
                  <a:schemeClr val="tx1"/>
                </a:solidFill>
                <a:latin typeface="Calibri" pitchFamily="34" charset="0"/>
                <a:ea typeface="Calibri" pitchFamily="34" charset="-122"/>
                <a:cs typeface="Calibri" pitchFamily="34" charset="-120"/>
              </a:rPr>
              <a:t>Prova: </a:t>
            </a:r>
            <a:pPr indent="0" marL="0">
              <a:buNone/>
            </a:pPr>
            <a:r>
              <a:rPr lang="en-US" sz="950" dirty="0">
                <a:solidFill>
                  <a:schemeClr val="tx1"/>
                </a:solidFill>
                <a:latin typeface="Calibri" pitchFamily="34" charset="0"/>
                <a:ea typeface="Calibri" pitchFamily="34" charset="-122"/>
                <a:cs typeface="Calibri" pitchFamily="34" charset="-120"/>
              </a:rPr>
              <a:t>mix phx.server → /board e /console; testes em test/factory_web/ e test/factory/autopilot/.</a:t>
            </a:r>
            <a:endParaRPr lang="en-US" sz="9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96A3"/>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O sistema cresce etapa por etapa</a:t>
            </a:r>
            <a:endParaRPr lang="en-US" sz="2800" dirty="0"/>
          </a:p>
        </p:txBody>
      </p:sp>
      <p:graphicFrame>
        <p:nvGraphicFramePr>
          <p:cNvPr id="3" name="Chart 0" descr=""/>
          <p:cNvGraphicFramePr/>
          <p:nvPr/>
        </p:nvGraphicFramePr>
        <p:xfrm>
          <a:off x="457200" y="1051560"/>
          <a:ext cx="402336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663440" y="1051560"/>
          <a:ext cx="4023360" cy="329184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96A3"/>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Entregas por etapa: tarefas e commits</a:t>
            </a:r>
            <a:endParaRPr lang="en-US" sz="2800" dirty="0"/>
          </a:p>
        </p:txBody>
      </p:sp>
      <p:graphicFrame>
        <p:nvGraphicFramePr>
          <p:cNvPr id="3" name="Chart 0" descr=""/>
          <p:cNvGraphicFramePr/>
          <p:nvPr/>
        </p:nvGraphicFramePr>
        <p:xfrm>
          <a:off x="457200" y="1051560"/>
          <a:ext cx="4023360" cy="30175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663440" y="1051560"/>
          <a:ext cx="4023360" cy="301752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457200" y="4160520"/>
            <a:ext cx="8229600" cy="457200"/>
          </a:xfrm>
          <a:prstGeom prst="rect">
            <a:avLst/>
          </a:prstGeom>
          <a:noFill/>
          <a:ln/>
        </p:spPr>
        <p:txBody>
          <a:bodyPr wrap="square" lIns="0" tIns="0" rIns="0" bIns="0" rtlCol="0" anchor="t"/>
          <a:lstStyle/>
          <a:p>
            <a:pPr indent="0" marL="0">
              <a:buNone/>
            </a:pPr>
            <a:r>
              <a:rPr lang="en-US" sz="1100" dirty="0">
                <a:solidFill>
                  <a:schemeClr val="accent5"/>
                </a:solidFill>
                <a:latin typeface="Calibri" pitchFamily="34" charset="0"/>
                <a:ea typeface="Calibri" pitchFamily="34" charset="-122"/>
                <a:cs typeface="Calibri" pitchFamily="34" charset="-120"/>
              </a:rPr>
              <a:t>Cada tarefa corresponde a um pacote do plano; cada commit entrega um passo de uma tarefa, sempre com a verificação completa verde.</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96A3"/>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Requisitos: 11 atendidos, 3 parciais, 1 pendente</a:t>
            </a:r>
            <a:endParaRPr lang="en-US" sz="2800" dirty="0"/>
          </a:p>
        </p:txBody>
      </p:sp>
      <p:sp>
        <p:nvSpPr>
          <p:cNvPr id="3" name="Shape 1"/>
          <p:cNvSpPr/>
          <p:nvPr/>
        </p:nvSpPr>
        <p:spPr>
          <a:xfrm>
            <a:off x="457200" y="1088136"/>
            <a:ext cx="502920" cy="292608"/>
          </a:xfrm>
          <a:prstGeom prst="roundRect">
            <a:avLst>
              <a:gd name="adj" fmla="val 25000"/>
            </a:avLst>
          </a:prstGeom>
          <a:solidFill>
            <a:schemeClr val="accent1"/>
          </a:solidFill>
          <a:ln w="12700">
            <a:solidFill>
              <a:schemeClr val="accent1"/>
            </a:solidFill>
            <a:prstDash val="solid"/>
          </a:ln>
        </p:spPr>
      </p:sp>
      <p:sp>
        <p:nvSpPr>
          <p:cNvPr id="4" name="Text 2"/>
          <p:cNvSpPr txBox="1"/>
          <p:nvPr/>
        </p:nvSpPr>
        <p:spPr>
          <a:xfrm>
            <a:off x="457200" y="1088136"/>
            <a:ext cx="50292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R1</a:t>
            </a:r>
            <a:endParaRPr lang="en-US" sz="1100" dirty="0"/>
          </a:p>
        </p:txBody>
      </p:sp>
      <p:sp>
        <p:nvSpPr>
          <p:cNvPr id="5" name="Text 3"/>
          <p:cNvSpPr txBox="1"/>
          <p:nvPr/>
        </p:nvSpPr>
        <p:spPr>
          <a:xfrm>
            <a:off x="1051560" y="1069848"/>
            <a:ext cx="3520440" cy="347472"/>
          </a:xfrm>
          <a:prstGeom prst="rect">
            <a:avLst/>
          </a:prstGeom>
          <a:noFill/>
          <a:ln/>
        </p:spPr>
        <p:txBody>
          <a:bodyPr wrap="square" lIns="0" tIns="0" rIns="0" bIns="0" rtlCol="0" anchor="ctr"/>
          <a:lstStyle/>
          <a:p>
            <a:pPr indent="0" marL="0">
              <a:buNone/>
            </a:pPr>
            <a:r>
              <a:rPr lang="en-US" sz="1050" b="1" dirty="0">
                <a:solidFill>
                  <a:schemeClr val="tx1"/>
                </a:solidFill>
                <a:latin typeface="Calibri" pitchFamily="34" charset="0"/>
                <a:ea typeface="Calibri" pitchFamily="34" charset="-122"/>
                <a:cs typeface="Calibri" pitchFamily="34" charset="-120"/>
              </a:rPr>
              <a:t>Pedido → especificação, plano e tarefas</a:t>
            </a:r>
            <a:pPr indent="0" marL="0">
              <a:buNone/>
            </a:pPr>
            <a:r>
              <a:rPr lang="en-US" sz="1050" dirty="0">
                <a:solidFill>
                  <a:schemeClr val="accent5"/>
                </a:solidFill>
                <a:latin typeface="Calibri" pitchFamily="34" charset="0"/>
                <a:ea typeface="Calibri" pitchFamily="34" charset="-122"/>
                <a:cs typeface="Calibri" pitchFamily="34" charset="-120"/>
              </a:rPr>
              <a:t>  implementado; pedido real na validação</a:t>
            </a:r>
            <a:endParaRPr lang="en-US" sz="1050" dirty="0"/>
          </a:p>
        </p:txBody>
      </p:sp>
      <p:sp>
        <p:nvSpPr>
          <p:cNvPr id="6" name="Shape 4"/>
          <p:cNvSpPr/>
          <p:nvPr/>
        </p:nvSpPr>
        <p:spPr>
          <a:xfrm>
            <a:off x="457200" y="1517904"/>
            <a:ext cx="502920" cy="292608"/>
          </a:xfrm>
          <a:prstGeom prst="roundRect">
            <a:avLst>
              <a:gd name="adj" fmla="val 25000"/>
            </a:avLst>
          </a:prstGeom>
          <a:solidFill>
            <a:schemeClr val="accent2"/>
          </a:solidFill>
          <a:ln w="12700">
            <a:solidFill>
              <a:schemeClr val="accent2"/>
            </a:solidFill>
            <a:prstDash val="solid"/>
          </a:ln>
        </p:spPr>
      </p:sp>
      <p:sp>
        <p:nvSpPr>
          <p:cNvPr id="7" name="Text 5"/>
          <p:cNvSpPr txBox="1"/>
          <p:nvPr/>
        </p:nvSpPr>
        <p:spPr>
          <a:xfrm>
            <a:off x="457200" y="1517904"/>
            <a:ext cx="50292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R2</a:t>
            </a:r>
            <a:endParaRPr lang="en-US" sz="1100" dirty="0"/>
          </a:p>
        </p:txBody>
      </p:sp>
      <p:sp>
        <p:nvSpPr>
          <p:cNvPr id="8" name="Text 6"/>
          <p:cNvSpPr txBox="1"/>
          <p:nvPr/>
        </p:nvSpPr>
        <p:spPr>
          <a:xfrm>
            <a:off x="1051560" y="1499616"/>
            <a:ext cx="3520440" cy="347472"/>
          </a:xfrm>
          <a:prstGeom prst="rect">
            <a:avLst/>
          </a:prstGeom>
          <a:noFill/>
          <a:ln/>
        </p:spPr>
        <p:txBody>
          <a:bodyPr wrap="square" lIns="0" tIns="0" rIns="0" bIns="0" rtlCol="0" anchor="ctr"/>
          <a:lstStyle/>
          <a:p>
            <a:pPr indent="0" marL="0">
              <a:buNone/>
            </a:pPr>
            <a:r>
              <a:rPr lang="en-US" sz="1050" b="1" dirty="0">
                <a:solidFill>
                  <a:schemeClr val="tx1"/>
                </a:solidFill>
                <a:latin typeface="Calibri" pitchFamily="34" charset="0"/>
                <a:ea typeface="Calibri" pitchFamily="34" charset="-122"/>
                <a:cs typeface="Calibri" pitchFamily="34" charset="-120"/>
              </a:rPr>
              <a:t>Seis estados com relatório e custo</a:t>
            </a:r>
            <a:pPr indent="0" marL="0">
              <a:buNone/>
            </a:pPr>
            <a:r>
              <a:rPr lang="en-US" sz="1050" dirty="0">
                <a:solidFill>
                  <a:schemeClr val="accent5"/>
                </a:solidFill>
                <a:latin typeface="Calibri" pitchFamily="34" charset="0"/>
                <a:ea typeface="Calibri" pitchFamily="34" charset="-122"/>
                <a:cs typeface="Calibri" pitchFamily="34" charset="-120"/>
              </a:rPr>
              <a:t>  teste do marco E4</a:t>
            </a:r>
            <a:endParaRPr lang="en-US" sz="1050" dirty="0"/>
          </a:p>
        </p:txBody>
      </p:sp>
      <p:sp>
        <p:nvSpPr>
          <p:cNvPr id="9" name="Shape 7"/>
          <p:cNvSpPr/>
          <p:nvPr/>
        </p:nvSpPr>
        <p:spPr>
          <a:xfrm>
            <a:off x="457200" y="1947672"/>
            <a:ext cx="502920" cy="292608"/>
          </a:xfrm>
          <a:prstGeom prst="roundRect">
            <a:avLst>
              <a:gd name="adj" fmla="val 25000"/>
            </a:avLst>
          </a:prstGeom>
          <a:solidFill>
            <a:schemeClr val="accent2"/>
          </a:solidFill>
          <a:ln w="12700">
            <a:solidFill>
              <a:schemeClr val="accent2"/>
            </a:solidFill>
            <a:prstDash val="solid"/>
          </a:ln>
        </p:spPr>
      </p:sp>
      <p:sp>
        <p:nvSpPr>
          <p:cNvPr id="10" name="Text 8"/>
          <p:cNvSpPr txBox="1"/>
          <p:nvPr/>
        </p:nvSpPr>
        <p:spPr>
          <a:xfrm>
            <a:off x="457200" y="1947672"/>
            <a:ext cx="50292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R3</a:t>
            </a:r>
            <a:endParaRPr lang="en-US" sz="1100" dirty="0"/>
          </a:p>
        </p:txBody>
      </p:sp>
      <p:sp>
        <p:nvSpPr>
          <p:cNvPr id="11" name="Text 9"/>
          <p:cNvSpPr txBox="1"/>
          <p:nvPr/>
        </p:nvSpPr>
        <p:spPr>
          <a:xfrm>
            <a:off x="1051560" y="1929384"/>
            <a:ext cx="3520440" cy="347472"/>
          </a:xfrm>
          <a:prstGeom prst="rect">
            <a:avLst/>
          </a:prstGeom>
          <a:noFill/>
          <a:ln/>
        </p:spPr>
        <p:txBody>
          <a:bodyPr wrap="square" lIns="0" tIns="0" rIns="0" bIns="0" rtlCol="0" anchor="ctr"/>
          <a:lstStyle/>
          <a:p>
            <a:pPr indent="0" marL="0">
              <a:buNone/>
            </a:pPr>
            <a:r>
              <a:rPr lang="en-US" sz="1050" b="1" dirty="0">
                <a:solidFill>
                  <a:schemeClr val="tx1"/>
                </a:solidFill>
                <a:latin typeface="Calibri" pitchFamily="34" charset="0"/>
                <a:ea typeface="Calibri" pitchFamily="34" charset="-122"/>
                <a:cs typeface="Calibri" pitchFamily="34" charset="-120"/>
              </a:rPr>
              <a:t>Dois julgamentos independentes</a:t>
            </a:r>
            <a:pPr indent="0" marL="0">
              <a:buNone/>
            </a:pPr>
            <a:r>
              <a:rPr lang="en-US" sz="1050" dirty="0">
                <a:solidFill>
                  <a:schemeClr val="accent5"/>
                </a:solidFill>
                <a:latin typeface="Calibri" pitchFamily="34" charset="0"/>
                <a:ea typeface="Calibri" pitchFamily="34" charset="-122"/>
                <a:cs typeface="Calibri" pitchFamily="34" charset="-120"/>
              </a:rPr>
              <a:t>  dois portões, teste do marco E4</a:t>
            </a:r>
            <a:endParaRPr lang="en-US" sz="1050" dirty="0"/>
          </a:p>
        </p:txBody>
      </p:sp>
      <p:sp>
        <p:nvSpPr>
          <p:cNvPr id="12" name="Shape 10"/>
          <p:cNvSpPr/>
          <p:nvPr/>
        </p:nvSpPr>
        <p:spPr>
          <a:xfrm>
            <a:off x="457200" y="2377440"/>
            <a:ext cx="502920" cy="292608"/>
          </a:xfrm>
          <a:prstGeom prst="roundRect">
            <a:avLst>
              <a:gd name="adj" fmla="val 25000"/>
            </a:avLst>
          </a:prstGeom>
          <a:solidFill>
            <a:schemeClr val="accent2"/>
          </a:solidFill>
          <a:ln w="12700">
            <a:solidFill>
              <a:schemeClr val="accent2"/>
            </a:solidFill>
            <a:prstDash val="solid"/>
          </a:ln>
        </p:spPr>
      </p:sp>
      <p:sp>
        <p:nvSpPr>
          <p:cNvPr id="13" name="Text 11"/>
          <p:cNvSpPr txBox="1"/>
          <p:nvPr/>
        </p:nvSpPr>
        <p:spPr>
          <a:xfrm>
            <a:off x="457200" y="2377440"/>
            <a:ext cx="50292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R4</a:t>
            </a:r>
            <a:endParaRPr lang="en-US" sz="1100" dirty="0"/>
          </a:p>
        </p:txBody>
      </p:sp>
      <p:sp>
        <p:nvSpPr>
          <p:cNvPr id="14" name="Text 12"/>
          <p:cNvSpPr txBox="1"/>
          <p:nvPr/>
        </p:nvSpPr>
        <p:spPr>
          <a:xfrm>
            <a:off x="1051560" y="2359152"/>
            <a:ext cx="3520440" cy="347472"/>
          </a:xfrm>
          <a:prstGeom prst="rect">
            <a:avLst/>
          </a:prstGeom>
          <a:noFill/>
          <a:ln/>
        </p:spPr>
        <p:txBody>
          <a:bodyPr wrap="square" lIns="0" tIns="0" rIns="0" bIns="0" rtlCol="0" anchor="ctr"/>
          <a:lstStyle/>
          <a:p>
            <a:pPr indent="0" marL="0">
              <a:buNone/>
            </a:pPr>
            <a:r>
              <a:rPr lang="en-US" sz="1050" b="1" dirty="0">
                <a:solidFill>
                  <a:schemeClr val="tx1"/>
                </a:solidFill>
                <a:latin typeface="Calibri" pitchFamily="34" charset="0"/>
                <a:ea typeface="Calibri" pitchFamily="34" charset="-122"/>
                <a:cs typeface="Calibri" pitchFamily="34" charset="-120"/>
              </a:rPr>
              <a:t>Decidir como refazer</a:t>
            </a:r>
            <a:pPr indent="0" marL="0">
              <a:buNone/>
            </a:pPr>
            <a:r>
              <a:rPr lang="en-US" sz="1050" dirty="0">
                <a:solidFill>
                  <a:schemeClr val="accent5"/>
                </a:solidFill>
                <a:latin typeface="Calibri" pitchFamily="34" charset="0"/>
                <a:ea typeface="Calibri" pitchFamily="34" charset="-122"/>
                <a:cs typeface="Calibri" pitchFamily="34" charset="-120"/>
              </a:rPr>
              <a:t>  escada de resposta</a:t>
            </a:r>
            <a:endParaRPr lang="en-US" sz="1050" dirty="0"/>
          </a:p>
        </p:txBody>
      </p:sp>
      <p:sp>
        <p:nvSpPr>
          <p:cNvPr id="15" name="Shape 13"/>
          <p:cNvSpPr/>
          <p:nvPr/>
        </p:nvSpPr>
        <p:spPr>
          <a:xfrm>
            <a:off x="457200" y="2807208"/>
            <a:ext cx="502920" cy="292608"/>
          </a:xfrm>
          <a:prstGeom prst="roundRect">
            <a:avLst>
              <a:gd name="adj" fmla="val 25000"/>
            </a:avLst>
          </a:prstGeom>
          <a:solidFill>
            <a:schemeClr val="accent2"/>
          </a:solidFill>
          <a:ln w="12700">
            <a:solidFill>
              <a:schemeClr val="accent2"/>
            </a:solidFill>
            <a:prstDash val="solid"/>
          </a:ln>
        </p:spPr>
      </p:sp>
      <p:sp>
        <p:nvSpPr>
          <p:cNvPr id="16" name="Text 14"/>
          <p:cNvSpPr txBox="1"/>
          <p:nvPr/>
        </p:nvSpPr>
        <p:spPr>
          <a:xfrm>
            <a:off x="457200" y="2807208"/>
            <a:ext cx="50292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R5</a:t>
            </a:r>
            <a:endParaRPr lang="en-US" sz="1100" dirty="0"/>
          </a:p>
        </p:txBody>
      </p:sp>
      <p:sp>
        <p:nvSpPr>
          <p:cNvPr id="17" name="Text 15"/>
          <p:cNvSpPr txBox="1"/>
          <p:nvPr/>
        </p:nvSpPr>
        <p:spPr>
          <a:xfrm>
            <a:off x="1051560" y="2788920"/>
            <a:ext cx="3520440" cy="347472"/>
          </a:xfrm>
          <a:prstGeom prst="rect">
            <a:avLst/>
          </a:prstGeom>
          <a:noFill/>
          <a:ln/>
        </p:spPr>
        <p:txBody>
          <a:bodyPr wrap="square" lIns="0" tIns="0" rIns="0" bIns="0" rtlCol="0" anchor="ctr"/>
          <a:lstStyle/>
          <a:p>
            <a:pPr indent="0" marL="0">
              <a:buNone/>
            </a:pPr>
            <a:r>
              <a:rPr lang="en-US" sz="1050" b="1" dirty="0">
                <a:solidFill>
                  <a:schemeClr val="tx1"/>
                </a:solidFill>
                <a:latin typeface="Calibri" pitchFamily="34" charset="0"/>
                <a:ea typeface="Calibri" pitchFamily="34" charset="-122"/>
                <a:cs typeface="Calibri" pitchFamily="34" charset="-120"/>
              </a:rPr>
              <a:t>Retrabalho limitado</a:t>
            </a:r>
            <a:pPr indent="0" marL="0">
              <a:buNone/>
            </a:pPr>
            <a:r>
              <a:rPr lang="en-US" sz="1050" dirty="0">
                <a:solidFill>
                  <a:schemeClr val="accent5"/>
                </a:solidFill>
                <a:latin typeface="Calibri" pitchFamily="34" charset="0"/>
                <a:ea typeface="Calibri" pitchFamily="34" charset="-122"/>
                <a:cs typeface="Calibri" pitchFamily="34" charset="-120"/>
              </a:rPr>
              <a:t>  humano no 4º ciclo</a:t>
            </a:r>
            <a:endParaRPr lang="en-US" sz="1050" dirty="0"/>
          </a:p>
        </p:txBody>
      </p:sp>
      <p:sp>
        <p:nvSpPr>
          <p:cNvPr id="18" name="Shape 16"/>
          <p:cNvSpPr/>
          <p:nvPr/>
        </p:nvSpPr>
        <p:spPr>
          <a:xfrm>
            <a:off x="457200" y="3236976"/>
            <a:ext cx="502920" cy="292608"/>
          </a:xfrm>
          <a:prstGeom prst="roundRect">
            <a:avLst>
              <a:gd name="adj" fmla="val 25000"/>
            </a:avLst>
          </a:prstGeom>
          <a:solidFill>
            <a:schemeClr val="accent2"/>
          </a:solidFill>
          <a:ln w="12700">
            <a:solidFill>
              <a:schemeClr val="accent2"/>
            </a:solidFill>
            <a:prstDash val="solid"/>
          </a:ln>
        </p:spPr>
      </p:sp>
      <p:sp>
        <p:nvSpPr>
          <p:cNvPr id="19" name="Text 17"/>
          <p:cNvSpPr txBox="1"/>
          <p:nvPr/>
        </p:nvSpPr>
        <p:spPr>
          <a:xfrm>
            <a:off x="457200" y="3236976"/>
            <a:ext cx="50292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R6</a:t>
            </a:r>
            <a:endParaRPr lang="en-US" sz="1100" dirty="0"/>
          </a:p>
        </p:txBody>
      </p:sp>
      <p:sp>
        <p:nvSpPr>
          <p:cNvPr id="20" name="Text 18"/>
          <p:cNvSpPr txBox="1"/>
          <p:nvPr/>
        </p:nvSpPr>
        <p:spPr>
          <a:xfrm>
            <a:off x="1051560" y="3218688"/>
            <a:ext cx="3520440" cy="347472"/>
          </a:xfrm>
          <a:prstGeom prst="rect">
            <a:avLst/>
          </a:prstGeom>
          <a:noFill/>
          <a:ln/>
        </p:spPr>
        <p:txBody>
          <a:bodyPr wrap="square" lIns="0" tIns="0" rIns="0" bIns="0" rtlCol="0" anchor="ctr"/>
          <a:lstStyle/>
          <a:p>
            <a:pPr indent="0" marL="0">
              <a:buNone/>
            </a:pPr>
            <a:r>
              <a:rPr lang="en-US" sz="1050" b="1" dirty="0">
                <a:solidFill>
                  <a:schemeClr val="tx1"/>
                </a:solidFill>
                <a:latin typeface="Calibri" pitchFamily="34" charset="0"/>
                <a:ea typeface="Calibri" pitchFamily="34" charset="-122"/>
                <a:cs typeface="Calibri" pitchFamily="34" charset="-120"/>
              </a:rPr>
              <a:t>Paralelismo sem disputa</a:t>
            </a:r>
            <a:pPr indent="0" marL="0">
              <a:buNone/>
            </a:pPr>
            <a:r>
              <a:rPr lang="en-US" sz="1050" dirty="0">
                <a:solidFill>
                  <a:schemeClr val="accent5"/>
                </a:solidFill>
                <a:latin typeface="Calibri" pitchFamily="34" charset="0"/>
                <a:ea typeface="Calibri" pitchFamily="34" charset="-122"/>
                <a:cs typeface="Calibri" pitchFamily="34" charset="-120"/>
              </a:rPr>
              <a:t>  teste do marco E5</a:t>
            </a:r>
            <a:endParaRPr lang="en-US" sz="1050" dirty="0"/>
          </a:p>
        </p:txBody>
      </p:sp>
      <p:sp>
        <p:nvSpPr>
          <p:cNvPr id="21" name="Shape 19"/>
          <p:cNvSpPr/>
          <p:nvPr/>
        </p:nvSpPr>
        <p:spPr>
          <a:xfrm>
            <a:off x="457200" y="3666744"/>
            <a:ext cx="502920" cy="292608"/>
          </a:xfrm>
          <a:prstGeom prst="roundRect">
            <a:avLst>
              <a:gd name="adj" fmla="val 25000"/>
            </a:avLst>
          </a:prstGeom>
          <a:solidFill>
            <a:schemeClr val="accent3"/>
          </a:solidFill>
          <a:ln w="12700">
            <a:solidFill>
              <a:schemeClr val="accent3"/>
            </a:solidFill>
            <a:prstDash val="solid"/>
          </a:ln>
        </p:spPr>
      </p:sp>
      <p:sp>
        <p:nvSpPr>
          <p:cNvPr id="22" name="Text 20"/>
          <p:cNvSpPr txBox="1"/>
          <p:nvPr/>
        </p:nvSpPr>
        <p:spPr>
          <a:xfrm>
            <a:off x="457200" y="3666744"/>
            <a:ext cx="50292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R7</a:t>
            </a:r>
            <a:endParaRPr lang="en-US" sz="1100" dirty="0"/>
          </a:p>
        </p:txBody>
      </p:sp>
      <p:sp>
        <p:nvSpPr>
          <p:cNvPr id="23" name="Text 21"/>
          <p:cNvSpPr txBox="1"/>
          <p:nvPr/>
        </p:nvSpPr>
        <p:spPr>
          <a:xfrm>
            <a:off x="1051560" y="3648456"/>
            <a:ext cx="3520440" cy="347472"/>
          </a:xfrm>
          <a:prstGeom prst="rect">
            <a:avLst/>
          </a:prstGeom>
          <a:noFill/>
          <a:ln/>
        </p:spPr>
        <p:txBody>
          <a:bodyPr wrap="square" lIns="0" tIns="0" rIns="0" bIns="0" rtlCol="0" anchor="ctr"/>
          <a:lstStyle/>
          <a:p>
            <a:pPr indent="0" marL="0">
              <a:buNone/>
            </a:pPr>
            <a:r>
              <a:rPr lang="en-US" sz="1050" b="1" dirty="0">
                <a:solidFill>
                  <a:schemeClr val="tx1"/>
                </a:solidFill>
                <a:latin typeface="Calibri" pitchFamily="34" charset="0"/>
                <a:ea typeface="Calibri" pitchFamily="34" charset="-122"/>
                <a:cs typeface="Calibri" pitchFamily="34" charset="-120"/>
              </a:rPr>
              <a:t>Histórico citado com fonte</a:t>
            </a:r>
            <a:pPr indent="0" marL="0">
              <a:buNone/>
            </a:pPr>
            <a:r>
              <a:rPr lang="en-US" sz="1050" dirty="0">
                <a:solidFill>
                  <a:schemeClr val="accent5"/>
                </a:solidFill>
                <a:latin typeface="Calibri" pitchFamily="34" charset="0"/>
                <a:ea typeface="Calibri" pitchFamily="34" charset="-122"/>
                <a:cs typeface="Calibri" pitchFamily="34" charset="-120"/>
              </a:rPr>
              <a:t>  bloco ainda não chega ao agente</a:t>
            </a:r>
            <a:endParaRPr lang="en-US" sz="1050" dirty="0"/>
          </a:p>
        </p:txBody>
      </p:sp>
      <p:sp>
        <p:nvSpPr>
          <p:cNvPr id="24" name="Shape 22"/>
          <p:cNvSpPr/>
          <p:nvPr/>
        </p:nvSpPr>
        <p:spPr>
          <a:xfrm>
            <a:off x="457200" y="4096512"/>
            <a:ext cx="502920" cy="292608"/>
          </a:xfrm>
          <a:prstGeom prst="roundRect">
            <a:avLst>
              <a:gd name="adj" fmla="val 25000"/>
            </a:avLst>
          </a:prstGeom>
          <a:solidFill>
            <a:schemeClr val="accent1"/>
          </a:solidFill>
          <a:ln w="12700">
            <a:solidFill>
              <a:schemeClr val="accent1"/>
            </a:solidFill>
            <a:prstDash val="solid"/>
          </a:ln>
        </p:spPr>
      </p:sp>
      <p:sp>
        <p:nvSpPr>
          <p:cNvPr id="25" name="Text 23"/>
          <p:cNvSpPr txBox="1"/>
          <p:nvPr/>
        </p:nvSpPr>
        <p:spPr>
          <a:xfrm>
            <a:off x="457200" y="4096512"/>
            <a:ext cx="50292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R8</a:t>
            </a:r>
            <a:endParaRPr lang="en-US" sz="1100" dirty="0"/>
          </a:p>
        </p:txBody>
      </p:sp>
      <p:sp>
        <p:nvSpPr>
          <p:cNvPr id="26" name="Text 24"/>
          <p:cNvSpPr txBox="1"/>
          <p:nvPr/>
        </p:nvSpPr>
        <p:spPr>
          <a:xfrm>
            <a:off x="1051560" y="4078224"/>
            <a:ext cx="3520440" cy="347472"/>
          </a:xfrm>
          <a:prstGeom prst="rect">
            <a:avLst/>
          </a:prstGeom>
          <a:noFill/>
          <a:ln/>
        </p:spPr>
        <p:txBody>
          <a:bodyPr wrap="square" lIns="0" tIns="0" rIns="0" bIns="0" rtlCol="0" anchor="ctr"/>
          <a:lstStyle/>
          <a:p>
            <a:pPr indent="0" marL="0">
              <a:buNone/>
            </a:pPr>
            <a:r>
              <a:rPr lang="en-US" sz="1050" b="1" dirty="0">
                <a:solidFill>
                  <a:schemeClr val="tx1"/>
                </a:solidFill>
                <a:latin typeface="Calibri" pitchFamily="34" charset="0"/>
                <a:ea typeface="Calibri" pitchFamily="34" charset="-122"/>
                <a:cs typeface="Calibri" pitchFamily="34" charset="-120"/>
              </a:rPr>
              <a:t>Andamento e custo ao vivo</a:t>
            </a:r>
            <a:pPr indent="0" marL="0">
              <a:buNone/>
            </a:pPr>
            <a:r>
              <a:rPr lang="en-US" sz="1050" dirty="0">
                <a:solidFill>
                  <a:schemeClr val="accent5"/>
                </a:solidFill>
                <a:latin typeface="Calibri" pitchFamily="34" charset="0"/>
                <a:ea typeface="Calibri" pitchFamily="34" charset="-122"/>
                <a:cs typeface="Calibri" pitchFamily="34" charset="-120"/>
              </a:rPr>
              <a:t>  tela pronta; projeto inteiro pendente</a:t>
            </a:r>
            <a:endParaRPr lang="en-US" sz="1050" dirty="0"/>
          </a:p>
        </p:txBody>
      </p:sp>
      <p:sp>
        <p:nvSpPr>
          <p:cNvPr id="27" name="Shape 25"/>
          <p:cNvSpPr/>
          <p:nvPr/>
        </p:nvSpPr>
        <p:spPr>
          <a:xfrm>
            <a:off x="4663440" y="1088136"/>
            <a:ext cx="502920" cy="292608"/>
          </a:xfrm>
          <a:prstGeom prst="roundRect">
            <a:avLst>
              <a:gd name="adj" fmla="val 25000"/>
            </a:avLst>
          </a:prstGeom>
          <a:solidFill>
            <a:schemeClr val="accent1"/>
          </a:solidFill>
          <a:ln w="12700">
            <a:solidFill>
              <a:schemeClr val="accent1"/>
            </a:solidFill>
            <a:prstDash val="solid"/>
          </a:ln>
        </p:spPr>
      </p:sp>
      <p:sp>
        <p:nvSpPr>
          <p:cNvPr id="28" name="Text 26"/>
          <p:cNvSpPr txBox="1"/>
          <p:nvPr/>
        </p:nvSpPr>
        <p:spPr>
          <a:xfrm>
            <a:off x="4663440" y="1088136"/>
            <a:ext cx="50292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R9</a:t>
            </a:r>
            <a:endParaRPr lang="en-US" sz="1100" dirty="0"/>
          </a:p>
        </p:txBody>
      </p:sp>
      <p:sp>
        <p:nvSpPr>
          <p:cNvPr id="29" name="Text 27"/>
          <p:cNvSpPr txBox="1"/>
          <p:nvPr/>
        </p:nvSpPr>
        <p:spPr>
          <a:xfrm>
            <a:off x="5257800" y="1069848"/>
            <a:ext cx="3520440" cy="347472"/>
          </a:xfrm>
          <a:prstGeom prst="rect">
            <a:avLst/>
          </a:prstGeom>
          <a:noFill/>
          <a:ln/>
        </p:spPr>
        <p:txBody>
          <a:bodyPr wrap="square" lIns="0" tIns="0" rIns="0" bIns="0" rtlCol="0" anchor="ctr"/>
          <a:lstStyle/>
          <a:p>
            <a:pPr indent="0" marL="0">
              <a:buNone/>
            </a:pPr>
            <a:r>
              <a:rPr lang="en-US" sz="1050" b="1" dirty="0">
                <a:solidFill>
                  <a:schemeClr val="tx1"/>
                </a:solidFill>
                <a:latin typeface="Calibri" pitchFamily="34" charset="0"/>
                <a:ea typeface="Calibri" pitchFamily="34" charset="-122"/>
                <a:cs typeface="Calibri" pitchFamily="34" charset="-120"/>
              </a:rPr>
              <a:t>Cabe em 8 GB / 4 núcleos</a:t>
            </a:r>
            <a:pPr indent="0" marL="0">
              <a:buNone/>
            </a:pPr>
            <a:r>
              <a:rPr lang="en-US" sz="1050" dirty="0">
                <a:solidFill>
                  <a:schemeClr val="accent5"/>
                </a:solidFill>
                <a:latin typeface="Calibri" pitchFamily="34" charset="0"/>
                <a:ea typeface="Calibri" pitchFamily="34" charset="-122"/>
                <a:cs typeface="Calibri" pitchFamily="34" charset="-120"/>
              </a:rPr>
              <a:t>  busca medida; pico com 3 em paralelo a medir</a:t>
            </a:r>
            <a:endParaRPr lang="en-US" sz="1050" dirty="0"/>
          </a:p>
        </p:txBody>
      </p:sp>
      <p:sp>
        <p:nvSpPr>
          <p:cNvPr id="30" name="Shape 28"/>
          <p:cNvSpPr/>
          <p:nvPr/>
        </p:nvSpPr>
        <p:spPr>
          <a:xfrm>
            <a:off x="4663440" y="1517904"/>
            <a:ext cx="502920" cy="292608"/>
          </a:xfrm>
          <a:prstGeom prst="roundRect">
            <a:avLst>
              <a:gd name="adj" fmla="val 25000"/>
            </a:avLst>
          </a:prstGeom>
          <a:solidFill>
            <a:schemeClr val="accent2"/>
          </a:solidFill>
          <a:ln w="12700">
            <a:solidFill>
              <a:schemeClr val="accent2"/>
            </a:solidFill>
            <a:prstDash val="solid"/>
          </a:ln>
        </p:spPr>
      </p:sp>
      <p:sp>
        <p:nvSpPr>
          <p:cNvPr id="31" name="Text 29"/>
          <p:cNvSpPr txBox="1"/>
          <p:nvPr/>
        </p:nvSpPr>
        <p:spPr>
          <a:xfrm>
            <a:off x="4663440" y="1517904"/>
            <a:ext cx="50292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R10</a:t>
            </a:r>
            <a:endParaRPr lang="en-US" sz="1100" dirty="0"/>
          </a:p>
        </p:txBody>
      </p:sp>
      <p:sp>
        <p:nvSpPr>
          <p:cNvPr id="32" name="Text 30"/>
          <p:cNvSpPr txBox="1"/>
          <p:nvPr/>
        </p:nvSpPr>
        <p:spPr>
          <a:xfrm>
            <a:off x="5257800" y="1499616"/>
            <a:ext cx="3520440" cy="347472"/>
          </a:xfrm>
          <a:prstGeom prst="rect">
            <a:avLst/>
          </a:prstGeom>
          <a:noFill/>
          <a:ln/>
        </p:spPr>
        <p:txBody>
          <a:bodyPr wrap="square" lIns="0" tIns="0" rIns="0" bIns="0" rtlCol="0" anchor="ctr"/>
          <a:lstStyle/>
          <a:p>
            <a:pPr indent="0" marL="0">
              <a:buNone/>
            </a:pPr>
            <a:r>
              <a:rPr lang="en-US" sz="1050" b="1" dirty="0">
                <a:solidFill>
                  <a:schemeClr val="tx1"/>
                </a:solidFill>
                <a:latin typeface="Calibri" pitchFamily="34" charset="0"/>
                <a:ea typeface="Calibri" pitchFamily="34" charset="-122"/>
                <a:cs typeface="Calibri" pitchFamily="34" charset="-120"/>
              </a:rPr>
              <a:t>Custo em cota e dinheiro</a:t>
            </a:r>
            <a:pPr indent="0" marL="0">
              <a:buNone/>
            </a:pPr>
            <a:r>
              <a:rPr lang="en-US" sz="1050" dirty="0">
                <a:solidFill>
                  <a:schemeClr val="accent5"/>
                </a:solidFill>
                <a:latin typeface="Calibri" pitchFamily="34" charset="0"/>
                <a:ea typeface="Calibri" pitchFamily="34" charset="-122"/>
                <a:cs typeface="Calibri" pitchFamily="34" charset="-120"/>
              </a:rPr>
              <a:t>  consumos em cota e US$</a:t>
            </a:r>
            <a:endParaRPr lang="en-US" sz="1050" dirty="0"/>
          </a:p>
        </p:txBody>
      </p:sp>
      <p:sp>
        <p:nvSpPr>
          <p:cNvPr id="33" name="Shape 31"/>
          <p:cNvSpPr/>
          <p:nvPr/>
        </p:nvSpPr>
        <p:spPr>
          <a:xfrm>
            <a:off x="4663440" y="1947672"/>
            <a:ext cx="502920" cy="292608"/>
          </a:xfrm>
          <a:prstGeom prst="roundRect">
            <a:avLst>
              <a:gd name="adj" fmla="val 25000"/>
            </a:avLst>
          </a:prstGeom>
          <a:solidFill>
            <a:schemeClr val="accent2"/>
          </a:solidFill>
          <a:ln w="12700">
            <a:solidFill>
              <a:schemeClr val="accent2"/>
            </a:solidFill>
            <a:prstDash val="solid"/>
          </a:ln>
        </p:spPr>
      </p:sp>
      <p:sp>
        <p:nvSpPr>
          <p:cNvPr id="34" name="Text 32"/>
          <p:cNvSpPr txBox="1"/>
          <p:nvPr/>
        </p:nvSpPr>
        <p:spPr>
          <a:xfrm>
            <a:off x="4663440" y="1947672"/>
            <a:ext cx="50292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R11</a:t>
            </a:r>
            <a:endParaRPr lang="en-US" sz="1100" dirty="0"/>
          </a:p>
        </p:txBody>
      </p:sp>
      <p:sp>
        <p:nvSpPr>
          <p:cNvPr id="35" name="Text 33"/>
          <p:cNvSpPr txBox="1"/>
          <p:nvPr/>
        </p:nvSpPr>
        <p:spPr>
          <a:xfrm>
            <a:off x="5257800" y="1929384"/>
            <a:ext cx="3520440" cy="347472"/>
          </a:xfrm>
          <a:prstGeom prst="rect">
            <a:avLst/>
          </a:prstGeom>
          <a:noFill/>
          <a:ln/>
        </p:spPr>
        <p:txBody>
          <a:bodyPr wrap="square" lIns="0" tIns="0" rIns="0" bIns="0" rtlCol="0" anchor="ctr"/>
          <a:lstStyle/>
          <a:p>
            <a:pPr indent="0" marL="0">
              <a:buNone/>
            </a:pPr>
            <a:r>
              <a:rPr lang="en-US" sz="1050" b="1" dirty="0">
                <a:solidFill>
                  <a:schemeClr val="tx1"/>
                </a:solidFill>
                <a:latin typeface="Calibri" pitchFamily="34" charset="0"/>
                <a:ea typeface="Calibri" pitchFamily="34" charset="-122"/>
                <a:cs typeface="Calibri" pitchFamily="34" charset="-120"/>
              </a:rPr>
              <a:t>Nada escrito fora do projeto</a:t>
            </a:r>
            <a:pPr indent="0" marL="0">
              <a:buNone/>
            </a:pPr>
            <a:r>
              <a:rPr lang="en-US" sz="1050" dirty="0">
                <a:solidFill>
                  <a:schemeClr val="accent5"/>
                </a:solidFill>
                <a:latin typeface="Calibri" pitchFamily="34" charset="0"/>
                <a:ea typeface="Calibri" pitchFamily="34" charset="-122"/>
                <a:cs typeface="Calibri" pitchFamily="34" charset="-120"/>
              </a:rPr>
              <a:t>  confinamento + sandbox</a:t>
            </a:r>
            <a:endParaRPr lang="en-US" sz="1050" dirty="0"/>
          </a:p>
        </p:txBody>
      </p:sp>
      <p:sp>
        <p:nvSpPr>
          <p:cNvPr id="36" name="Shape 34"/>
          <p:cNvSpPr/>
          <p:nvPr/>
        </p:nvSpPr>
        <p:spPr>
          <a:xfrm>
            <a:off x="4663440" y="2377440"/>
            <a:ext cx="502920" cy="292608"/>
          </a:xfrm>
          <a:prstGeom prst="roundRect">
            <a:avLst>
              <a:gd name="adj" fmla="val 25000"/>
            </a:avLst>
          </a:prstGeom>
          <a:solidFill>
            <a:schemeClr val="accent2"/>
          </a:solidFill>
          <a:ln w="12700">
            <a:solidFill>
              <a:schemeClr val="accent2"/>
            </a:solidFill>
            <a:prstDash val="solid"/>
          </a:ln>
        </p:spPr>
      </p:sp>
      <p:sp>
        <p:nvSpPr>
          <p:cNvPr id="37" name="Text 35"/>
          <p:cNvSpPr txBox="1"/>
          <p:nvPr/>
        </p:nvSpPr>
        <p:spPr>
          <a:xfrm>
            <a:off x="4663440" y="2377440"/>
            <a:ext cx="50292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R12</a:t>
            </a:r>
            <a:endParaRPr lang="en-US" sz="1100" dirty="0"/>
          </a:p>
        </p:txBody>
      </p:sp>
      <p:sp>
        <p:nvSpPr>
          <p:cNvPr id="38" name="Text 36"/>
          <p:cNvSpPr txBox="1"/>
          <p:nvPr/>
        </p:nvSpPr>
        <p:spPr>
          <a:xfrm>
            <a:off x="5257800" y="2359152"/>
            <a:ext cx="3520440" cy="347472"/>
          </a:xfrm>
          <a:prstGeom prst="rect">
            <a:avLst/>
          </a:prstGeom>
          <a:noFill/>
          <a:ln/>
        </p:spPr>
        <p:txBody>
          <a:bodyPr wrap="square" lIns="0" tIns="0" rIns="0" bIns="0" rtlCol="0" anchor="ctr"/>
          <a:lstStyle/>
          <a:p>
            <a:pPr indent="0" marL="0">
              <a:buNone/>
            </a:pPr>
            <a:r>
              <a:rPr lang="en-US" sz="1050" b="1" dirty="0">
                <a:solidFill>
                  <a:schemeClr val="tx1"/>
                </a:solidFill>
                <a:latin typeface="Calibri" pitchFamily="34" charset="0"/>
                <a:ea typeface="Calibri" pitchFamily="34" charset="-122"/>
                <a:cs typeface="Calibri" pitchFamily="34" charset="-120"/>
              </a:rPr>
              <a:t>Testes sem internet e sem cota</a:t>
            </a:r>
            <a:pPr indent="0" marL="0">
              <a:buNone/>
            </a:pPr>
            <a:r>
              <a:rPr lang="en-US" sz="1050" dirty="0">
                <a:solidFill>
                  <a:schemeClr val="accent5"/>
                </a:solidFill>
                <a:latin typeface="Calibri" pitchFamily="34" charset="0"/>
                <a:ea typeface="Calibri" pitchFamily="34" charset="-122"/>
                <a:cs typeface="Calibri" pitchFamily="34" charset="-120"/>
              </a:rPr>
              <a:t>  teste do marco E2</a:t>
            </a:r>
            <a:endParaRPr lang="en-US" sz="1050" dirty="0"/>
          </a:p>
        </p:txBody>
      </p:sp>
      <p:sp>
        <p:nvSpPr>
          <p:cNvPr id="39" name="Shape 37"/>
          <p:cNvSpPr/>
          <p:nvPr/>
        </p:nvSpPr>
        <p:spPr>
          <a:xfrm>
            <a:off x="4663440" y="2807208"/>
            <a:ext cx="502920" cy="292608"/>
          </a:xfrm>
          <a:prstGeom prst="roundRect">
            <a:avLst>
              <a:gd name="adj" fmla="val 25000"/>
            </a:avLst>
          </a:prstGeom>
          <a:solidFill>
            <a:schemeClr val="accent2"/>
          </a:solidFill>
          <a:ln w="12700">
            <a:solidFill>
              <a:schemeClr val="accent2"/>
            </a:solidFill>
            <a:prstDash val="solid"/>
          </a:ln>
        </p:spPr>
      </p:sp>
      <p:sp>
        <p:nvSpPr>
          <p:cNvPr id="40" name="Text 38"/>
          <p:cNvSpPr txBox="1"/>
          <p:nvPr/>
        </p:nvSpPr>
        <p:spPr>
          <a:xfrm>
            <a:off x="4663440" y="2807208"/>
            <a:ext cx="50292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R13</a:t>
            </a:r>
            <a:endParaRPr lang="en-US" sz="1100" dirty="0"/>
          </a:p>
        </p:txBody>
      </p:sp>
      <p:sp>
        <p:nvSpPr>
          <p:cNvPr id="41" name="Text 39"/>
          <p:cNvSpPr txBox="1"/>
          <p:nvPr/>
        </p:nvSpPr>
        <p:spPr>
          <a:xfrm>
            <a:off x="5257800" y="2788920"/>
            <a:ext cx="3520440" cy="347472"/>
          </a:xfrm>
          <a:prstGeom prst="rect">
            <a:avLst/>
          </a:prstGeom>
          <a:noFill/>
          <a:ln/>
        </p:spPr>
        <p:txBody>
          <a:bodyPr wrap="square" lIns="0" tIns="0" rIns="0" bIns="0" rtlCol="0" anchor="ctr"/>
          <a:lstStyle/>
          <a:p>
            <a:pPr indent="0" marL="0">
              <a:buNone/>
            </a:pPr>
            <a:r>
              <a:rPr lang="en-US" sz="1050" b="1" dirty="0">
                <a:solidFill>
                  <a:schemeClr val="tx1"/>
                </a:solidFill>
                <a:latin typeface="Calibri" pitchFamily="34" charset="0"/>
                <a:ea typeface="Calibri" pitchFamily="34" charset="-122"/>
                <a:cs typeface="Calibri" pitchFamily="34" charset="-120"/>
              </a:rPr>
              <a:t>Queda isolada, sem perda</a:t>
            </a:r>
            <a:pPr indent="0" marL="0">
              <a:buNone/>
            </a:pPr>
            <a:r>
              <a:rPr lang="en-US" sz="1050" dirty="0">
                <a:solidFill>
                  <a:schemeClr val="accent5"/>
                </a:solidFill>
                <a:latin typeface="Calibri" pitchFamily="34" charset="0"/>
                <a:ea typeface="Calibri" pitchFamily="34" charset="-122"/>
                <a:cs typeface="Calibri" pitchFamily="34" charset="-120"/>
              </a:rPr>
              <a:t>  teste do marco E5</a:t>
            </a:r>
            <a:endParaRPr lang="en-US" sz="1050" dirty="0"/>
          </a:p>
        </p:txBody>
      </p:sp>
      <p:sp>
        <p:nvSpPr>
          <p:cNvPr id="42" name="Shape 40"/>
          <p:cNvSpPr/>
          <p:nvPr/>
        </p:nvSpPr>
        <p:spPr>
          <a:xfrm>
            <a:off x="4663440" y="3236976"/>
            <a:ext cx="502920" cy="292608"/>
          </a:xfrm>
          <a:prstGeom prst="roundRect">
            <a:avLst>
              <a:gd name="adj" fmla="val 25000"/>
            </a:avLst>
          </a:prstGeom>
          <a:solidFill>
            <a:schemeClr val="accent2"/>
          </a:solidFill>
          <a:ln w="12700">
            <a:solidFill>
              <a:schemeClr val="accent2"/>
            </a:solidFill>
            <a:prstDash val="solid"/>
          </a:ln>
        </p:spPr>
      </p:sp>
      <p:sp>
        <p:nvSpPr>
          <p:cNvPr id="43" name="Text 41"/>
          <p:cNvSpPr txBox="1"/>
          <p:nvPr/>
        </p:nvSpPr>
        <p:spPr>
          <a:xfrm>
            <a:off x="4663440" y="3236976"/>
            <a:ext cx="50292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R14</a:t>
            </a:r>
            <a:endParaRPr lang="en-US" sz="1100" dirty="0"/>
          </a:p>
        </p:txBody>
      </p:sp>
      <p:sp>
        <p:nvSpPr>
          <p:cNvPr id="44" name="Text 42"/>
          <p:cNvSpPr txBox="1"/>
          <p:nvPr/>
        </p:nvSpPr>
        <p:spPr>
          <a:xfrm>
            <a:off x="5257800" y="3218688"/>
            <a:ext cx="3520440" cy="347472"/>
          </a:xfrm>
          <a:prstGeom prst="rect">
            <a:avLst/>
          </a:prstGeom>
          <a:noFill/>
          <a:ln/>
        </p:spPr>
        <p:txBody>
          <a:bodyPr wrap="square" lIns="0" tIns="0" rIns="0" bIns="0" rtlCol="0" anchor="ctr"/>
          <a:lstStyle/>
          <a:p>
            <a:pPr indent="0" marL="0">
              <a:buNone/>
            </a:pPr>
            <a:r>
              <a:rPr lang="en-US" sz="1050" b="1" dirty="0">
                <a:solidFill>
                  <a:schemeClr val="tx1"/>
                </a:solidFill>
                <a:latin typeface="Calibri" pitchFamily="34" charset="0"/>
                <a:ea typeface="Calibri" pitchFamily="34" charset="-122"/>
                <a:cs typeface="Calibri" pitchFamily="34" charset="-120"/>
              </a:rPr>
              <a:t>Nunca passa do teto</a:t>
            </a:r>
            <a:pPr indent="0" marL="0">
              <a:buNone/>
            </a:pPr>
            <a:r>
              <a:rPr lang="en-US" sz="1050" dirty="0">
                <a:solidFill>
                  <a:schemeClr val="accent5"/>
                </a:solidFill>
                <a:latin typeface="Calibri" pitchFamily="34" charset="0"/>
                <a:ea typeface="Calibri" pitchFamily="34" charset="-122"/>
                <a:cs typeface="Calibri" pitchFamily="34" charset="-120"/>
              </a:rPr>
              <a:t>  teto que nunca corta no meio</a:t>
            </a:r>
            <a:endParaRPr lang="en-US" sz="1050" dirty="0"/>
          </a:p>
        </p:txBody>
      </p:sp>
      <p:sp>
        <p:nvSpPr>
          <p:cNvPr id="45" name="Shape 43"/>
          <p:cNvSpPr/>
          <p:nvPr/>
        </p:nvSpPr>
        <p:spPr>
          <a:xfrm>
            <a:off x="4663440" y="3666744"/>
            <a:ext cx="502920" cy="292608"/>
          </a:xfrm>
          <a:prstGeom prst="roundRect">
            <a:avLst>
              <a:gd name="adj" fmla="val 25000"/>
            </a:avLst>
          </a:prstGeom>
          <a:solidFill>
            <a:schemeClr val="accent2"/>
          </a:solidFill>
          <a:ln w="12700">
            <a:solidFill>
              <a:schemeClr val="accent2"/>
            </a:solidFill>
            <a:prstDash val="solid"/>
          </a:ln>
        </p:spPr>
      </p:sp>
      <p:sp>
        <p:nvSpPr>
          <p:cNvPr id="46" name="Text 44"/>
          <p:cNvSpPr txBox="1"/>
          <p:nvPr/>
        </p:nvSpPr>
        <p:spPr>
          <a:xfrm>
            <a:off x="4663440" y="3666744"/>
            <a:ext cx="502920" cy="292608"/>
          </a:xfrm>
          <a:prstGeom prst="rect">
            <a:avLst/>
          </a:prstGeom>
          <a:noFill/>
          <a:ln/>
        </p:spPr>
        <p:txBody>
          <a:bodyPr wrap="square" lIns="0" tIns="0" rIns="0" bIns="0" rtlCol="0" anchor="ctr"/>
          <a:lstStyle/>
          <a:p>
            <a:pPr algn="ctr" indent="0" marL="0">
              <a:buNone/>
            </a:pPr>
            <a:r>
              <a:rPr lang="en-US" sz="1100" b="1" dirty="0">
                <a:solidFill>
                  <a:schemeClr val="bg1"/>
                </a:solidFill>
                <a:latin typeface="Calibri" pitchFamily="34" charset="0"/>
                <a:ea typeface="Calibri" pitchFamily="34" charset="-122"/>
                <a:cs typeface="Calibri" pitchFamily="34" charset="-120"/>
              </a:rPr>
              <a:t>R15</a:t>
            </a:r>
            <a:endParaRPr lang="en-US" sz="1100" dirty="0"/>
          </a:p>
        </p:txBody>
      </p:sp>
      <p:sp>
        <p:nvSpPr>
          <p:cNvPr id="47" name="Text 45"/>
          <p:cNvSpPr txBox="1"/>
          <p:nvPr/>
        </p:nvSpPr>
        <p:spPr>
          <a:xfrm>
            <a:off x="5257800" y="3648456"/>
            <a:ext cx="3520440" cy="347472"/>
          </a:xfrm>
          <a:prstGeom prst="rect">
            <a:avLst/>
          </a:prstGeom>
          <a:noFill/>
          <a:ln/>
        </p:spPr>
        <p:txBody>
          <a:bodyPr wrap="square" lIns="0" tIns="0" rIns="0" bIns="0" rtlCol="0" anchor="ctr"/>
          <a:lstStyle/>
          <a:p>
            <a:pPr indent="0" marL="0">
              <a:buNone/>
            </a:pPr>
            <a:r>
              <a:rPr lang="en-US" sz="1050" b="1" dirty="0">
                <a:solidFill>
                  <a:schemeClr val="tx1"/>
                </a:solidFill>
                <a:latin typeface="Calibri" pitchFamily="34" charset="0"/>
                <a:ea typeface="Calibri" pitchFamily="34" charset="-122"/>
                <a:cs typeface="Calibri" pitchFamily="34" charset="-120"/>
              </a:rPr>
              <a:t>Fornecedor trocável</a:t>
            </a:r>
            <a:pPr indent="0" marL="0">
              <a:buNone/>
            </a:pPr>
            <a:r>
              <a:rPr lang="en-US" sz="1050" dirty="0">
                <a:solidFill>
                  <a:schemeClr val="accent5"/>
                </a:solidFill>
                <a:latin typeface="Calibri" pitchFamily="34" charset="0"/>
                <a:ea typeface="Calibri" pitchFamily="34" charset="-122"/>
                <a:cs typeface="Calibri" pitchFamily="34" charset="-120"/>
              </a:rPr>
              <a:t>  dois adaptadores, mesma fronteira</a:t>
            </a:r>
            <a:endParaRPr lang="en-US" sz="10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96A3"/>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O que ainda não está pronto</a:t>
            </a:r>
            <a:endParaRPr lang="en-US" sz="2800" dirty="0"/>
          </a:p>
        </p:txBody>
      </p:sp>
      <p:sp>
        <p:nvSpPr>
          <p:cNvPr id="3" name="pend-0"/>
          <p:cNvSpPr/>
          <p:nvPr/>
        </p:nvSpPr>
        <p:spPr>
          <a:xfrm>
            <a:off x="457200" y="1097280"/>
            <a:ext cx="8229600" cy="566928"/>
          </a:xfrm>
          <a:prstGeom prst="roundRect">
            <a:avLst>
              <a:gd name="adj" fmla="val 12903"/>
            </a:avLst>
          </a:prstGeom>
          <a:solidFill>
            <a:schemeClr val="bg2"/>
          </a:solidFill>
          <a:ln w="12700">
            <a:solidFill>
              <a:schemeClr val="bg2"/>
            </a:solidFill>
            <a:prstDash val="solid"/>
          </a:ln>
        </p:spPr>
      </p:sp>
      <p:sp>
        <p:nvSpPr>
          <p:cNvPr id="4" name="Text 2"/>
          <p:cNvSpPr txBox="1"/>
          <p:nvPr/>
        </p:nvSpPr>
        <p:spPr>
          <a:xfrm>
            <a:off x="594360" y="1207008"/>
            <a:ext cx="548640" cy="347472"/>
          </a:xfrm>
          <a:prstGeom prst="rect">
            <a:avLst/>
          </a:prstGeom>
          <a:noFill/>
          <a:ln/>
        </p:spPr>
        <p:txBody>
          <a:bodyPr wrap="square" lIns="0" tIns="0" rIns="0" bIns="0" rtlCol="0" anchor="t"/>
          <a:lstStyle/>
          <a:p>
            <a:pPr indent="0" marL="0">
              <a:buNone/>
            </a:pPr>
            <a:r>
              <a:rPr lang="en-US" sz="1600" b="1" dirty="0">
                <a:solidFill>
                  <a:schemeClr val="accent3"/>
                </a:solidFill>
                <a:latin typeface="Calibri" pitchFamily="34" charset="0"/>
                <a:ea typeface="Calibri" pitchFamily="34" charset="-122"/>
                <a:cs typeface="Calibri" pitchFamily="34" charset="-120"/>
              </a:rPr>
              <a:t>E1</a:t>
            </a:r>
            <a:endParaRPr lang="en-US" sz="1600" dirty="0"/>
          </a:p>
        </p:txBody>
      </p:sp>
      <p:sp>
        <p:nvSpPr>
          <p:cNvPr id="5" name="Text 3"/>
          <p:cNvSpPr txBox="1"/>
          <p:nvPr/>
        </p:nvSpPr>
        <p:spPr>
          <a:xfrm>
            <a:off x="1234440" y="1170432"/>
            <a:ext cx="7315200" cy="438912"/>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Validar com o orientador a proposta dos cinco projetos de teste (FAB-105).</a:t>
            </a:r>
            <a:endParaRPr lang="en-US" sz="1200" dirty="0"/>
          </a:p>
        </p:txBody>
      </p:sp>
      <p:sp>
        <p:nvSpPr>
          <p:cNvPr id="6" name="pend-1"/>
          <p:cNvSpPr/>
          <p:nvPr/>
        </p:nvSpPr>
        <p:spPr>
          <a:xfrm>
            <a:off x="457200" y="1783080"/>
            <a:ext cx="8229600" cy="566928"/>
          </a:xfrm>
          <a:prstGeom prst="roundRect">
            <a:avLst>
              <a:gd name="adj" fmla="val 12903"/>
            </a:avLst>
          </a:prstGeom>
          <a:solidFill>
            <a:schemeClr val="bg2"/>
          </a:solidFill>
          <a:ln w="12700">
            <a:solidFill>
              <a:schemeClr val="bg2"/>
            </a:solidFill>
            <a:prstDash val="solid"/>
          </a:ln>
        </p:spPr>
      </p:sp>
      <p:sp>
        <p:nvSpPr>
          <p:cNvPr id="7" name="Text 5"/>
          <p:cNvSpPr txBox="1"/>
          <p:nvPr/>
        </p:nvSpPr>
        <p:spPr>
          <a:xfrm>
            <a:off x="594360" y="1892808"/>
            <a:ext cx="548640" cy="347472"/>
          </a:xfrm>
          <a:prstGeom prst="rect">
            <a:avLst/>
          </a:prstGeom>
          <a:noFill/>
          <a:ln/>
        </p:spPr>
        <p:txBody>
          <a:bodyPr wrap="square" lIns="0" tIns="0" rIns="0" bIns="0" rtlCol="0" anchor="t"/>
          <a:lstStyle/>
          <a:p>
            <a:pPr indent="0" marL="0">
              <a:buNone/>
            </a:pPr>
            <a:r>
              <a:rPr lang="en-US" sz="1600" b="1" dirty="0">
                <a:solidFill>
                  <a:schemeClr val="accent3"/>
                </a:solidFill>
                <a:latin typeface="Calibri" pitchFamily="34" charset="0"/>
                <a:ea typeface="Calibri" pitchFamily="34" charset="-122"/>
                <a:cs typeface="Calibri" pitchFamily="34" charset="-120"/>
              </a:rPr>
              <a:t>E3</a:t>
            </a:r>
            <a:endParaRPr lang="en-US" sz="1600" dirty="0"/>
          </a:p>
        </p:txBody>
      </p:sp>
      <p:sp>
        <p:nvSpPr>
          <p:cNvPr id="8" name="Text 6"/>
          <p:cNvSpPr txBox="1"/>
          <p:nvPr/>
        </p:nvSpPr>
        <p:spPr>
          <a:xfrm>
            <a:off x="1234440" y="1856232"/>
            <a:ext cx="7315200" cy="438912"/>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A medição do cache com a API por token depende de uma chave de acesso e foi deixada para depois do marco final.</a:t>
            </a:r>
            <a:endParaRPr lang="en-US" sz="1200" dirty="0"/>
          </a:p>
        </p:txBody>
      </p:sp>
      <p:sp>
        <p:nvSpPr>
          <p:cNvPr id="9" name="pend-2"/>
          <p:cNvSpPr/>
          <p:nvPr/>
        </p:nvSpPr>
        <p:spPr>
          <a:xfrm>
            <a:off x="457200" y="2468880"/>
            <a:ext cx="8229600" cy="566928"/>
          </a:xfrm>
          <a:prstGeom prst="roundRect">
            <a:avLst>
              <a:gd name="adj" fmla="val 12903"/>
            </a:avLst>
          </a:prstGeom>
          <a:solidFill>
            <a:schemeClr val="bg2"/>
          </a:solidFill>
          <a:ln w="12700">
            <a:solidFill>
              <a:schemeClr val="bg2"/>
            </a:solidFill>
            <a:prstDash val="solid"/>
          </a:ln>
        </p:spPr>
      </p:sp>
      <p:sp>
        <p:nvSpPr>
          <p:cNvPr id="10" name="Text 8"/>
          <p:cNvSpPr txBox="1"/>
          <p:nvPr/>
        </p:nvSpPr>
        <p:spPr>
          <a:xfrm>
            <a:off x="594360" y="2578608"/>
            <a:ext cx="548640" cy="347472"/>
          </a:xfrm>
          <a:prstGeom prst="rect">
            <a:avLst/>
          </a:prstGeom>
          <a:noFill/>
          <a:ln/>
        </p:spPr>
        <p:txBody>
          <a:bodyPr wrap="square" lIns="0" tIns="0" rIns="0" bIns="0" rtlCol="0" anchor="t"/>
          <a:lstStyle/>
          <a:p>
            <a:pPr indent="0" marL="0">
              <a:buNone/>
            </a:pPr>
            <a:r>
              <a:rPr lang="en-US" sz="1600" b="1" dirty="0">
                <a:solidFill>
                  <a:schemeClr val="accent3"/>
                </a:solidFill>
                <a:latin typeface="Calibri" pitchFamily="34" charset="0"/>
                <a:ea typeface="Calibri" pitchFamily="34" charset="-122"/>
                <a:cs typeface="Calibri" pitchFamily="34" charset="-120"/>
              </a:rPr>
              <a:t>E4</a:t>
            </a:r>
            <a:endParaRPr lang="en-US" sz="1600" dirty="0"/>
          </a:p>
        </p:txBody>
      </p:sp>
      <p:sp>
        <p:nvSpPr>
          <p:cNvPr id="11" name="Text 9"/>
          <p:cNvSpPr txBox="1"/>
          <p:nvPr/>
        </p:nvSpPr>
        <p:spPr>
          <a:xfrm>
            <a:off x="1234440" y="2542032"/>
            <a:ext cx="7315200" cy="438912"/>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R1 (pedido → tarefas) está implementado; o teste com um pedido real de ponta a ponta acontece na validação (E8).</a:t>
            </a:r>
            <a:endParaRPr lang="en-US" sz="1200" dirty="0"/>
          </a:p>
        </p:txBody>
      </p:sp>
      <p:sp>
        <p:nvSpPr>
          <p:cNvPr id="12" name="pend-3"/>
          <p:cNvSpPr/>
          <p:nvPr/>
        </p:nvSpPr>
        <p:spPr>
          <a:xfrm>
            <a:off x="457200" y="3154680"/>
            <a:ext cx="8229600" cy="566928"/>
          </a:xfrm>
          <a:prstGeom prst="roundRect">
            <a:avLst>
              <a:gd name="adj" fmla="val 12903"/>
            </a:avLst>
          </a:prstGeom>
          <a:solidFill>
            <a:schemeClr val="bg2"/>
          </a:solidFill>
          <a:ln w="12700">
            <a:solidFill>
              <a:schemeClr val="bg2"/>
            </a:solidFill>
            <a:prstDash val="solid"/>
          </a:ln>
        </p:spPr>
      </p:sp>
      <p:sp>
        <p:nvSpPr>
          <p:cNvPr id="13" name="Text 11"/>
          <p:cNvSpPr txBox="1"/>
          <p:nvPr/>
        </p:nvSpPr>
        <p:spPr>
          <a:xfrm>
            <a:off x="594360" y="3264408"/>
            <a:ext cx="548640" cy="347472"/>
          </a:xfrm>
          <a:prstGeom prst="rect">
            <a:avLst/>
          </a:prstGeom>
          <a:noFill/>
          <a:ln/>
        </p:spPr>
        <p:txBody>
          <a:bodyPr wrap="square" lIns="0" tIns="0" rIns="0" bIns="0" rtlCol="0" anchor="t"/>
          <a:lstStyle/>
          <a:p>
            <a:pPr indent="0" marL="0">
              <a:buNone/>
            </a:pPr>
            <a:r>
              <a:rPr lang="en-US" sz="1600" b="1" dirty="0">
                <a:solidFill>
                  <a:schemeClr val="accent3"/>
                </a:solidFill>
                <a:latin typeface="Calibri" pitchFamily="34" charset="0"/>
                <a:ea typeface="Calibri" pitchFamily="34" charset="-122"/>
                <a:cs typeface="Calibri" pitchFamily="34" charset="-120"/>
              </a:rPr>
              <a:t>E6</a:t>
            </a:r>
            <a:endParaRPr lang="en-US" sz="1600" dirty="0"/>
          </a:p>
        </p:txBody>
      </p:sp>
      <p:sp>
        <p:nvSpPr>
          <p:cNvPr id="14" name="Text 12"/>
          <p:cNvSpPr txBox="1"/>
          <p:nvPr/>
        </p:nvSpPr>
        <p:spPr>
          <a:xfrm>
            <a:off x="1234440" y="3227832"/>
            <a:ext cx="7315200" cy="438912"/>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Marco bloqueado: a fila ainda monta a mensagem do agente sem o bloco de memória (ajuste pequeno, já diagnosticado).</a:t>
            </a:r>
            <a:endParaRPr lang="en-US" sz="1200" dirty="0"/>
          </a:p>
        </p:txBody>
      </p:sp>
      <p:sp>
        <p:nvSpPr>
          <p:cNvPr id="15" name="pend-4"/>
          <p:cNvSpPr/>
          <p:nvPr/>
        </p:nvSpPr>
        <p:spPr>
          <a:xfrm>
            <a:off x="457200" y="3840480"/>
            <a:ext cx="8229600" cy="566928"/>
          </a:xfrm>
          <a:prstGeom prst="roundRect">
            <a:avLst>
              <a:gd name="adj" fmla="val 12903"/>
            </a:avLst>
          </a:prstGeom>
          <a:solidFill>
            <a:schemeClr val="bg2"/>
          </a:solidFill>
          <a:ln w="12700">
            <a:solidFill>
              <a:schemeClr val="bg2"/>
            </a:solidFill>
            <a:prstDash val="solid"/>
          </a:ln>
        </p:spPr>
      </p:sp>
      <p:sp>
        <p:nvSpPr>
          <p:cNvPr id="16" name="Text 14"/>
          <p:cNvSpPr txBox="1"/>
          <p:nvPr/>
        </p:nvSpPr>
        <p:spPr>
          <a:xfrm>
            <a:off x="594360" y="3950208"/>
            <a:ext cx="548640" cy="347472"/>
          </a:xfrm>
          <a:prstGeom prst="rect">
            <a:avLst/>
          </a:prstGeom>
          <a:noFill/>
          <a:ln/>
        </p:spPr>
        <p:txBody>
          <a:bodyPr wrap="square" lIns="0" tIns="0" rIns="0" bIns="0" rtlCol="0" anchor="t"/>
          <a:lstStyle/>
          <a:p>
            <a:pPr indent="0" marL="0">
              <a:buNone/>
            </a:pPr>
            <a:r>
              <a:rPr lang="en-US" sz="1600" b="1" dirty="0">
                <a:solidFill>
                  <a:schemeClr val="accent3"/>
                </a:solidFill>
                <a:latin typeface="Calibri" pitchFamily="34" charset="0"/>
                <a:ea typeface="Calibri" pitchFamily="34" charset="-122"/>
                <a:cs typeface="Calibri" pitchFamily="34" charset="-120"/>
              </a:rPr>
              <a:t>E7</a:t>
            </a:r>
            <a:endParaRPr lang="en-US" sz="1600" dirty="0"/>
          </a:p>
        </p:txBody>
      </p:sp>
      <p:sp>
        <p:nvSpPr>
          <p:cNvPr id="17" name="Text 15"/>
          <p:cNvSpPr txBox="1"/>
          <p:nvPr/>
        </p:nvSpPr>
        <p:spPr>
          <a:xfrm>
            <a:off x="1234440" y="3913632"/>
            <a:ext cx="7315200" cy="438912"/>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Marco final (um projeto inteiro sem intervenção) depende do ajuste da E6 e da autorização do teto de gasto.</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96A3"/>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rtlCol="0" anchor="b"/>
          <a:lstStyle/>
          <a:p>
            <a:pPr indent="0" marL="0">
              <a:buNone/>
            </a:pPr>
            <a:r>
              <a:rPr lang="en-US" sz="4000" b="1" dirty="0">
                <a:solidFill>
                  <a:schemeClr val="bg1"/>
                </a:solidFill>
                <a:latin typeface="Cambria" pitchFamily="34" charset="0"/>
                <a:ea typeface="Cambria" pitchFamily="34" charset="-122"/>
                <a:cs typeface="Cambria" pitchFamily="34" charset="-120"/>
              </a:rPr>
              <a:t>Próximo: validação com projetos reais</a:t>
            </a:r>
            <a:endParaRPr lang="en-US" sz="4000" dirty="0"/>
          </a:p>
        </p:txBody>
      </p:sp>
      <p:sp>
        <p:nvSpPr>
          <p:cNvPr id="3" name="Text 0"/>
          <p:cNvSpPr/>
          <p:nvPr>
            <p:ph idx="101" type="body" hasCustomPrompt="1"/>
          </p:nvPr>
        </p:nvSpPr>
        <p:spPr>
          <a:xfrm>
            <a:off x="548640" y="2697480"/>
            <a:ext cx="8046720" cy="1280160"/>
          </a:xfrm>
          <a:prstGeom prst="rect">
            <a:avLst/>
          </a:prstGeom>
          <a:noFill/>
          <a:ln/>
        </p:spPr>
        <p:txBody>
          <a:bodyPr wrap="square" rtlCol="0" anchor="t"/>
          <a:lstStyle/>
          <a:p>
            <a:pPr indent="0" marL="0">
              <a:buNone/>
            </a:pPr>
            <a:r>
              <a:rPr lang="en-US" sz="1800" dirty="0">
                <a:solidFill>
                  <a:schemeClr val="bg2"/>
                </a:solidFill>
              </a:rPr>
              <a:t>E8 · executar os 5 projetos de teste sem intervenção e medir os 8 critérios</a:t>
            </a:r>
            <a:endParaRPr lang="en-US" sz="1800" dirty="0"/>
          </a:p>
          <a:p>
            <a:pPr indent="0" marL="0">
              <a:buNone/>
            </a:pPr>
            <a:r>
              <a:rPr lang="en-US" sz="1800" dirty="0">
                <a:solidFill>
                  <a:schemeClr val="bg2"/>
                </a:solidFill>
              </a:rPr>
              <a:t>E9 · corrigir por ordem de impacto e medir de novo</a:t>
            </a:r>
            <a:endParaRPr lang="en-US" sz="1800" dirty="0"/>
          </a:p>
          <a:p>
            <a:pPr indent="0" marL="0">
              <a:buNone/>
            </a:pPr>
            <a:r>
              <a:rPr lang="en-US" sz="1800" dirty="0">
                <a:solidFill>
                  <a:schemeClr val="bg2"/>
                </a:solidFill>
              </a:rPr>
              <a:t>E10 · último ciclo, versão congelada e documento de entrega</a:t>
            </a:r>
            <a:endParaRPr lang="en-US" sz="1800" dirty="0"/>
          </a:p>
        </p:txBody>
      </p:sp>
    </p:spTree>
  </p:cSld>
  <p:clrMapOvr>
    <a:masterClrMapping/>
  </p:clrMapOvr>
</p:sld>
</file>

<file path=ppt/theme/theme1.xml><?xml version="1.0" encoding="utf-8"?>
<a:theme xmlns:a="http://schemas.openxmlformats.org/drawingml/2006/main" name="Fabrica TCC">
  <a:themeElements>
    <a:clrScheme name="Fabrica TCC">
      <a:dk1>
        <a:srgbClr val="1F2328"/>
      </a:dk1>
      <a:lt1>
        <a:srgbClr val="FFFFFF"/>
      </a:lt1>
      <a:dk2>
        <a:srgbClr val="1B2A41"/>
      </a:dk2>
      <a:lt2>
        <a:srgbClr val="F2F4F7"/>
      </a:lt2>
      <a:accent1>
        <a:srgbClr val="E9A23B"/>
      </a:accent1>
      <a:accent2>
        <a:srgbClr val="2A9D8F"/>
      </a:accent2>
      <a:accent3>
        <a:srgbClr val="C0392B"/>
      </a:accent3>
      <a:accent4>
        <a:srgbClr val="4A6FA5"/>
      </a:accent4>
      <a:accent5>
        <a:srgbClr val="8C96A3"/>
      </a:accent5>
      <a:accent6>
        <a:srgbClr val="6B4E9B"/>
      </a:accent6>
      <a:hlink>
        <a:srgbClr val="4A6FA5"/>
      </a:hlink>
      <a:folHlink>
        <a:srgbClr val="6B4E9B"/>
      </a:folHlink>
    </a:clrScheme>
    <a:fontScheme name="Fabrica TC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Fábrica de Software Multi-Agente — acompanhamento</dc:title>
  <dc:subject>PptxGenJS Presentation</dc:subject>
  <dc:creator>Enzo Consulo</dc:creator>
  <cp:lastModifiedBy>Enzo Consulo</cp:lastModifiedBy>
  <cp:revision>1</cp:revision>
  <dcterms:created xsi:type="dcterms:W3CDTF">2026-10-09T01:44:45Z</dcterms:created>
  <dcterms:modified xsi:type="dcterms:W3CDTF">2026-10-09T01:44:45Z</dcterms:modified>
</cp:coreProperties>
</file>