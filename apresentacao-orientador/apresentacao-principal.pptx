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id="{f059e4ba-a518-62bd-306a-bf7d44a94460}">
          <p14:sldIdLst>
            <p14:sldId id="256"/>
            <p14:sldId id="257"/>
            <p14:sldId id="258"/>
          </p14:sldIdLst>
        </p14:section>
        <p14:section name="O plano" id="{bce015fe-69b7-8e80-2e2d-9f8e85089be9}">
          <p14:sldIdLst>
            <p14:sldId id="259"/>
            <p14:sldId id="260"/>
          </p14:sldIdLst>
        </p14:section>
        <p14:section name="Panorama" id="{a3486d38-e381-6e97-c23b-4847da460564}">
          <p14:sldIdLst>
            <p14:sldId id="261"/>
            <p14:sldId id="262"/>
          </p14:sldIdLst>
        </p14:section>
        <p14:section name="Etapas" id="{623d9e8b-73fb-8898-9e33-5d76386ebdcd}">
          <p14:sldIdLst>
            <p14:sldId id="263"/>
            <p14:sldId id="264"/>
            <p14:sldId id="265"/>
            <p14:sldId id="266"/>
            <p14:sldId id="267"/>
            <p14:sldId id="268"/>
            <p14:sldId id="269"/>
          </p14:sldIdLst>
        </p14:section>
        <p14:section name="Dados" id="{f3b753bb-3d4b-5ad4-2424-2e4839bf3fd4}">
          <p14:sldIdLst>
            <p14:sldId id="270"/>
            <p14:sldId id="271"/>
            <p14:sldId id="272"/>
          </p14:sldIdLst>
        </p14:section>
        <p14:section name="Próximos passos" id="{1a510515-c44a-a223-d165-7d479dc48fcb}">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mn-lt"/>
              </a:defRPr>
            </a:pPr>
            <a:r>
              <a:rPr sz="1300" b="0" i="0" u="none" strike="noStrike">
                <a:solidFill>
                  <a:srgbClr val="1B2A41"/>
                </a:solidFill>
                <a:latin typeface="+mn-lt"/>
              </a:rPr>
              <a:t>Testes automáticos</a:t>
            </a:r>
          </a:p>
        </c:rich>
      </c:tx>
      <c:layout/>
      <c:overlay val="0"/>
    </c:title>
    <c:autoTitleDeleted val="0"/>
    <c:plotArea>
      <c:layout/>
      <c:barChart>
        <c:barDir val="col"/>
        <c:grouping val="clustered"/>
        <c:varyColors val="0"/>
        <c:ser>
          <c:idx val="0"/>
          <c:order val="0"/>
          <c:tx>
            <c:strRef>
              <c:f>Sheet1!$B$1</c:f>
              <c:strCache>
                <c:ptCount val="1"/>
                <c:pt idx="0">
                  <c:v>Testes</c:v>
                </c:pt>
              </c:strCache>
            </c:strRef>
          </c:tx>
          <c:spPr>
            <a:solidFill>
              <a:srgbClr val="2A9D8F"/>
            </a:solidFill>
            <a:effectLst/>
          </c:spPr>
          <c:invertIfNegative val="0"/>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E2</c:v>
                  </c:pt>
                  <c:pt idx="1">
                    <c:v>E3</c:v>
                  </c:pt>
                  <c:pt idx="2">
                    <c:v>E4</c:v>
                  </c:pt>
                  <c:pt idx="3">
                    <c:v>E5</c:v>
                  </c:pt>
                  <c:pt idx="4">
                    <c:v>E6</c:v>
                  </c:pt>
                  <c:pt idx="5">
                    <c:v>E7</c:v>
                  </c:pt>
                </c:lvl>
              </c:multiLvlStrCache>
            </c:multiLvlStrRef>
          </c:cat>
          <c:val>
            <c:numRef>
              <c:f>Sheet1!$B$2:$B$7</c:f>
              <c:numCache>
                <c:formatCode>General</c:formatCode>
                <c:ptCount val="6"/>
                <c:pt idx="0">
                  <c:v>152</c:v>
                </c:pt>
                <c:pt idx="1">
                  <c:v>558</c:v>
                </c:pt>
                <c:pt idx="2">
                  <c:v>908</c:v>
                </c:pt>
                <c:pt idx="3">
                  <c:v>995</c:v>
                </c:pt>
                <c:pt idx="4">
                  <c:v>1080</c:v>
                </c:pt>
                <c:pt idx="5">
                  <c:v>1220</c:v>
                </c:pt>
              </c:numCache>
            </c:numRef>
          </c:val>
        </c:ser>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C96A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mn-lt"/>
              </a:defRPr>
            </a:pPr>
            <a:r>
              <a:rPr sz="1300" b="0" i="0" u="none" strike="noStrike">
                <a:solidFill>
                  <a:srgbClr val="1B2A41"/>
                </a:solidFill>
                <a:latin typeface="+mn-lt"/>
              </a:rPr>
              <a:t>Linhas de código em lib/</a:t>
            </a:r>
          </a:p>
        </c:rich>
      </c:tx>
      <c:layout/>
      <c:overlay val="0"/>
    </c:title>
    <c:autoTitleDeleted val="0"/>
    <c:plotArea>
      <c:layout/>
      <c:barChart>
        <c:barDir val="col"/>
        <c:grouping val="clustered"/>
        <c:varyColors val="0"/>
        <c:ser>
          <c:idx val="0"/>
          <c:order val="0"/>
          <c:tx>
            <c:strRef>
              <c:f>Sheet1!$B$1</c:f>
              <c:strCache>
                <c:ptCount val="1"/>
                <c:pt idx="0">
                  <c:v>Linhas</c:v>
                </c:pt>
              </c:strCache>
            </c:strRef>
          </c:tx>
          <c:spPr>
            <a:solidFill>
              <a:srgbClr val="4A6FA5"/>
            </a:solidFill>
            <a:effectLst/>
          </c:spPr>
          <c:invertIfNegative val="0"/>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E2</c:v>
                  </c:pt>
                  <c:pt idx="1">
                    <c:v>E3</c:v>
                  </c:pt>
                  <c:pt idx="2">
                    <c:v>E4</c:v>
                  </c:pt>
                  <c:pt idx="3">
                    <c:v>E5</c:v>
                  </c:pt>
                  <c:pt idx="4">
                    <c:v>E6</c:v>
                  </c:pt>
                  <c:pt idx="5">
                    <c:v>E7</c:v>
                  </c:pt>
                </c:lvl>
              </c:multiLvlStrCache>
            </c:multiLvlStrRef>
          </c:cat>
          <c:val>
            <c:numRef>
              <c:f>Sheet1!$B$2:$B$7</c:f>
              <c:numCache>
                <c:formatCode>General</c:formatCode>
                <c:ptCount val="6"/>
                <c:pt idx="0">
                  <c:v>2634</c:v>
                </c:pt>
                <c:pt idx="1">
                  <c:v>5774</c:v>
                </c:pt>
                <c:pt idx="2">
                  <c:v>9197</c:v>
                </c:pt>
                <c:pt idx="3">
                  <c:v>10482</c:v>
                </c:pt>
                <c:pt idx="4">
                  <c:v>11468</c:v>
                </c:pt>
                <c:pt idx="5">
                  <c:v>13769</c:v>
                </c:pt>
              </c:numCache>
            </c:numRef>
          </c:val>
        </c:ser>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C96A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mn-lt"/>
              </a:defRPr>
            </a:pPr>
            <a:r>
              <a:rPr sz="1300" b="0" i="0" u="none" strike="noStrike">
                <a:solidFill>
                  <a:srgbClr val="1B2A41"/>
                </a:solidFill>
                <a:latin typeface="+mn-lt"/>
              </a:rPr>
              <a:t>Tarefas concluídas</a:t>
            </a:r>
          </a:p>
        </c:rich>
      </c:tx>
      <c:layout/>
      <c:overlay val="0"/>
    </c:title>
    <c:autoTitleDeleted val="0"/>
    <c:plotArea>
      <c:layout/>
      <c:barChart>
        <c:barDir val="col"/>
        <c:grouping val="clustered"/>
        <c:varyColors val="0"/>
        <c:ser>
          <c:idx val="0"/>
          <c:order val="0"/>
          <c:tx>
            <c:strRef>
              <c:f>Sheet1!$B$1</c:f>
              <c:strCache>
                <c:ptCount val="1"/>
                <c:pt idx="0">
                  <c:v>Tarefas</c:v>
                </c:pt>
              </c:strCache>
            </c:strRef>
          </c:tx>
          <c:spPr>
            <a:solidFill>
              <a:srgbClr val="2A9D8F"/>
            </a:solidFill>
            <a:effectLst/>
          </c:spPr>
          <c:invertIfNegative val="0"/>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E2</c:v>
                  </c:pt>
                  <c:pt idx="1">
                    <c:v>E3</c:v>
                  </c:pt>
                  <c:pt idx="2">
                    <c:v>E4</c:v>
                  </c:pt>
                  <c:pt idx="3">
                    <c:v>E5</c:v>
                  </c:pt>
                  <c:pt idx="4">
                    <c:v>E6</c:v>
                  </c:pt>
                  <c:pt idx="5">
                    <c:v>E7</c:v>
                  </c:pt>
                </c:lvl>
              </c:multiLvlStrCache>
            </c:multiLvlStrRef>
          </c:cat>
          <c:val>
            <c:numRef>
              <c:f>Sheet1!$B$2:$B$7</c:f>
              <c:numCache>
                <c:formatCode>General</c:formatCode>
                <c:ptCount val="6"/>
                <c:pt idx="0">
                  <c:v>5</c:v>
                </c:pt>
                <c:pt idx="1">
                  <c:v>6</c:v>
                </c:pt>
                <c:pt idx="2">
                  <c:v>8</c:v>
                </c:pt>
                <c:pt idx="3">
                  <c:v>6</c:v>
                </c:pt>
                <c:pt idx="4">
                  <c:v>5</c:v>
                </c:pt>
                <c:pt idx="5">
                  <c:v>7</c:v>
                </c:pt>
              </c:numCache>
            </c:numRef>
          </c:val>
        </c:ser>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C96A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mn-lt"/>
              </a:defRPr>
            </a:pPr>
            <a:r>
              <a:rPr sz="1300" b="0" i="0" u="none" strike="noStrike">
                <a:solidFill>
                  <a:srgbClr val="1B2A41"/>
                </a:solidFill>
                <a:latin typeface="+mn-lt"/>
              </a:rPr>
              <a:t>Commits na branch da etapa</a:t>
            </a:r>
          </a:p>
        </c:rich>
      </c:tx>
      <c:layout/>
      <c:overlay val="0"/>
    </c:title>
    <c:autoTitleDeleted val="0"/>
    <c:plotArea>
      <c:layout/>
      <c:barChart>
        <c:barDir val="col"/>
        <c:grouping val="clustered"/>
        <c:varyColors val="0"/>
        <c:ser>
          <c:idx val="0"/>
          <c:order val="0"/>
          <c:tx>
            <c:strRef>
              <c:f>Sheet1!$B$1</c:f>
              <c:strCache>
                <c:ptCount val="1"/>
                <c:pt idx="0">
                  <c:v>Commits</c:v>
                </c:pt>
              </c:strCache>
            </c:strRef>
          </c:tx>
          <c:spPr>
            <a:solidFill>
              <a:srgbClr val="4A6FA5"/>
            </a:solidFill>
            <a:effectLst/>
          </c:spPr>
          <c:invertIfNegative val="0"/>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E2</c:v>
                  </c:pt>
                  <c:pt idx="1">
                    <c:v>E3</c:v>
                  </c:pt>
                  <c:pt idx="2">
                    <c:v>E4</c:v>
                  </c:pt>
                  <c:pt idx="3">
                    <c:v>E5</c:v>
                  </c:pt>
                  <c:pt idx="4">
                    <c:v>E6</c:v>
                  </c:pt>
                  <c:pt idx="5">
                    <c:v>E7</c:v>
                  </c:pt>
                </c:lvl>
              </c:multiLvlStrCache>
            </c:multiLvlStrRef>
          </c:cat>
          <c:val>
            <c:numRef>
              <c:f>Sheet1!$B$2:$B$7</c:f>
              <c:numCache>
                <c:formatCode>General</c:formatCode>
                <c:ptCount val="6"/>
                <c:pt idx="0">
                  <c:v>10</c:v>
                </c:pt>
                <c:pt idx="1">
                  <c:v>13</c:v>
                </c:pt>
                <c:pt idx="2">
                  <c:v>16</c:v>
                </c:pt>
                <c:pt idx="3">
                  <c:v>10</c:v>
                </c:pt>
                <c:pt idx="4">
                  <c:v>9</c:v>
                </c:pt>
                <c:pt idx="5">
                  <c:v>14</c:v>
                </c:pt>
              </c:numCache>
            </c:numRef>
          </c:val>
        </c:ser>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C96A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Abertura. O sistema recebe a descrição de um projeto e o constrói de ponta a ponta com agentes especializados — e as regras de governança são impostas pela estrutura do programa, não pelo texto do pedido.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regra que normalmente é um pedido ao modelo vira um mecanismo do programa. É isso que o projeto inteiro prova, etapa por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etapa construiu uma camada do sistema, de baixo para cima. A cor da etiqueta é a situação da entrega da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Requisitos, arquitetura, divisão do trabalho e critérios de desempenho definidos. Os cinco projetos de teste estão propostos e aguardam validação.
Como: 15 requisitos: 8 funcionais (R1–R8) e 7 restrições (R9–R15), cada um com etapa e forma de verificar. Arquitetura em 4 camadas (tela, motor, agentes, fronteiras) sobre um único banco PostgreSQL. Ciclo de vida da tarefa com 6 estados e 2 portões independentes; escada de 4 degraus para falhas. Pilha Elixir/OTP escolhida pela supervisão de processos: cada agente é um processo isolado. Trabalho de E2–E7 decomposto em 39 tarefas, uma por pacote do plano, com critérios executáveis.
Pendente: Validar com o orientador a proposta dos cinco projetos de teste (FAB-105).
Próxima: E2 — montar a fundação: ambiente, banco, custo, fronteiras e cópia de segurança.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fundação está de pé e se prova sozinha: a suíte inteira roda sem internet e sem consumir o serviço do modelo.
Como: Projeto Phoenix com verificação em um comando (mix factory.ci), do estágio mais barato ao mais caro. Esquema do banco com projetos, tarefas, ciclos, despachos e consumos, criado por migrações. Custo contado em duas unidades — cota da assinatura e dólar — a cada resposta do modelo (R10). Duas fronteiras (Provider e Embedder), cada uma com um adaptador falso que é o padrão nos testes (R12). Backup e restauração do banco com ida e volta provada em estágio próprio da verificação.
Pendente: nada.
Próxima: E3 — o agente e as ferramentas, com confinamento.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agente real resolve uma tarefa real com o custo gravado por volta, e o fornecedor do modelo é trocável sem tocar o núcleo.
Como: Ferramentas de arquivo e de comando; comando com prazo mata a árvore de processos inteira. Confinamento resolvendo o caminho REAL (links, junções, UNC, dispositivos) antes de tocar o disco (R11). O shell do agente roda em sandbox do sistema operacional; sem sandbox, o agente com shell não sobe. O agente é um processo OTP supervisionado, com teto de chamadas por papel imposto pelo sistema. Dois adaptadores atrás da mesma fronteira (CLI do fornecedor e API por token); a governança do CLI foi medida antes de decidir (R15).
Pendente: A medição do cache com a API por token depende de uma chave de acesso e foi deixada para depois do marco final.
Próxima: E4 — a linha de produção: estados, fila, critérios, portões e escada de falha.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regras da linha de produção estão prontas e provadas: uma tarefa é reprovada de propósito, sobe de modelo, é refeita e conclui — cada passo gravado numa transação.
Como: Máquina de estados pura + transição transacional: estado, relatório e custo numa única transação (R2). Fila por dependências, desempate pela tarefa que destrava mais; especialista soma ao papel. Critérios de aceite são comandos rodados pelo sistema, com lista de binários permitidos. Dois portões independentes; o revisor não recebe ferramenta de escrita (R3). Escada de resposta: modelo mais forte, outro especialista, replanejar, humano (R4, R5); teto de gasto que nunca corta no meio (R14).
Pendente: R1 (pedido → tarefas) está implementado; o teste com um pedido real de ponta a ponta acontece na validação (E8). Escada de resposta, diagnóstico e teto de gasto são regras puras, prontas e testadas; nesta etapa nenhum laço automático ainda as chama — quem as encadeia é o teste do marco.
Próxima: E5 — paralelismo e tolerância a falhas.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tarefas rodam em paralelo; matar uma no meio não afeta as outras, e ela volta à fila sem perder trabalho.
Como: Um processo supervisionado por tarefa, com registro dos agentes em voo (R13). Fila durável no banco (Oban): enfileirar e mudar o estado da tarefa na mesma transação. As áreas de cada tarefa são exclusão mútua; o número em voo segue o perfil de 8 GB (R6, R9). Parede de cota do fornecedor reconhecida: o sistema dorme até a reabertura e rearma sozinho. Depois de uma queda, o saneamento devolve o estado das tarefas órfãs e commita o trabalho parcial em nome da tarefa certa (R13).
Pendente: Nesta etapa o lote e o saneamento são chamados pelo teste do marco; quem monta a rodada e enfileira sozinho é o piloto automático (E7). O saneamento roda quando chamado, ainda não automaticamente na subida do sistema. Medir o pico de memória com agentes em paralelo na máquina de 8 GB (R9).
Próxima: E6 — memória do projeto.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peças da memória estão construídas e testadas; a entrega da etapa (o agente citar a decisão anterior) ainda não foi demonstrada.
Como: Medição antes da escolha: o modelo de embedding local escolhido por desempenho medido (R9). O histórico do projeto vira trechos por seção, com embedding; reingerir o mesmo conteúdo não duplica nada. Busca híbrida (significado + termo exato) com fusão de postos, filtrada por projeto. Bloco de contexto com a fonte de cada trecho, fora da faixa cacheada do prompt (R7). Avaliação com recall@8, recall@1 e MRR; busca abaixo da linha de base desliga o bloco.
Pendente: Marco bloqueado: nesta etapa a memória ainda não está ligada ao despacho; na E7 o despacho passa a anexar o bloco, mas a fila ainda o descarta ao montar a mensagem (ajuste pequeno, já localizado). A ingestão ainda não é disparada sozinha a cada mudança do histórico; nesta etapa quem a chama são os testes. Medir o pico de memória com agentes em paralelo na máquina de 8 GB (R9).
Próxima: E7 — painel ao vivo e piloto automático; o despacho passa a anexar a memória (falta a fila entregá-la ao agente).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Telas ao vivo, parar/retomar, piloto com dois freios, trilha genérica, busca de segredos e o agente real na fila estão prontos e testados; parte ainda não está ligada ao sistema em execução, e o projeto inteiro ainda não foi executado.
Como: Barramento de eventos: o motor avisa início e fim de despacho e a parede de cota; telas e piloto escutam sem tocar no motor. Quadro de tarefas por estado, com o custo de cada tarefa, e console com os agentes em execução e a cota (R8). Piloto automático: decisão como função pura em ordem fixa, dois freios obrigatórios, dorme na cota em vez de parar. Trilha para entregas que não são código, com grau de prova obrigatório em cada critério; busca de segredos que recusa publicar. O agente real na fila: mensagem montada da tarefa e da doutrina do papel, ferramentas presas às áreas, portão por papel.
Pendente: Ligar os eventos de mudança de estado e de volta: o motor ainda não os emite, então a tela os recebe só nos testes. Colocar numa página os componentes de Parar/Retomar e do piloto (prontos e testados, sem tela que os use). Chamar no caminho real a trilha genérica, os graus de prova e a busca de segredos (prontos e testados, sem chamador). A fila enviar o bloco de memória ao agente (destrava o marco da E6). Executar o marco: um projeto inteiro sem intervenção, com teto de gasto autorizado.
Próxima: E8 — validação com os cinco projetos de teste e a primeira medição dos 8 critérios.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SCURO">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2697480"/>
            <a:ext cx="8046720" cy="12801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U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2"/>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3" name="Text 0"/>
          <p:cNvSpPr/>
          <p:nvPr/>
        </p:nvSpPr>
        <p:spPr>
          <a:xfrm>
            <a:off x="457200" y="4754880"/>
            <a:ext cx="5486400" cy="274320"/>
          </a:xfrm>
          <a:prstGeom prst="rect">
            <a:avLst/>
          </a:prstGeom>
          <a:noFill/>
          <a:ln/>
        </p:spPr>
        <p:txBody>
          <a:bodyPr wrap="square" rtlCol="0" anchor="ctr"/>
          <a:lstStyle/>
          <a:p>
            <a:pPr indent="0" marL="0">
              <a:buNone/>
            </a:pPr>
            <a:r>
              <a:rPr lang="en-US" sz="900" dirty="0">
                <a:solidFill>
                  <a:schemeClr val="accent5"/>
                </a:solidFill>
              </a:rPr>
              <a:t>Fábrica de Software Multi-Agente · TCC</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Fábrica de Software Multi-Agente</a:t>
            </a:r>
            <a:endParaRPr lang="en-US" sz="4000" dirty="0"/>
          </a:p>
        </p:txBody>
      </p:sp>
      <p:sp>
        <p:nvSpPr>
          <p:cNvPr id="3" name="Text 0"/>
          <p:cNvSpPr/>
          <p:nvPr>
            <p:ph idx="101" type="body" hasCustomPrompt="1"/>
          </p:nvPr>
        </p:nvSpPr>
        <p:spPr>
          <a:xfrm>
            <a:off x="548640" y="2697480"/>
            <a:ext cx="8046720" cy="1280160"/>
          </a:xfrm>
          <a:prstGeom prst="rect">
            <a:avLst/>
          </a:prstGeom>
          <a:noFill/>
          <a:ln/>
        </p:spPr>
        <p:txBody>
          <a:bodyPr wrap="square" rtlCol="0" anchor="t"/>
          <a:lstStyle/>
          <a:p>
            <a:pPr indent="0" marL="0">
              <a:buNone/>
            </a:pPr>
            <a:r>
              <a:rPr lang="en-US" sz="1800" dirty="0">
                <a:solidFill>
                  <a:schemeClr val="bg2"/>
                </a:solidFill>
              </a:rPr>
              <a:t>Acompanhamento do desenvolvimento — Trabalho de Conclusão de Curso</a:t>
            </a:r>
            <a:endParaRPr lang="en-US" sz="1800" dirty="0"/>
          </a:p>
          <a:p>
            <a:pPr indent="0" marL="0">
              <a:buNone/>
            </a:pPr>
            <a:r>
              <a:rPr lang="en-US" sz="1800" dirty="0">
                <a:solidFill>
                  <a:schemeClr val="bg2"/>
                </a:solidFill>
              </a:rPr>
              <a:t>Enzo Consulo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 regra mora na estrutura, não no pedido</a:t>
            </a:r>
            <a:endParaRPr lang="en-US" sz="2800" dirty="0"/>
          </a:p>
        </p:txBody>
      </p:sp>
      <p:sp>
        <p:nvSpPr>
          <p:cNvPr id="3" name="Text 1"/>
          <p:cNvSpPr txBox="1"/>
          <p:nvPr/>
        </p:nvSpPr>
        <p:spPr>
          <a:xfrm>
            <a:off x="457200" y="1051560"/>
            <a:ext cx="8229600" cy="365760"/>
          </a:xfrm>
          <a:prstGeom prst="rect">
            <a:avLst/>
          </a:prstGeom>
          <a:noFill/>
          <a:ln/>
        </p:spPr>
        <p:txBody>
          <a:bodyPr wrap="square" lIns="0" tIns="0" rIns="0" bIns="0" rtlCol="0" anchor="t"/>
          <a:lstStyle/>
          <a:p>
            <a:pPr indent="0" marL="0">
              <a:buNone/>
            </a:pPr>
            <a:r>
              <a:rPr lang="en-US" sz="1600" i="1" dirty="0">
                <a:solidFill>
                  <a:schemeClr val="accent4"/>
                </a:solidFill>
                <a:latin typeface="Calibri" pitchFamily="34" charset="0"/>
                <a:ea typeface="Calibri" pitchFamily="34" charset="-122"/>
                <a:cs typeface="Calibri" pitchFamily="34" charset="-120"/>
              </a:rPr>
              <a:t>Um sistema multi-agente não falha por escrever mal, e sim por governar mal.</a:t>
            </a:r>
            <a:endParaRPr lang="en-US" sz="1600" dirty="0"/>
          </a:p>
        </p:txBody>
      </p:sp>
      <p:sp>
        <p:nvSpPr>
          <p:cNvPr id="4" name="regra-0"/>
          <p:cNvSpPr/>
          <p:nvPr/>
        </p:nvSpPr>
        <p:spPr>
          <a:xfrm>
            <a:off x="457200" y="1600200"/>
            <a:ext cx="4023360" cy="1280160"/>
          </a:xfrm>
          <a:prstGeom prst="roundRect">
            <a:avLst>
              <a:gd name="adj" fmla="val 5714"/>
            </a:avLst>
          </a:prstGeom>
          <a:solidFill>
            <a:schemeClr val="bg2"/>
          </a:solidFill>
          <a:ln w="12700">
            <a:solidFill>
              <a:schemeClr val="bg2"/>
            </a:solidFill>
            <a:prstDash val="solid"/>
          </a:ln>
        </p:spPr>
      </p:sp>
      <p:sp>
        <p:nvSpPr>
          <p:cNvPr id="5" name="Text 3"/>
          <p:cNvSpPr txBox="1"/>
          <p:nvPr/>
        </p:nvSpPr>
        <p:spPr>
          <a:xfrm>
            <a:off x="685800" y="1783080"/>
            <a:ext cx="35661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Não escrever fora do projeto</a:t>
            </a:r>
            <a:endParaRPr lang="en-US" sz="1600" dirty="0"/>
          </a:p>
        </p:txBody>
      </p:sp>
      <p:sp>
        <p:nvSpPr>
          <p:cNvPr id="6" name="Text 4"/>
          <p:cNvSpPr txBox="1"/>
          <p:nvPr/>
        </p:nvSpPr>
        <p:spPr>
          <a:xfrm>
            <a:off x="685800" y="2240280"/>
            <a:ext cx="3566160" cy="502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 a ferramenta de escrita recusa o caminho</a:t>
            </a:r>
            <a:endParaRPr lang="en-US" sz="1400" dirty="0"/>
          </a:p>
        </p:txBody>
      </p:sp>
      <p:sp>
        <p:nvSpPr>
          <p:cNvPr id="7" name="regra-1"/>
          <p:cNvSpPr/>
          <p:nvPr/>
        </p:nvSpPr>
        <p:spPr>
          <a:xfrm>
            <a:off x="4663440" y="1600200"/>
            <a:ext cx="4023360" cy="1280160"/>
          </a:xfrm>
          <a:prstGeom prst="roundRect">
            <a:avLst>
              <a:gd name="adj" fmla="val 5714"/>
            </a:avLst>
          </a:prstGeom>
          <a:solidFill>
            <a:schemeClr val="bg2"/>
          </a:solidFill>
          <a:ln w="12700">
            <a:solidFill>
              <a:schemeClr val="bg2"/>
            </a:solidFill>
            <a:prstDash val="solid"/>
          </a:ln>
        </p:spPr>
      </p:sp>
      <p:sp>
        <p:nvSpPr>
          <p:cNvPr id="8" name="Text 6"/>
          <p:cNvSpPr txBox="1"/>
          <p:nvPr/>
        </p:nvSpPr>
        <p:spPr>
          <a:xfrm>
            <a:off x="4892040" y="1783080"/>
            <a:ext cx="35661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No máximo três tentativas</a:t>
            </a:r>
            <a:endParaRPr lang="en-US" sz="1600" dirty="0"/>
          </a:p>
        </p:txBody>
      </p:sp>
      <p:sp>
        <p:nvSpPr>
          <p:cNvPr id="9" name="Text 7"/>
          <p:cNvSpPr txBox="1"/>
          <p:nvPr/>
        </p:nvSpPr>
        <p:spPr>
          <a:xfrm>
            <a:off x="4892040" y="2240280"/>
            <a:ext cx="3566160" cy="502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 contador no banco, que o agente não altera</a:t>
            </a:r>
            <a:endParaRPr lang="en-US" sz="1400" dirty="0"/>
          </a:p>
        </p:txBody>
      </p:sp>
      <p:sp>
        <p:nvSpPr>
          <p:cNvPr id="10" name="regra-2"/>
          <p:cNvSpPr/>
          <p:nvPr/>
        </p:nvSpPr>
        <p:spPr>
          <a:xfrm>
            <a:off x="457200" y="3063240"/>
            <a:ext cx="4023360" cy="1280160"/>
          </a:xfrm>
          <a:prstGeom prst="roundRect">
            <a:avLst>
              <a:gd name="adj" fmla="val 5714"/>
            </a:avLst>
          </a:prstGeom>
          <a:solidFill>
            <a:schemeClr val="bg2"/>
          </a:solidFill>
          <a:ln w="12700">
            <a:solidFill>
              <a:schemeClr val="bg2"/>
            </a:solidFill>
            <a:prstDash val="solid"/>
          </a:ln>
        </p:spPr>
      </p:sp>
      <p:sp>
        <p:nvSpPr>
          <p:cNvPr id="11" name="Text 9"/>
          <p:cNvSpPr txBox="1"/>
          <p:nvPr/>
        </p:nvSpPr>
        <p:spPr>
          <a:xfrm>
            <a:off x="685800" y="3246120"/>
            <a:ext cx="35661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Quem constrói não aprova</a:t>
            </a:r>
            <a:endParaRPr lang="en-US" sz="1600" dirty="0"/>
          </a:p>
        </p:txBody>
      </p:sp>
      <p:sp>
        <p:nvSpPr>
          <p:cNvPr id="12" name="Text 10"/>
          <p:cNvSpPr txBox="1"/>
          <p:nvPr/>
        </p:nvSpPr>
        <p:spPr>
          <a:xfrm>
            <a:off x="685800" y="3703320"/>
            <a:ext cx="3566160" cy="502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 o revisor não recebe ferramenta de escrita</a:t>
            </a:r>
            <a:endParaRPr lang="en-US" sz="1400" dirty="0"/>
          </a:p>
        </p:txBody>
      </p:sp>
      <p:sp>
        <p:nvSpPr>
          <p:cNvPr id="13" name="regra-3"/>
          <p:cNvSpPr/>
          <p:nvPr/>
        </p:nvSpPr>
        <p:spPr>
          <a:xfrm>
            <a:off x="4663440" y="3063240"/>
            <a:ext cx="4023360" cy="1280160"/>
          </a:xfrm>
          <a:prstGeom prst="roundRect">
            <a:avLst>
              <a:gd name="adj" fmla="val 5714"/>
            </a:avLst>
          </a:prstGeom>
          <a:solidFill>
            <a:schemeClr val="bg2"/>
          </a:solidFill>
          <a:ln w="12700">
            <a:solidFill>
              <a:schemeClr val="bg2"/>
            </a:solidFill>
            <a:prstDash val="solid"/>
          </a:ln>
        </p:spPr>
      </p:sp>
      <p:sp>
        <p:nvSpPr>
          <p:cNvPr id="14" name="Text 12"/>
          <p:cNvSpPr txBox="1"/>
          <p:nvPr/>
        </p:nvSpPr>
        <p:spPr>
          <a:xfrm>
            <a:off x="4892040" y="3246120"/>
            <a:ext cx="35661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Não estourar o orçamento</a:t>
            </a:r>
            <a:endParaRPr lang="en-US" sz="1600" dirty="0"/>
          </a:p>
        </p:txBody>
      </p:sp>
      <p:sp>
        <p:nvSpPr>
          <p:cNvPr id="15" name="Text 13"/>
          <p:cNvSpPr txBox="1"/>
          <p:nvPr/>
        </p:nvSpPr>
        <p:spPr>
          <a:xfrm>
            <a:off x="4892040" y="3703320"/>
            <a:ext cx="3566160" cy="502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 o sistema não deixa começar o que não cabe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 régua: 8 critérios medidos na validação</a:t>
            </a:r>
            <a:endParaRPr lang="en-US" sz="2800" dirty="0"/>
          </a:p>
        </p:txBody>
      </p:sp>
      <p:sp>
        <p:nvSpPr>
          <p:cNvPr id="3" name="crit-0"/>
          <p:cNvSpPr/>
          <p:nvPr/>
        </p:nvSpPr>
        <p:spPr>
          <a:xfrm>
            <a:off x="457200" y="1188720"/>
            <a:ext cx="1920240" cy="1417320"/>
          </a:xfrm>
          <a:prstGeom prst="roundRect">
            <a:avLst>
              <a:gd name="adj" fmla="val 5161"/>
            </a:avLst>
          </a:prstGeom>
          <a:solidFill>
            <a:schemeClr val="bg2"/>
          </a:solidFill>
          <a:ln w="12700">
            <a:solidFill>
              <a:schemeClr val="bg2"/>
            </a:solidFill>
            <a:prstDash val="solid"/>
          </a:ln>
        </p:spPr>
      </p:sp>
      <p:sp>
        <p:nvSpPr>
          <p:cNvPr id="4" name="Text 2"/>
          <p:cNvSpPr txBox="1"/>
          <p:nvPr/>
        </p:nvSpPr>
        <p:spPr>
          <a:xfrm>
            <a:off x="621792" y="13716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Constrói sozinho</a:t>
            </a:r>
            <a:endParaRPr lang="en-US" sz="1500" dirty="0"/>
          </a:p>
        </p:txBody>
      </p:sp>
      <p:sp>
        <p:nvSpPr>
          <p:cNvPr id="5" name="Text 3"/>
          <p:cNvSpPr txBox="1"/>
          <p:nvPr/>
        </p:nvSpPr>
        <p:spPr>
          <a:xfrm>
            <a:off x="621792" y="20116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 3 de 5 projetos</a:t>
            </a:r>
            <a:endParaRPr lang="en-US" sz="1300" dirty="0"/>
          </a:p>
        </p:txBody>
      </p:sp>
      <p:sp>
        <p:nvSpPr>
          <p:cNvPr id="6" name="crit-1"/>
          <p:cNvSpPr/>
          <p:nvPr/>
        </p:nvSpPr>
        <p:spPr>
          <a:xfrm>
            <a:off x="2560320" y="1188720"/>
            <a:ext cx="1920240" cy="1417320"/>
          </a:xfrm>
          <a:prstGeom prst="roundRect">
            <a:avLst>
              <a:gd name="adj" fmla="val 5161"/>
            </a:avLst>
          </a:prstGeom>
          <a:solidFill>
            <a:schemeClr val="bg2"/>
          </a:solidFill>
          <a:ln w="12700">
            <a:solidFill>
              <a:schemeClr val="bg2"/>
            </a:solidFill>
            <a:prstDash val="solid"/>
          </a:ln>
        </p:spPr>
      </p:sp>
      <p:sp>
        <p:nvSpPr>
          <p:cNvPr id="7" name="Text 5"/>
          <p:cNvSpPr txBox="1"/>
          <p:nvPr/>
        </p:nvSpPr>
        <p:spPr>
          <a:xfrm>
            <a:off x="2724912" y="13716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Conclui tarefas</a:t>
            </a:r>
            <a:endParaRPr lang="en-US" sz="1500" dirty="0"/>
          </a:p>
        </p:txBody>
      </p:sp>
      <p:sp>
        <p:nvSpPr>
          <p:cNvPr id="8" name="Text 6"/>
          <p:cNvSpPr txBox="1"/>
          <p:nvPr/>
        </p:nvSpPr>
        <p:spPr>
          <a:xfrm>
            <a:off x="2724912" y="20116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 80%</a:t>
            </a:r>
            <a:endParaRPr lang="en-US" sz="1300" dirty="0"/>
          </a:p>
        </p:txBody>
      </p:sp>
      <p:sp>
        <p:nvSpPr>
          <p:cNvPr id="9" name="crit-2"/>
          <p:cNvSpPr/>
          <p:nvPr/>
        </p:nvSpPr>
        <p:spPr>
          <a:xfrm>
            <a:off x="4663440" y="1188720"/>
            <a:ext cx="1920240" cy="1417320"/>
          </a:xfrm>
          <a:prstGeom prst="roundRect">
            <a:avLst>
              <a:gd name="adj" fmla="val 5161"/>
            </a:avLst>
          </a:prstGeom>
          <a:solidFill>
            <a:schemeClr val="bg2"/>
          </a:solidFill>
          <a:ln w="12700">
            <a:solidFill>
              <a:schemeClr val="bg2"/>
            </a:solidFill>
            <a:prstDash val="solid"/>
          </a:ln>
        </p:spPr>
      </p:sp>
      <p:sp>
        <p:nvSpPr>
          <p:cNvPr id="10" name="Text 8"/>
          <p:cNvSpPr txBox="1"/>
          <p:nvPr/>
        </p:nvSpPr>
        <p:spPr>
          <a:xfrm>
            <a:off x="4828032" y="13716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Pouco retrabalho</a:t>
            </a:r>
            <a:endParaRPr lang="en-US" sz="1500" dirty="0"/>
          </a:p>
        </p:txBody>
      </p:sp>
      <p:sp>
        <p:nvSpPr>
          <p:cNvPr id="11" name="Text 9"/>
          <p:cNvSpPr txBox="1"/>
          <p:nvPr/>
        </p:nvSpPr>
        <p:spPr>
          <a:xfrm>
            <a:off x="4828032" y="20116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 2 execuções</a:t>
            </a:r>
            <a:endParaRPr lang="en-US" sz="1300" dirty="0"/>
          </a:p>
        </p:txBody>
      </p:sp>
      <p:sp>
        <p:nvSpPr>
          <p:cNvPr id="12" name="crit-3"/>
          <p:cNvSpPr/>
          <p:nvPr/>
        </p:nvSpPr>
        <p:spPr>
          <a:xfrm>
            <a:off x="6766560" y="1188720"/>
            <a:ext cx="1920240" cy="1417320"/>
          </a:xfrm>
          <a:prstGeom prst="roundRect">
            <a:avLst>
              <a:gd name="adj" fmla="val 5161"/>
            </a:avLst>
          </a:prstGeom>
          <a:solidFill>
            <a:schemeClr val="bg2"/>
          </a:solidFill>
          <a:ln w="12700">
            <a:solidFill>
              <a:schemeClr val="bg2"/>
            </a:solidFill>
            <a:prstDash val="solid"/>
          </a:ln>
        </p:spPr>
      </p:sp>
      <p:sp>
        <p:nvSpPr>
          <p:cNvPr id="13" name="Text 11"/>
          <p:cNvSpPr txBox="1"/>
          <p:nvPr/>
        </p:nvSpPr>
        <p:spPr>
          <a:xfrm>
            <a:off x="6931152" y="13716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Não aprova errado</a:t>
            </a:r>
            <a:endParaRPr lang="en-US" sz="1500" dirty="0"/>
          </a:p>
        </p:txBody>
      </p:sp>
      <p:sp>
        <p:nvSpPr>
          <p:cNvPr id="14" name="Text 12"/>
          <p:cNvSpPr txBox="1"/>
          <p:nvPr/>
        </p:nvSpPr>
        <p:spPr>
          <a:xfrm>
            <a:off x="6931152" y="20116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nenhuma</a:t>
            </a:r>
            <a:endParaRPr lang="en-US" sz="1300" dirty="0"/>
          </a:p>
        </p:txBody>
      </p:sp>
      <p:sp>
        <p:nvSpPr>
          <p:cNvPr id="15" name="crit-4"/>
          <p:cNvSpPr/>
          <p:nvPr/>
        </p:nvSpPr>
        <p:spPr>
          <a:xfrm>
            <a:off x="457200" y="2788920"/>
            <a:ext cx="1920240" cy="1417320"/>
          </a:xfrm>
          <a:prstGeom prst="roundRect">
            <a:avLst>
              <a:gd name="adj" fmla="val 5161"/>
            </a:avLst>
          </a:prstGeom>
          <a:solidFill>
            <a:schemeClr val="bg2"/>
          </a:solidFill>
          <a:ln w="12700">
            <a:solidFill>
              <a:schemeClr val="bg2"/>
            </a:solidFill>
            <a:prstDash val="solid"/>
          </a:ln>
        </p:spPr>
      </p:sp>
      <p:sp>
        <p:nvSpPr>
          <p:cNvPr id="16" name="Text 14"/>
          <p:cNvSpPr txBox="1"/>
          <p:nvPr/>
        </p:nvSpPr>
        <p:spPr>
          <a:xfrm>
            <a:off x="621792" y="29718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Governa de verdade</a:t>
            </a:r>
            <a:endParaRPr lang="en-US" sz="1500" dirty="0"/>
          </a:p>
        </p:txBody>
      </p:sp>
      <p:sp>
        <p:nvSpPr>
          <p:cNvPr id="17" name="Text 15"/>
          <p:cNvSpPr txBox="1"/>
          <p:nvPr/>
        </p:nvSpPr>
        <p:spPr>
          <a:xfrm>
            <a:off x="621792" y="36118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todas barradas</a:t>
            </a:r>
            <a:endParaRPr lang="en-US" sz="1300" dirty="0"/>
          </a:p>
        </p:txBody>
      </p:sp>
      <p:sp>
        <p:nvSpPr>
          <p:cNvPr id="18" name="crit-5"/>
          <p:cNvSpPr/>
          <p:nvPr/>
        </p:nvSpPr>
        <p:spPr>
          <a:xfrm>
            <a:off x="2560320" y="2788920"/>
            <a:ext cx="1920240" cy="1417320"/>
          </a:xfrm>
          <a:prstGeom prst="roundRect">
            <a:avLst>
              <a:gd name="adj" fmla="val 5161"/>
            </a:avLst>
          </a:prstGeom>
          <a:solidFill>
            <a:schemeClr val="bg2"/>
          </a:solidFill>
          <a:ln w="12700">
            <a:solidFill>
              <a:schemeClr val="bg2"/>
            </a:solidFill>
            <a:prstDash val="solid"/>
          </a:ln>
        </p:spPr>
      </p:sp>
      <p:sp>
        <p:nvSpPr>
          <p:cNvPr id="19" name="Text 17"/>
          <p:cNvSpPr txBox="1"/>
          <p:nvPr/>
        </p:nvSpPr>
        <p:spPr>
          <a:xfrm>
            <a:off x="2724912" y="29718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Aguenta falha</a:t>
            </a:r>
            <a:endParaRPr lang="en-US" sz="1500" dirty="0"/>
          </a:p>
        </p:txBody>
      </p:sp>
      <p:sp>
        <p:nvSpPr>
          <p:cNvPr id="20" name="Text 18"/>
          <p:cNvSpPr txBox="1"/>
          <p:nvPr/>
        </p:nvSpPr>
        <p:spPr>
          <a:xfrm>
            <a:off x="2724912" y="36118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sem perder trabalho</a:t>
            </a:r>
            <a:endParaRPr lang="en-US" sz="1300" dirty="0"/>
          </a:p>
        </p:txBody>
      </p:sp>
      <p:sp>
        <p:nvSpPr>
          <p:cNvPr id="21" name="crit-6"/>
          <p:cNvSpPr/>
          <p:nvPr/>
        </p:nvSpPr>
        <p:spPr>
          <a:xfrm>
            <a:off x="4663440" y="2788920"/>
            <a:ext cx="1920240" cy="1417320"/>
          </a:xfrm>
          <a:prstGeom prst="roundRect">
            <a:avLst>
              <a:gd name="adj" fmla="val 5161"/>
            </a:avLst>
          </a:prstGeom>
          <a:solidFill>
            <a:schemeClr val="bg2"/>
          </a:solidFill>
          <a:ln w="12700">
            <a:solidFill>
              <a:schemeClr val="bg2"/>
            </a:solidFill>
            <a:prstDash val="solid"/>
          </a:ln>
        </p:spPr>
      </p:sp>
      <p:sp>
        <p:nvSpPr>
          <p:cNvPr id="22" name="Text 20"/>
          <p:cNvSpPr txBox="1"/>
          <p:nvPr/>
        </p:nvSpPr>
        <p:spPr>
          <a:xfrm>
            <a:off x="4828032" y="29718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Custo sob controle</a:t>
            </a:r>
            <a:endParaRPr lang="en-US" sz="1500" dirty="0"/>
          </a:p>
        </p:txBody>
      </p:sp>
      <p:sp>
        <p:nvSpPr>
          <p:cNvPr id="23" name="Text 21"/>
          <p:cNvSpPr txBox="1"/>
          <p:nvPr/>
        </p:nvSpPr>
        <p:spPr>
          <a:xfrm>
            <a:off x="4828032" y="36118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nenhuma acima do teto</a:t>
            </a:r>
            <a:endParaRPr lang="en-US" sz="1300" dirty="0"/>
          </a:p>
        </p:txBody>
      </p:sp>
      <p:sp>
        <p:nvSpPr>
          <p:cNvPr id="24" name="crit-7"/>
          <p:cNvSpPr/>
          <p:nvPr/>
        </p:nvSpPr>
        <p:spPr>
          <a:xfrm>
            <a:off x="6766560" y="2788920"/>
            <a:ext cx="1920240" cy="1417320"/>
          </a:xfrm>
          <a:prstGeom prst="roundRect">
            <a:avLst>
              <a:gd name="adj" fmla="val 5161"/>
            </a:avLst>
          </a:prstGeom>
          <a:solidFill>
            <a:schemeClr val="bg2"/>
          </a:solidFill>
          <a:ln w="12700">
            <a:solidFill>
              <a:schemeClr val="bg2"/>
            </a:solidFill>
            <a:prstDash val="solid"/>
          </a:ln>
        </p:spPr>
      </p:sp>
      <p:sp>
        <p:nvSpPr>
          <p:cNvPr id="25" name="Text 23"/>
          <p:cNvSpPr txBox="1"/>
          <p:nvPr/>
        </p:nvSpPr>
        <p:spPr>
          <a:xfrm>
            <a:off x="6931152" y="29718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Cabe na máquina</a:t>
            </a:r>
            <a:endParaRPr lang="en-US" sz="1500" dirty="0"/>
          </a:p>
        </p:txBody>
      </p:sp>
      <p:sp>
        <p:nvSpPr>
          <p:cNvPr id="26" name="Text 24"/>
          <p:cNvSpPr txBox="1"/>
          <p:nvPr/>
        </p:nvSpPr>
        <p:spPr>
          <a:xfrm>
            <a:off x="6931152" y="36118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 8 GB</a:t>
            </a:r>
            <a:endParaRPr lang="en-US" sz="1300" dirty="0"/>
          </a:p>
        </p:txBody>
      </p:sp>
      <p:sp>
        <p:nvSpPr>
          <p:cNvPr id="27" name="Text 25"/>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Medidos a partir da E8 com os 5 projetos de teste. Ajusta-se o sistema, nunca a régua.</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O plano: 10 etapas em cascata</a:t>
            </a:r>
            <a:endParaRPr lang="en-US" sz="2800" dirty="0"/>
          </a:p>
        </p:txBody>
      </p:sp>
      <p:sp>
        <p:nvSpPr>
          <p:cNvPr id="3" name="etapa-1"/>
          <p:cNvSpPr/>
          <p:nvPr/>
        </p:nvSpPr>
        <p:spPr>
          <a:xfrm>
            <a:off x="457200" y="1371600"/>
            <a:ext cx="777240" cy="1005840"/>
          </a:xfrm>
          <a:prstGeom prst="roundRect">
            <a:avLst>
              <a:gd name="adj" fmla="val 9412"/>
            </a:avLst>
          </a:prstGeom>
          <a:solidFill>
            <a:schemeClr val="accent1"/>
          </a:solidFill>
          <a:ln w="12700">
            <a:solidFill>
              <a:schemeClr val="accent1"/>
            </a:solidFill>
            <a:prstDash val="solid"/>
          </a:ln>
        </p:spPr>
      </p:sp>
      <p:sp>
        <p:nvSpPr>
          <p:cNvPr id="4" name="Text 2"/>
          <p:cNvSpPr txBox="1"/>
          <p:nvPr/>
        </p:nvSpPr>
        <p:spPr>
          <a:xfrm>
            <a:off x="457200"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E1</a:t>
            </a:r>
            <a:endParaRPr lang="en-US" sz="1800" dirty="0"/>
          </a:p>
        </p:txBody>
      </p:sp>
      <p:sp>
        <p:nvSpPr>
          <p:cNvPr id="5" name="Text 3"/>
          <p:cNvSpPr txBox="1"/>
          <p:nvPr/>
        </p:nvSpPr>
        <p:spPr>
          <a:xfrm>
            <a:off x="484632"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Planejamento</a:t>
            </a:r>
            <a:endParaRPr lang="en-US" sz="950" dirty="0"/>
          </a:p>
        </p:txBody>
      </p:sp>
      <p:sp>
        <p:nvSpPr>
          <p:cNvPr id="6" name="etapa-2"/>
          <p:cNvSpPr/>
          <p:nvPr/>
        </p:nvSpPr>
        <p:spPr>
          <a:xfrm>
            <a:off x="1284732" y="1371600"/>
            <a:ext cx="777240" cy="1005840"/>
          </a:xfrm>
          <a:prstGeom prst="roundRect">
            <a:avLst>
              <a:gd name="adj" fmla="val 9412"/>
            </a:avLst>
          </a:prstGeom>
          <a:solidFill>
            <a:schemeClr val="accent2"/>
          </a:solidFill>
          <a:ln w="12700">
            <a:solidFill>
              <a:schemeClr val="accent2"/>
            </a:solidFill>
            <a:prstDash val="solid"/>
          </a:ln>
        </p:spPr>
      </p:sp>
      <p:sp>
        <p:nvSpPr>
          <p:cNvPr id="7" name="Text 5"/>
          <p:cNvSpPr txBox="1"/>
          <p:nvPr/>
        </p:nvSpPr>
        <p:spPr>
          <a:xfrm>
            <a:off x="1284732"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E2</a:t>
            </a:r>
            <a:endParaRPr lang="en-US" sz="1800" dirty="0"/>
          </a:p>
        </p:txBody>
      </p:sp>
      <p:sp>
        <p:nvSpPr>
          <p:cNvPr id="8" name="Text 6"/>
          <p:cNvSpPr txBox="1"/>
          <p:nvPr/>
        </p:nvSpPr>
        <p:spPr>
          <a:xfrm>
            <a:off x="1312164"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Fundação</a:t>
            </a:r>
            <a:endParaRPr lang="en-US" sz="950" dirty="0"/>
          </a:p>
        </p:txBody>
      </p:sp>
      <p:sp>
        <p:nvSpPr>
          <p:cNvPr id="9" name="etapa-3"/>
          <p:cNvSpPr/>
          <p:nvPr/>
        </p:nvSpPr>
        <p:spPr>
          <a:xfrm>
            <a:off x="2112264" y="1371600"/>
            <a:ext cx="777240" cy="1005840"/>
          </a:xfrm>
          <a:prstGeom prst="roundRect">
            <a:avLst>
              <a:gd name="adj" fmla="val 9412"/>
            </a:avLst>
          </a:prstGeom>
          <a:solidFill>
            <a:schemeClr val="accent2"/>
          </a:solidFill>
          <a:ln w="12700">
            <a:solidFill>
              <a:schemeClr val="accent2"/>
            </a:solidFill>
            <a:prstDash val="solid"/>
          </a:ln>
        </p:spPr>
      </p:sp>
      <p:sp>
        <p:nvSpPr>
          <p:cNvPr id="10" name="Text 8"/>
          <p:cNvSpPr txBox="1"/>
          <p:nvPr/>
        </p:nvSpPr>
        <p:spPr>
          <a:xfrm>
            <a:off x="2112264"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E3</a:t>
            </a:r>
            <a:endParaRPr lang="en-US" sz="1800" dirty="0"/>
          </a:p>
        </p:txBody>
      </p:sp>
      <p:sp>
        <p:nvSpPr>
          <p:cNvPr id="11" name="Text 9"/>
          <p:cNvSpPr txBox="1"/>
          <p:nvPr/>
        </p:nvSpPr>
        <p:spPr>
          <a:xfrm>
            <a:off x="2139696"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Agente</a:t>
            </a:r>
            <a:endParaRPr lang="en-US" sz="950" dirty="0"/>
          </a:p>
        </p:txBody>
      </p:sp>
      <p:sp>
        <p:nvSpPr>
          <p:cNvPr id="12" name="etapa-4"/>
          <p:cNvSpPr/>
          <p:nvPr/>
        </p:nvSpPr>
        <p:spPr>
          <a:xfrm>
            <a:off x="2939796" y="1371600"/>
            <a:ext cx="777240" cy="1005840"/>
          </a:xfrm>
          <a:prstGeom prst="roundRect">
            <a:avLst>
              <a:gd name="adj" fmla="val 9412"/>
            </a:avLst>
          </a:prstGeom>
          <a:solidFill>
            <a:schemeClr val="accent2"/>
          </a:solidFill>
          <a:ln w="12700">
            <a:solidFill>
              <a:schemeClr val="accent2"/>
            </a:solidFill>
            <a:prstDash val="solid"/>
          </a:ln>
        </p:spPr>
      </p:sp>
      <p:sp>
        <p:nvSpPr>
          <p:cNvPr id="13" name="Text 11"/>
          <p:cNvSpPr txBox="1"/>
          <p:nvPr/>
        </p:nvSpPr>
        <p:spPr>
          <a:xfrm>
            <a:off x="2939796"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E4</a:t>
            </a:r>
            <a:endParaRPr lang="en-US" sz="1800" dirty="0"/>
          </a:p>
        </p:txBody>
      </p:sp>
      <p:sp>
        <p:nvSpPr>
          <p:cNvPr id="14" name="Text 12"/>
          <p:cNvSpPr txBox="1"/>
          <p:nvPr/>
        </p:nvSpPr>
        <p:spPr>
          <a:xfrm>
            <a:off x="2967228"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Linha de produção</a:t>
            </a:r>
            <a:endParaRPr lang="en-US" sz="950" dirty="0"/>
          </a:p>
        </p:txBody>
      </p:sp>
      <p:sp>
        <p:nvSpPr>
          <p:cNvPr id="15" name="etapa-5"/>
          <p:cNvSpPr/>
          <p:nvPr/>
        </p:nvSpPr>
        <p:spPr>
          <a:xfrm>
            <a:off x="3767328" y="1371600"/>
            <a:ext cx="777240" cy="1005840"/>
          </a:xfrm>
          <a:prstGeom prst="roundRect">
            <a:avLst>
              <a:gd name="adj" fmla="val 9412"/>
            </a:avLst>
          </a:prstGeom>
          <a:solidFill>
            <a:schemeClr val="accent2"/>
          </a:solidFill>
          <a:ln w="12700">
            <a:solidFill>
              <a:schemeClr val="accent2"/>
            </a:solidFill>
            <a:prstDash val="solid"/>
          </a:ln>
        </p:spPr>
      </p:sp>
      <p:sp>
        <p:nvSpPr>
          <p:cNvPr id="16" name="Text 14"/>
          <p:cNvSpPr txBox="1"/>
          <p:nvPr/>
        </p:nvSpPr>
        <p:spPr>
          <a:xfrm>
            <a:off x="3767328"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E5</a:t>
            </a:r>
            <a:endParaRPr lang="en-US" sz="1800" dirty="0"/>
          </a:p>
        </p:txBody>
      </p:sp>
      <p:sp>
        <p:nvSpPr>
          <p:cNvPr id="17" name="Text 15"/>
          <p:cNvSpPr txBox="1"/>
          <p:nvPr/>
        </p:nvSpPr>
        <p:spPr>
          <a:xfrm>
            <a:off x="3794760"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Paralelismo</a:t>
            </a:r>
            <a:endParaRPr lang="en-US" sz="950" dirty="0"/>
          </a:p>
        </p:txBody>
      </p:sp>
      <p:sp>
        <p:nvSpPr>
          <p:cNvPr id="18" name="etapa-6"/>
          <p:cNvSpPr/>
          <p:nvPr/>
        </p:nvSpPr>
        <p:spPr>
          <a:xfrm>
            <a:off x="4594860" y="1371600"/>
            <a:ext cx="777240" cy="1005840"/>
          </a:xfrm>
          <a:prstGeom prst="roundRect">
            <a:avLst>
              <a:gd name="adj" fmla="val 9412"/>
            </a:avLst>
          </a:prstGeom>
          <a:solidFill>
            <a:schemeClr val="accent3"/>
          </a:solidFill>
          <a:ln w="12700">
            <a:solidFill>
              <a:schemeClr val="accent3"/>
            </a:solidFill>
            <a:prstDash val="solid"/>
          </a:ln>
        </p:spPr>
      </p:sp>
      <p:sp>
        <p:nvSpPr>
          <p:cNvPr id="19" name="Text 17"/>
          <p:cNvSpPr txBox="1"/>
          <p:nvPr/>
        </p:nvSpPr>
        <p:spPr>
          <a:xfrm>
            <a:off x="4594860"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E6</a:t>
            </a:r>
            <a:endParaRPr lang="en-US" sz="1800" dirty="0"/>
          </a:p>
        </p:txBody>
      </p:sp>
      <p:sp>
        <p:nvSpPr>
          <p:cNvPr id="20" name="Text 18"/>
          <p:cNvSpPr txBox="1"/>
          <p:nvPr/>
        </p:nvSpPr>
        <p:spPr>
          <a:xfrm>
            <a:off x="4622292"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Memória</a:t>
            </a:r>
            <a:endParaRPr lang="en-US" sz="950" dirty="0"/>
          </a:p>
        </p:txBody>
      </p:sp>
      <p:sp>
        <p:nvSpPr>
          <p:cNvPr id="21" name="etapa-7"/>
          <p:cNvSpPr/>
          <p:nvPr/>
        </p:nvSpPr>
        <p:spPr>
          <a:xfrm>
            <a:off x="5422392" y="1371600"/>
            <a:ext cx="777240" cy="1005840"/>
          </a:xfrm>
          <a:prstGeom prst="roundRect">
            <a:avLst>
              <a:gd name="adj" fmla="val 9412"/>
            </a:avLst>
          </a:prstGeom>
          <a:solidFill>
            <a:schemeClr val="accent1"/>
          </a:solidFill>
          <a:ln w="12700">
            <a:solidFill>
              <a:schemeClr val="accent1"/>
            </a:solidFill>
            <a:prstDash val="solid"/>
          </a:ln>
        </p:spPr>
      </p:sp>
      <p:sp>
        <p:nvSpPr>
          <p:cNvPr id="22" name="Text 20"/>
          <p:cNvSpPr txBox="1"/>
          <p:nvPr/>
        </p:nvSpPr>
        <p:spPr>
          <a:xfrm>
            <a:off x="5422392"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E7</a:t>
            </a:r>
            <a:endParaRPr lang="en-US" sz="1800" dirty="0"/>
          </a:p>
        </p:txBody>
      </p:sp>
      <p:sp>
        <p:nvSpPr>
          <p:cNvPr id="23" name="Text 21"/>
          <p:cNvSpPr txBox="1"/>
          <p:nvPr/>
        </p:nvSpPr>
        <p:spPr>
          <a:xfrm>
            <a:off x="5449824"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Painel</a:t>
            </a:r>
            <a:endParaRPr lang="en-US" sz="950" dirty="0"/>
          </a:p>
        </p:txBody>
      </p:sp>
      <p:sp>
        <p:nvSpPr>
          <p:cNvPr id="24" name="etapa-8"/>
          <p:cNvSpPr/>
          <p:nvPr/>
        </p:nvSpPr>
        <p:spPr>
          <a:xfrm>
            <a:off x="6249924" y="1371600"/>
            <a:ext cx="777240" cy="1005840"/>
          </a:xfrm>
          <a:prstGeom prst="roundRect">
            <a:avLst>
              <a:gd name="adj" fmla="val 9412"/>
            </a:avLst>
          </a:prstGeom>
          <a:solidFill>
            <a:schemeClr val="bg2"/>
          </a:solidFill>
          <a:ln w="12700">
            <a:solidFill>
              <a:schemeClr val="bg2"/>
            </a:solidFill>
            <a:prstDash val="solid"/>
          </a:ln>
        </p:spPr>
      </p:sp>
      <p:sp>
        <p:nvSpPr>
          <p:cNvPr id="25" name="Text 23"/>
          <p:cNvSpPr txBox="1"/>
          <p:nvPr/>
        </p:nvSpPr>
        <p:spPr>
          <a:xfrm>
            <a:off x="6249924" y="1481328"/>
            <a:ext cx="77724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libri" pitchFamily="34" charset="0"/>
                <a:ea typeface="Calibri" pitchFamily="34" charset="-122"/>
                <a:cs typeface="Calibri" pitchFamily="34" charset="-120"/>
              </a:rPr>
              <a:t>E8</a:t>
            </a:r>
            <a:endParaRPr lang="en-US" sz="1800" dirty="0"/>
          </a:p>
        </p:txBody>
      </p:sp>
      <p:sp>
        <p:nvSpPr>
          <p:cNvPr id="26" name="Text 24"/>
          <p:cNvSpPr txBox="1"/>
          <p:nvPr/>
        </p:nvSpPr>
        <p:spPr>
          <a:xfrm>
            <a:off x="6277356" y="1874520"/>
            <a:ext cx="722376" cy="457200"/>
          </a:xfrm>
          <a:prstGeom prst="rect">
            <a:avLst/>
          </a:prstGeom>
          <a:noFill/>
          <a:ln/>
        </p:spPr>
        <p:txBody>
          <a:bodyPr wrap="square" lIns="0" tIns="0" rIns="0" bIns="0" rtlCol="0" anchor="t"/>
          <a:lstStyle/>
          <a:p>
            <a:pPr algn="ctr" indent="0" marL="0">
              <a:buNone/>
            </a:pPr>
            <a:r>
              <a:rPr lang="en-US" sz="950" dirty="0">
                <a:solidFill>
                  <a:schemeClr val="tx2"/>
                </a:solidFill>
                <a:latin typeface="Calibri" pitchFamily="34" charset="0"/>
                <a:ea typeface="Calibri" pitchFamily="34" charset="-122"/>
                <a:cs typeface="Calibri" pitchFamily="34" charset="-120"/>
              </a:rPr>
              <a:t>Testes reais</a:t>
            </a:r>
            <a:endParaRPr lang="en-US" sz="950" dirty="0"/>
          </a:p>
        </p:txBody>
      </p:sp>
      <p:sp>
        <p:nvSpPr>
          <p:cNvPr id="27" name="etapa-9"/>
          <p:cNvSpPr/>
          <p:nvPr/>
        </p:nvSpPr>
        <p:spPr>
          <a:xfrm>
            <a:off x="7077456" y="1371600"/>
            <a:ext cx="777240" cy="1005840"/>
          </a:xfrm>
          <a:prstGeom prst="roundRect">
            <a:avLst>
              <a:gd name="adj" fmla="val 9412"/>
            </a:avLst>
          </a:prstGeom>
          <a:solidFill>
            <a:schemeClr val="bg2"/>
          </a:solidFill>
          <a:ln w="12700">
            <a:solidFill>
              <a:schemeClr val="bg2"/>
            </a:solidFill>
            <a:prstDash val="solid"/>
          </a:ln>
        </p:spPr>
      </p:sp>
      <p:sp>
        <p:nvSpPr>
          <p:cNvPr id="28" name="Text 26"/>
          <p:cNvSpPr txBox="1"/>
          <p:nvPr/>
        </p:nvSpPr>
        <p:spPr>
          <a:xfrm>
            <a:off x="7077456" y="1481328"/>
            <a:ext cx="77724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libri" pitchFamily="34" charset="0"/>
                <a:ea typeface="Calibri" pitchFamily="34" charset="-122"/>
                <a:cs typeface="Calibri" pitchFamily="34" charset="-120"/>
              </a:rPr>
              <a:t>E9</a:t>
            </a:r>
            <a:endParaRPr lang="en-US" sz="1800" dirty="0"/>
          </a:p>
        </p:txBody>
      </p:sp>
      <p:sp>
        <p:nvSpPr>
          <p:cNvPr id="29" name="Text 27"/>
          <p:cNvSpPr txBox="1"/>
          <p:nvPr/>
        </p:nvSpPr>
        <p:spPr>
          <a:xfrm>
            <a:off x="7104888" y="1874520"/>
            <a:ext cx="722376" cy="457200"/>
          </a:xfrm>
          <a:prstGeom prst="rect">
            <a:avLst/>
          </a:prstGeom>
          <a:noFill/>
          <a:ln/>
        </p:spPr>
        <p:txBody>
          <a:bodyPr wrap="square" lIns="0" tIns="0" rIns="0" bIns="0" rtlCol="0" anchor="t"/>
          <a:lstStyle/>
          <a:p>
            <a:pPr algn="ctr" indent="0" marL="0">
              <a:buNone/>
            </a:pPr>
            <a:r>
              <a:rPr lang="en-US" sz="950" dirty="0">
                <a:solidFill>
                  <a:schemeClr val="tx2"/>
                </a:solidFill>
                <a:latin typeface="Calibri" pitchFamily="34" charset="0"/>
                <a:ea typeface="Calibri" pitchFamily="34" charset="-122"/>
                <a:cs typeface="Calibri" pitchFamily="34" charset="-120"/>
              </a:rPr>
              <a:t>Refinamento</a:t>
            </a:r>
            <a:endParaRPr lang="en-US" sz="950" dirty="0"/>
          </a:p>
        </p:txBody>
      </p:sp>
      <p:sp>
        <p:nvSpPr>
          <p:cNvPr id="30" name="etapa-10"/>
          <p:cNvSpPr/>
          <p:nvPr/>
        </p:nvSpPr>
        <p:spPr>
          <a:xfrm>
            <a:off x="7904988" y="1371600"/>
            <a:ext cx="777240" cy="1005840"/>
          </a:xfrm>
          <a:prstGeom prst="roundRect">
            <a:avLst>
              <a:gd name="adj" fmla="val 9412"/>
            </a:avLst>
          </a:prstGeom>
          <a:solidFill>
            <a:schemeClr val="bg2"/>
          </a:solidFill>
          <a:ln w="12700">
            <a:solidFill>
              <a:schemeClr val="bg2"/>
            </a:solidFill>
            <a:prstDash val="solid"/>
          </a:ln>
        </p:spPr>
      </p:sp>
      <p:sp>
        <p:nvSpPr>
          <p:cNvPr id="31" name="Text 29"/>
          <p:cNvSpPr txBox="1"/>
          <p:nvPr/>
        </p:nvSpPr>
        <p:spPr>
          <a:xfrm>
            <a:off x="7904988" y="1481328"/>
            <a:ext cx="77724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libri" pitchFamily="34" charset="0"/>
                <a:ea typeface="Calibri" pitchFamily="34" charset="-122"/>
                <a:cs typeface="Calibri" pitchFamily="34" charset="-120"/>
              </a:rPr>
              <a:t>E10</a:t>
            </a:r>
            <a:endParaRPr lang="en-US" sz="1800" dirty="0"/>
          </a:p>
        </p:txBody>
      </p:sp>
      <p:sp>
        <p:nvSpPr>
          <p:cNvPr id="32" name="Text 30"/>
          <p:cNvSpPr txBox="1"/>
          <p:nvPr/>
        </p:nvSpPr>
        <p:spPr>
          <a:xfrm>
            <a:off x="7932420" y="1874520"/>
            <a:ext cx="722376" cy="457200"/>
          </a:xfrm>
          <a:prstGeom prst="rect">
            <a:avLst/>
          </a:prstGeom>
          <a:noFill/>
          <a:ln/>
        </p:spPr>
        <p:txBody>
          <a:bodyPr wrap="square" lIns="0" tIns="0" rIns="0" bIns="0" rtlCol="0" anchor="t"/>
          <a:lstStyle/>
          <a:p>
            <a:pPr algn="ctr" indent="0" marL="0">
              <a:buNone/>
            </a:pPr>
            <a:r>
              <a:rPr lang="en-US" sz="950" dirty="0">
                <a:solidFill>
                  <a:schemeClr val="tx2"/>
                </a:solidFill>
                <a:latin typeface="Calibri" pitchFamily="34" charset="0"/>
                <a:ea typeface="Calibri" pitchFamily="34" charset="-122"/>
                <a:cs typeface="Calibri" pitchFamily="34" charset="-120"/>
              </a:rPr>
              <a:t>Entrega</a:t>
            </a:r>
            <a:endParaRPr lang="en-US" sz="950" dirty="0"/>
          </a:p>
        </p:txBody>
      </p:sp>
      <p:sp>
        <p:nvSpPr>
          <p:cNvPr id="33" name="Text 31"/>
          <p:cNvSpPr txBox="1"/>
          <p:nvPr/>
        </p:nvSpPr>
        <p:spPr>
          <a:xfrm>
            <a:off x="457200" y="2606040"/>
            <a:ext cx="8229600" cy="3200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Planejamento</a:t>
            </a:r>
            <a:pPr indent="0" marL="0">
              <a:buNone/>
            </a:pPr>
            <a:r>
              <a:rPr lang="en-US" sz="1300" dirty="0">
                <a:solidFill>
                  <a:schemeClr val="tx1"/>
                </a:solidFill>
                <a:latin typeface="Calibri" pitchFamily="34" charset="0"/>
                <a:ea typeface="Calibri" pitchFamily="34" charset="-122"/>
                <a:cs typeface="Calibri" pitchFamily="34" charset="-120"/>
              </a:rPr>
              <a:t> E1 · </a:t>
            </a:r>
            <a:pPr indent="0" marL="0">
              <a:buNone/>
            </a:pPr>
            <a:r>
              <a:rPr lang="en-US" sz="1300" b="1" dirty="0">
                <a:solidFill>
                  <a:schemeClr val="tx1"/>
                </a:solidFill>
                <a:latin typeface="Calibri" pitchFamily="34" charset="0"/>
                <a:ea typeface="Calibri" pitchFamily="34" charset="-122"/>
                <a:cs typeface="Calibri" pitchFamily="34" charset="-120"/>
              </a:rPr>
              <a:t>Desenvolvimento</a:t>
            </a:r>
            <a:pPr indent="0" marL="0">
              <a:buNone/>
            </a:pPr>
            <a:r>
              <a:rPr lang="en-US" sz="1300" dirty="0">
                <a:solidFill>
                  <a:schemeClr val="tx1"/>
                </a:solidFill>
                <a:latin typeface="Calibri" pitchFamily="34" charset="0"/>
                <a:ea typeface="Calibri" pitchFamily="34" charset="-122"/>
                <a:cs typeface="Calibri" pitchFamily="34" charset="-120"/>
              </a:rPr>
              <a:t> E2–E7 (19/09 a 17/12) · </a:t>
            </a:r>
            <a:pPr indent="0" marL="0">
              <a:buNone/>
            </a:pPr>
            <a:r>
              <a:rPr lang="en-US" sz="1300" b="1" dirty="0">
                <a:solidFill>
                  <a:schemeClr val="tx1"/>
                </a:solidFill>
                <a:latin typeface="Calibri" pitchFamily="34" charset="0"/>
                <a:ea typeface="Calibri" pitchFamily="34" charset="-122"/>
                <a:cs typeface="Calibri" pitchFamily="34" charset="-120"/>
              </a:rPr>
              <a:t>Validação</a:t>
            </a:r>
            <a:pPr indent="0" marL="0">
              <a:buNone/>
            </a:pPr>
            <a:r>
              <a:rPr lang="en-US" sz="1300" dirty="0">
                <a:solidFill>
                  <a:schemeClr val="tx1"/>
                </a:solidFill>
                <a:latin typeface="Calibri" pitchFamily="34" charset="0"/>
                <a:ea typeface="Calibri" pitchFamily="34" charset="-122"/>
                <a:cs typeface="Calibri" pitchFamily="34" charset="-120"/>
              </a:rPr>
              <a:t> E8–E10 (até 26/01/2027)</a:t>
            </a:r>
            <a:endParaRPr lang="en-US" sz="1300" dirty="0"/>
          </a:p>
        </p:txBody>
      </p:sp>
      <p:sp>
        <p:nvSpPr>
          <p:cNvPr id="34" name="Shape 32"/>
          <p:cNvSpPr/>
          <p:nvPr/>
        </p:nvSpPr>
        <p:spPr>
          <a:xfrm>
            <a:off x="457200" y="3246120"/>
            <a:ext cx="201168" cy="201168"/>
          </a:xfrm>
          <a:prstGeom prst="ellipse">
            <a:avLst/>
          </a:prstGeom>
          <a:solidFill>
            <a:schemeClr val="accent2"/>
          </a:solidFill>
          <a:ln w="12700">
            <a:solidFill>
              <a:schemeClr val="accent2"/>
            </a:solidFill>
            <a:prstDash val="solid"/>
          </a:ln>
        </p:spPr>
      </p:sp>
      <p:sp>
        <p:nvSpPr>
          <p:cNvPr id="35" name="Text 33"/>
          <p:cNvSpPr txBox="1"/>
          <p:nvPr/>
        </p:nvSpPr>
        <p:spPr>
          <a:xfrm>
            <a:off x="731520" y="3218688"/>
            <a:ext cx="2377440" cy="2743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entrega aprovada</a:t>
            </a:r>
            <a:endParaRPr lang="en-US" sz="1200" dirty="0"/>
          </a:p>
        </p:txBody>
      </p:sp>
      <p:sp>
        <p:nvSpPr>
          <p:cNvPr id="36" name="Shape 34"/>
          <p:cNvSpPr/>
          <p:nvPr/>
        </p:nvSpPr>
        <p:spPr>
          <a:xfrm>
            <a:off x="3200400" y="3246120"/>
            <a:ext cx="201168" cy="201168"/>
          </a:xfrm>
          <a:prstGeom prst="ellipse">
            <a:avLst/>
          </a:prstGeom>
          <a:solidFill>
            <a:schemeClr val="accent1"/>
          </a:solidFill>
          <a:ln w="12700">
            <a:solidFill>
              <a:schemeClr val="accent1"/>
            </a:solidFill>
            <a:prstDash val="solid"/>
          </a:ln>
        </p:spPr>
      </p:sp>
      <p:sp>
        <p:nvSpPr>
          <p:cNvPr id="37" name="Text 35"/>
          <p:cNvSpPr txBox="1"/>
          <p:nvPr/>
        </p:nvSpPr>
        <p:spPr>
          <a:xfrm>
            <a:off x="3474720" y="3218688"/>
            <a:ext cx="2377440" cy="2743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entregue com pendência / em andamento</a:t>
            </a:r>
            <a:endParaRPr lang="en-US" sz="1200" dirty="0"/>
          </a:p>
        </p:txBody>
      </p:sp>
      <p:sp>
        <p:nvSpPr>
          <p:cNvPr id="38" name="Shape 36"/>
          <p:cNvSpPr/>
          <p:nvPr/>
        </p:nvSpPr>
        <p:spPr>
          <a:xfrm>
            <a:off x="5943600" y="3246120"/>
            <a:ext cx="201168" cy="201168"/>
          </a:xfrm>
          <a:prstGeom prst="ellipse">
            <a:avLst/>
          </a:prstGeom>
          <a:solidFill>
            <a:schemeClr val="accent3"/>
          </a:solidFill>
          <a:ln w="12700">
            <a:solidFill>
              <a:schemeClr val="accent3"/>
            </a:solidFill>
            <a:prstDash val="solid"/>
          </a:ln>
        </p:spPr>
      </p:sp>
      <p:sp>
        <p:nvSpPr>
          <p:cNvPr id="39" name="Text 37"/>
          <p:cNvSpPr txBox="1"/>
          <p:nvPr/>
        </p:nvSpPr>
        <p:spPr>
          <a:xfrm>
            <a:off x="6217920" y="3218688"/>
            <a:ext cx="2377440" cy="2743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entrega bloqueada</a:t>
            </a:r>
            <a:endParaRPr lang="en-US" sz="1200" dirty="0"/>
          </a:p>
        </p:txBody>
      </p:sp>
      <p:sp>
        <p:nvSpPr>
          <p:cNvPr id="40" name="Text 38"/>
          <p:cNvSpPr txBox="1"/>
          <p:nvPr/>
        </p:nvSpPr>
        <p:spPr>
          <a:xfrm>
            <a:off x="457200" y="3886200"/>
            <a:ext cx="8229600" cy="365760"/>
          </a:xfrm>
          <a:prstGeom prst="rect">
            <a:avLst/>
          </a:prstGeom>
          <a:noFill/>
          <a:ln/>
        </p:spPr>
        <p:txBody>
          <a:bodyPr wrap="square" lIns="0" tIns="0" rIns="0" bIns="0" rtlCol="0" anchor="t"/>
          <a:lstStyle/>
          <a:p>
            <a:pPr indent="0" marL="0">
              <a:buNone/>
            </a:pPr>
            <a:r>
              <a:rPr lang="en-US" sz="1400" i="1" dirty="0">
                <a:solidFill>
                  <a:schemeClr val="accent4"/>
                </a:solidFill>
                <a:latin typeface="Calibri" pitchFamily="34" charset="0"/>
                <a:ea typeface="Calibri" pitchFamily="34" charset="-122"/>
                <a:cs typeface="Calibri" pitchFamily="34" charset="-120"/>
              </a:rPr>
              <a:t>Cada etapa termina numa entrega demonstrável; a seguinte só começa com ela pronta.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Uma branch por etapa, um commit por entrega</a:t>
            </a:r>
            <a:endParaRPr lang="en-US" sz="2800" dirty="0"/>
          </a:p>
        </p:txBody>
      </p:sp>
      <p:sp>
        <p:nvSpPr>
          <p:cNvPr id="3" name="Shape 1"/>
          <p:cNvSpPr/>
          <p:nvPr/>
        </p:nvSpPr>
        <p:spPr>
          <a:xfrm>
            <a:off x="640080" y="1600200"/>
            <a:ext cx="7863840" cy="0"/>
          </a:xfrm>
          <a:prstGeom prst="line">
            <a:avLst/>
          </a:prstGeom>
          <a:noFill/>
          <a:ln w="25400">
            <a:solidFill>
              <a:schemeClr val="accent5"/>
            </a:solidFill>
            <a:prstDash val="solid"/>
          </a:ln>
        </p:spPr>
      </p:sp>
      <p:sp>
        <p:nvSpPr>
          <p:cNvPr id="4" name="Text 2"/>
          <p:cNvSpPr txBox="1"/>
          <p:nvPr/>
        </p:nvSpPr>
        <p:spPr>
          <a:xfrm>
            <a:off x="457200" y="1234440"/>
            <a:ext cx="914400" cy="274320"/>
          </a:xfrm>
          <a:prstGeom prst="rect">
            <a:avLst/>
          </a:prstGeom>
          <a:noFill/>
          <a:ln/>
        </p:spPr>
        <p:txBody>
          <a:bodyPr wrap="square" lIns="0" tIns="0" rIns="0" bIns="0" rtlCol="0" anchor="t"/>
          <a:lstStyle/>
          <a:p>
            <a:pPr indent="0" marL="0">
              <a:buNone/>
            </a:pPr>
            <a:r>
              <a:rPr lang="en-US" sz="1200" b="1" dirty="0">
                <a:solidFill>
                  <a:schemeClr val="accent5"/>
                </a:solidFill>
                <a:latin typeface="Calibri" pitchFamily="34" charset="0"/>
                <a:ea typeface="Calibri" pitchFamily="34" charset="-122"/>
                <a:cs typeface="Calibri" pitchFamily="34" charset="-120"/>
              </a:rPr>
              <a:t>main</a:t>
            </a:r>
            <a:endParaRPr lang="en-US" sz="1200" dirty="0"/>
          </a:p>
        </p:txBody>
      </p:sp>
      <p:sp>
        <p:nvSpPr>
          <p:cNvPr id="5" name="Shape 3"/>
          <p:cNvSpPr/>
          <p:nvPr/>
        </p:nvSpPr>
        <p:spPr>
          <a:xfrm>
            <a:off x="1051560" y="1490472"/>
            <a:ext cx="219456" cy="219456"/>
          </a:xfrm>
          <a:prstGeom prst="ellipse">
            <a:avLst/>
          </a:prstGeom>
          <a:solidFill>
            <a:schemeClr val="accent1"/>
          </a:solidFill>
          <a:ln w="19050">
            <a:solidFill>
              <a:schemeClr val="bg1"/>
            </a:solidFill>
            <a:prstDash val="solid"/>
          </a:ln>
        </p:spPr>
      </p:sp>
      <p:sp>
        <p:nvSpPr>
          <p:cNvPr id="6" name="Shape 4"/>
          <p:cNvSpPr/>
          <p:nvPr/>
        </p:nvSpPr>
        <p:spPr>
          <a:xfrm>
            <a:off x="1161288" y="1709928"/>
            <a:ext cx="0" cy="457200"/>
          </a:xfrm>
          <a:prstGeom prst="line">
            <a:avLst/>
          </a:prstGeom>
          <a:noFill/>
          <a:ln w="12700">
            <a:solidFill>
              <a:schemeClr val="accent5"/>
            </a:solidFill>
            <a:prstDash val="dash"/>
          </a:ln>
        </p:spPr>
      </p:sp>
      <p:sp>
        <p:nvSpPr>
          <p:cNvPr id="7" name="branch-1"/>
          <p:cNvSpPr/>
          <p:nvPr/>
        </p:nvSpPr>
        <p:spPr>
          <a:xfrm>
            <a:off x="640080" y="2194560"/>
            <a:ext cx="1051560" cy="1188720"/>
          </a:xfrm>
          <a:prstGeom prst="roundRect">
            <a:avLst>
              <a:gd name="adj" fmla="val 6957"/>
            </a:avLst>
          </a:prstGeom>
          <a:solidFill>
            <a:schemeClr val="bg2"/>
          </a:solidFill>
          <a:ln w="12700">
            <a:solidFill>
              <a:schemeClr val="bg2"/>
            </a:solidFill>
            <a:prstDash val="solid"/>
          </a:ln>
        </p:spPr>
      </p:sp>
      <p:sp>
        <p:nvSpPr>
          <p:cNvPr id="8" name="Text 6"/>
          <p:cNvSpPr txBox="1"/>
          <p:nvPr/>
        </p:nvSpPr>
        <p:spPr>
          <a:xfrm>
            <a:off x="640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E1</a:t>
            </a:r>
            <a:endParaRPr lang="en-US" sz="1600" dirty="0"/>
          </a:p>
        </p:txBody>
      </p:sp>
      <p:sp>
        <p:nvSpPr>
          <p:cNvPr id="9" name="Text 7"/>
          <p:cNvSpPr txBox="1"/>
          <p:nvPr/>
        </p:nvSpPr>
        <p:spPr>
          <a:xfrm>
            <a:off x="640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5 docs</a:t>
            </a:r>
            <a:endParaRPr lang="en-US" sz="1100" dirty="0"/>
          </a:p>
        </p:txBody>
      </p:sp>
      <p:sp>
        <p:nvSpPr>
          <p:cNvPr id="10" name="Text 8"/>
          <p:cNvSpPr txBox="1"/>
          <p:nvPr/>
        </p:nvSpPr>
        <p:spPr>
          <a:xfrm>
            <a:off x="640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4/5 tarefas</a:t>
            </a:r>
            <a:endParaRPr lang="en-US" sz="1100" dirty="0"/>
          </a:p>
        </p:txBody>
      </p:sp>
      <p:sp>
        <p:nvSpPr>
          <p:cNvPr id="11" name="Shape 9"/>
          <p:cNvSpPr/>
          <p:nvPr/>
        </p:nvSpPr>
        <p:spPr>
          <a:xfrm>
            <a:off x="2194560" y="1490472"/>
            <a:ext cx="219456" cy="219456"/>
          </a:xfrm>
          <a:prstGeom prst="ellipse">
            <a:avLst/>
          </a:prstGeom>
          <a:solidFill>
            <a:schemeClr val="accent2"/>
          </a:solidFill>
          <a:ln w="19050">
            <a:solidFill>
              <a:schemeClr val="bg1"/>
            </a:solidFill>
            <a:prstDash val="solid"/>
          </a:ln>
        </p:spPr>
      </p:sp>
      <p:sp>
        <p:nvSpPr>
          <p:cNvPr id="12" name="Shape 10"/>
          <p:cNvSpPr/>
          <p:nvPr/>
        </p:nvSpPr>
        <p:spPr>
          <a:xfrm>
            <a:off x="2304288" y="1709928"/>
            <a:ext cx="0" cy="457200"/>
          </a:xfrm>
          <a:prstGeom prst="line">
            <a:avLst/>
          </a:prstGeom>
          <a:noFill/>
          <a:ln w="12700">
            <a:solidFill>
              <a:schemeClr val="accent5"/>
            </a:solidFill>
            <a:prstDash val="dash"/>
          </a:ln>
        </p:spPr>
      </p:sp>
      <p:sp>
        <p:nvSpPr>
          <p:cNvPr id="13" name="branch-2"/>
          <p:cNvSpPr/>
          <p:nvPr/>
        </p:nvSpPr>
        <p:spPr>
          <a:xfrm>
            <a:off x="1783080" y="2194560"/>
            <a:ext cx="1051560" cy="1188720"/>
          </a:xfrm>
          <a:prstGeom prst="roundRect">
            <a:avLst>
              <a:gd name="adj" fmla="val 6957"/>
            </a:avLst>
          </a:prstGeom>
          <a:solidFill>
            <a:schemeClr val="bg2"/>
          </a:solidFill>
          <a:ln w="12700">
            <a:solidFill>
              <a:schemeClr val="bg2"/>
            </a:solidFill>
            <a:prstDash val="solid"/>
          </a:ln>
        </p:spPr>
      </p:sp>
      <p:sp>
        <p:nvSpPr>
          <p:cNvPr id="14" name="Text 12"/>
          <p:cNvSpPr txBox="1"/>
          <p:nvPr/>
        </p:nvSpPr>
        <p:spPr>
          <a:xfrm>
            <a:off x="1783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E2</a:t>
            </a:r>
            <a:endParaRPr lang="en-US" sz="1600" dirty="0"/>
          </a:p>
        </p:txBody>
      </p:sp>
      <p:sp>
        <p:nvSpPr>
          <p:cNvPr id="15" name="Text 13"/>
          <p:cNvSpPr txBox="1"/>
          <p:nvPr/>
        </p:nvSpPr>
        <p:spPr>
          <a:xfrm>
            <a:off x="1783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10 commits</a:t>
            </a:r>
            <a:endParaRPr lang="en-US" sz="1100" dirty="0"/>
          </a:p>
        </p:txBody>
      </p:sp>
      <p:sp>
        <p:nvSpPr>
          <p:cNvPr id="16" name="Text 14"/>
          <p:cNvSpPr txBox="1"/>
          <p:nvPr/>
        </p:nvSpPr>
        <p:spPr>
          <a:xfrm>
            <a:off x="1783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5/5 tarefas</a:t>
            </a:r>
            <a:endParaRPr lang="en-US" sz="1100" dirty="0"/>
          </a:p>
        </p:txBody>
      </p:sp>
      <p:sp>
        <p:nvSpPr>
          <p:cNvPr id="17" name="Shape 15"/>
          <p:cNvSpPr/>
          <p:nvPr/>
        </p:nvSpPr>
        <p:spPr>
          <a:xfrm>
            <a:off x="3337560" y="1490472"/>
            <a:ext cx="219456" cy="219456"/>
          </a:xfrm>
          <a:prstGeom prst="ellipse">
            <a:avLst/>
          </a:prstGeom>
          <a:solidFill>
            <a:schemeClr val="accent2"/>
          </a:solidFill>
          <a:ln w="19050">
            <a:solidFill>
              <a:schemeClr val="bg1"/>
            </a:solidFill>
            <a:prstDash val="solid"/>
          </a:ln>
        </p:spPr>
      </p:sp>
      <p:sp>
        <p:nvSpPr>
          <p:cNvPr id="18" name="Shape 16"/>
          <p:cNvSpPr/>
          <p:nvPr/>
        </p:nvSpPr>
        <p:spPr>
          <a:xfrm>
            <a:off x="3447288" y="1709928"/>
            <a:ext cx="0" cy="457200"/>
          </a:xfrm>
          <a:prstGeom prst="line">
            <a:avLst/>
          </a:prstGeom>
          <a:noFill/>
          <a:ln w="12700">
            <a:solidFill>
              <a:schemeClr val="accent5"/>
            </a:solidFill>
            <a:prstDash val="dash"/>
          </a:ln>
        </p:spPr>
      </p:sp>
      <p:sp>
        <p:nvSpPr>
          <p:cNvPr id="19" name="branch-3"/>
          <p:cNvSpPr/>
          <p:nvPr/>
        </p:nvSpPr>
        <p:spPr>
          <a:xfrm>
            <a:off x="2926080" y="2194560"/>
            <a:ext cx="1051560" cy="1188720"/>
          </a:xfrm>
          <a:prstGeom prst="roundRect">
            <a:avLst>
              <a:gd name="adj" fmla="val 6957"/>
            </a:avLst>
          </a:prstGeom>
          <a:solidFill>
            <a:schemeClr val="bg2"/>
          </a:solidFill>
          <a:ln w="12700">
            <a:solidFill>
              <a:schemeClr val="bg2"/>
            </a:solidFill>
            <a:prstDash val="solid"/>
          </a:ln>
        </p:spPr>
      </p:sp>
      <p:sp>
        <p:nvSpPr>
          <p:cNvPr id="20" name="Text 18"/>
          <p:cNvSpPr txBox="1"/>
          <p:nvPr/>
        </p:nvSpPr>
        <p:spPr>
          <a:xfrm>
            <a:off x="2926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E3</a:t>
            </a:r>
            <a:endParaRPr lang="en-US" sz="1600" dirty="0"/>
          </a:p>
        </p:txBody>
      </p:sp>
      <p:sp>
        <p:nvSpPr>
          <p:cNvPr id="21" name="Text 19"/>
          <p:cNvSpPr txBox="1"/>
          <p:nvPr/>
        </p:nvSpPr>
        <p:spPr>
          <a:xfrm>
            <a:off x="2926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13 commits</a:t>
            </a:r>
            <a:endParaRPr lang="en-US" sz="1100" dirty="0"/>
          </a:p>
        </p:txBody>
      </p:sp>
      <p:sp>
        <p:nvSpPr>
          <p:cNvPr id="22" name="Text 20"/>
          <p:cNvSpPr txBox="1"/>
          <p:nvPr/>
        </p:nvSpPr>
        <p:spPr>
          <a:xfrm>
            <a:off x="2926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6/6 tarefas</a:t>
            </a:r>
            <a:endParaRPr lang="en-US" sz="1100" dirty="0"/>
          </a:p>
        </p:txBody>
      </p:sp>
      <p:sp>
        <p:nvSpPr>
          <p:cNvPr id="23" name="Shape 21"/>
          <p:cNvSpPr/>
          <p:nvPr/>
        </p:nvSpPr>
        <p:spPr>
          <a:xfrm>
            <a:off x="4480560" y="1490472"/>
            <a:ext cx="219456" cy="219456"/>
          </a:xfrm>
          <a:prstGeom prst="ellipse">
            <a:avLst/>
          </a:prstGeom>
          <a:solidFill>
            <a:schemeClr val="accent2"/>
          </a:solidFill>
          <a:ln w="19050">
            <a:solidFill>
              <a:schemeClr val="bg1"/>
            </a:solidFill>
            <a:prstDash val="solid"/>
          </a:ln>
        </p:spPr>
      </p:sp>
      <p:sp>
        <p:nvSpPr>
          <p:cNvPr id="24" name="Shape 22"/>
          <p:cNvSpPr/>
          <p:nvPr/>
        </p:nvSpPr>
        <p:spPr>
          <a:xfrm>
            <a:off x="4590288" y="1709928"/>
            <a:ext cx="0" cy="457200"/>
          </a:xfrm>
          <a:prstGeom prst="line">
            <a:avLst/>
          </a:prstGeom>
          <a:noFill/>
          <a:ln w="12700">
            <a:solidFill>
              <a:schemeClr val="accent5"/>
            </a:solidFill>
            <a:prstDash val="dash"/>
          </a:ln>
        </p:spPr>
      </p:sp>
      <p:sp>
        <p:nvSpPr>
          <p:cNvPr id="25" name="branch-4"/>
          <p:cNvSpPr/>
          <p:nvPr/>
        </p:nvSpPr>
        <p:spPr>
          <a:xfrm>
            <a:off x="4069080" y="2194560"/>
            <a:ext cx="1051560" cy="1188720"/>
          </a:xfrm>
          <a:prstGeom prst="roundRect">
            <a:avLst>
              <a:gd name="adj" fmla="val 6957"/>
            </a:avLst>
          </a:prstGeom>
          <a:solidFill>
            <a:schemeClr val="bg2"/>
          </a:solidFill>
          <a:ln w="12700">
            <a:solidFill>
              <a:schemeClr val="bg2"/>
            </a:solidFill>
            <a:prstDash val="solid"/>
          </a:ln>
        </p:spPr>
      </p:sp>
      <p:sp>
        <p:nvSpPr>
          <p:cNvPr id="26" name="Text 24"/>
          <p:cNvSpPr txBox="1"/>
          <p:nvPr/>
        </p:nvSpPr>
        <p:spPr>
          <a:xfrm>
            <a:off x="4069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E4</a:t>
            </a:r>
            <a:endParaRPr lang="en-US" sz="1600" dirty="0"/>
          </a:p>
        </p:txBody>
      </p:sp>
      <p:sp>
        <p:nvSpPr>
          <p:cNvPr id="27" name="Text 25"/>
          <p:cNvSpPr txBox="1"/>
          <p:nvPr/>
        </p:nvSpPr>
        <p:spPr>
          <a:xfrm>
            <a:off x="4069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16 commits</a:t>
            </a:r>
            <a:endParaRPr lang="en-US" sz="1100" dirty="0"/>
          </a:p>
        </p:txBody>
      </p:sp>
      <p:sp>
        <p:nvSpPr>
          <p:cNvPr id="28" name="Text 26"/>
          <p:cNvSpPr txBox="1"/>
          <p:nvPr/>
        </p:nvSpPr>
        <p:spPr>
          <a:xfrm>
            <a:off x="4069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8/8 tarefas</a:t>
            </a:r>
            <a:endParaRPr lang="en-US" sz="1100" dirty="0"/>
          </a:p>
        </p:txBody>
      </p:sp>
      <p:sp>
        <p:nvSpPr>
          <p:cNvPr id="29" name="Shape 27"/>
          <p:cNvSpPr/>
          <p:nvPr/>
        </p:nvSpPr>
        <p:spPr>
          <a:xfrm>
            <a:off x="5623560" y="1490472"/>
            <a:ext cx="219456" cy="219456"/>
          </a:xfrm>
          <a:prstGeom prst="ellipse">
            <a:avLst/>
          </a:prstGeom>
          <a:solidFill>
            <a:schemeClr val="accent2"/>
          </a:solidFill>
          <a:ln w="19050">
            <a:solidFill>
              <a:schemeClr val="bg1"/>
            </a:solidFill>
            <a:prstDash val="solid"/>
          </a:ln>
        </p:spPr>
      </p:sp>
      <p:sp>
        <p:nvSpPr>
          <p:cNvPr id="30" name="Shape 28"/>
          <p:cNvSpPr/>
          <p:nvPr/>
        </p:nvSpPr>
        <p:spPr>
          <a:xfrm>
            <a:off x="5733288" y="1709928"/>
            <a:ext cx="0" cy="457200"/>
          </a:xfrm>
          <a:prstGeom prst="line">
            <a:avLst/>
          </a:prstGeom>
          <a:noFill/>
          <a:ln w="12700">
            <a:solidFill>
              <a:schemeClr val="accent5"/>
            </a:solidFill>
            <a:prstDash val="dash"/>
          </a:ln>
        </p:spPr>
      </p:sp>
      <p:sp>
        <p:nvSpPr>
          <p:cNvPr id="31" name="branch-5"/>
          <p:cNvSpPr/>
          <p:nvPr/>
        </p:nvSpPr>
        <p:spPr>
          <a:xfrm>
            <a:off x="5212080" y="2194560"/>
            <a:ext cx="1051560" cy="1188720"/>
          </a:xfrm>
          <a:prstGeom prst="roundRect">
            <a:avLst>
              <a:gd name="adj" fmla="val 6957"/>
            </a:avLst>
          </a:prstGeom>
          <a:solidFill>
            <a:schemeClr val="bg2"/>
          </a:solidFill>
          <a:ln w="12700">
            <a:solidFill>
              <a:schemeClr val="bg2"/>
            </a:solidFill>
            <a:prstDash val="solid"/>
          </a:ln>
        </p:spPr>
      </p:sp>
      <p:sp>
        <p:nvSpPr>
          <p:cNvPr id="32" name="Text 30"/>
          <p:cNvSpPr txBox="1"/>
          <p:nvPr/>
        </p:nvSpPr>
        <p:spPr>
          <a:xfrm>
            <a:off x="5212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E5</a:t>
            </a:r>
            <a:endParaRPr lang="en-US" sz="1600" dirty="0"/>
          </a:p>
        </p:txBody>
      </p:sp>
      <p:sp>
        <p:nvSpPr>
          <p:cNvPr id="33" name="Text 31"/>
          <p:cNvSpPr txBox="1"/>
          <p:nvPr/>
        </p:nvSpPr>
        <p:spPr>
          <a:xfrm>
            <a:off x="5212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10 commits</a:t>
            </a:r>
            <a:endParaRPr lang="en-US" sz="1100" dirty="0"/>
          </a:p>
        </p:txBody>
      </p:sp>
      <p:sp>
        <p:nvSpPr>
          <p:cNvPr id="34" name="Text 32"/>
          <p:cNvSpPr txBox="1"/>
          <p:nvPr/>
        </p:nvSpPr>
        <p:spPr>
          <a:xfrm>
            <a:off x="5212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6/6 tarefas</a:t>
            </a:r>
            <a:endParaRPr lang="en-US" sz="1100" dirty="0"/>
          </a:p>
        </p:txBody>
      </p:sp>
      <p:sp>
        <p:nvSpPr>
          <p:cNvPr id="35" name="Shape 33"/>
          <p:cNvSpPr/>
          <p:nvPr/>
        </p:nvSpPr>
        <p:spPr>
          <a:xfrm>
            <a:off x="6766560" y="1490472"/>
            <a:ext cx="219456" cy="219456"/>
          </a:xfrm>
          <a:prstGeom prst="ellipse">
            <a:avLst/>
          </a:prstGeom>
          <a:solidFill>
            <a:schemeClr val="accent3"/>
          </a:solidFill>
          <a:ln w="19050">
            <a:solidFill>
              <a:schemeClr val="bg1"/>
            </a:solidFill>
            <a:prstDash val="solid"/>
          </a:ln>
        </p:spPr>
      </p:sp>
      <p:sp>
        <p:nvSpPr>
          <p:cNvPr id="36" name="Shape 34"/>
          <p:cNvSpPr/>
          <p:nvPr/>
        </p:nvSpPr>
        <p:spPr>
          <a:xfrm>
            <a:off x="6876288" y="1709928"/>
            <a:ext cx="0" cy="457200"/>
          </a:xfrm>
          <a:prstGeom prst="line">
            <a:avLst/>
          </a:prstGeom>
          <a:noFill/>
          <a:ln w="12700">
            <a:solidFill>
              <a:schemeClr val="accent5"/>
            </a:solidFill>
            <a:prstDash val="dash"/>
          </a:ln>
        </p:spPr>
      </p:sp>
      <p:sp>
        <p:nvSpPr>
          <p:cNvPr id="37" name="branch-6"/>
          <p:cNvSpPr/>
          <p:nvPr/>
        </p:nvSpPr>
        <p:spPr>
          <a:xfrm>
            <a:off x="6355080" y="2194560"/>
            <a:ext cx="1051560" cy="1188720"/>
          </a:xfrm>
          <a:prstGeom prst="roundRect">
            <a:avLst>
              <a:gd name="adj" fmla="val 6957"/>
            </a:avLst>
          </a:prstGeom>
          <a:solidFill>
            <a:schemeClr val="bg2"/>
          </a:solidFill>
          <a:ln w="12700">
            <a:solidFill>
              <a:schemeClr val="bg2"/>
            </a:solidFill>
            <a:prstDash val="solid"/>
          </a:ln>
        </p:spPr>
      </p:sp>
      <p:sp>
        <p:nvSpPr>
          <p:cNvPr id="38" name="Text 36"/>
          <p:cNvSpPr txBox="1"/>
          <p:nvPr/>
        </p:nvSpPr>
        <p:spPr>
          <a:xfrm>
            <a:off x="6355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E6</a:t>
            </a:r>
            <a:endParaRPr lang="en-US" sz="1600" dirty="0"/>
          </a:p>
        </p:txBody>
      </p:sp>
      <p:sp>
        <p:nvSpPr>
          <p:cNvPr id="39" name="Text 37"/>
          <p:cNvSpPr txBox="1"/>
          <p:nvPr/>
        </p:nvSpPr>
        <p:spPr>
          <a:xfrm>
            <a:off x="6355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9 commits</a:t>
            </a:r>
            <a:endParaRPr lang="en-US" sz="1100" dirty="0"/>
          </a:p>
        </p:txBody>
      </p:sp>
      <p:sp>
        <p:nvSpPr>
          <p:cNvPr id="40" name="Text 38"/>
          <p:cNvSpPr txBox="1"/>
          <p:nvPr/>
        </p:nvSpPr>
        <p:spPr>
          <a:xfrm>
            <a:off x="6355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5/6 tarefas</a:t>
            </a:r>
            <a:endParaRPr lang="en-US" sz="1100" dirty="0"/>
          </a:p>
        </p:txBody>
      </p:sp>
      <p:sp>
        <p:nvSpPr>
          <p:cNvPr id="41" name="Shape 39"/>
          <p:cNvSpPr/>
          <p:nvPr/>
        </p:nvSpPr>
        <p:spPr>
          <a:xfrm>
            <a:off x="7909560" y="1490472"/>
            <a:ext cx="219456" cy="219456"/>
          </a:xfrm>
          <a:prstGeom prst="ellipse">
            <a:avLst/>
          </a:prstGeom>
          <a:solidFill>
            <a:schemeClr val="accent1"/>
          </a:solidFill>
          <a:ln w="19050">
            <a:solidFill>
              <a:schemeClr val="bg1"/>
            </a:solidFill>
            <a:prstDash val="solid"/>
          </a:ln>
        </p:spPr>
      </p:sp>
      <p:sp>
        <p:nvSpPr>
          <p:cNvPr id="42" name="Shape 40"/>
          <p:cNvSpPr/>
          <p:nvPr/>
        </p:nvSpPr>
        <p:spPr>
          <a:xfrm>
            <a:off x="8019288" y="1709928"/>
            <a:ext cx="0" cy="457200"/>
          </a:xfrm>
          <a:prstGeom prst="line">
            <a:avLst/>
          </a:prstGeom>
          <a:noFill/>
          <a:ln w="12700">
            <a:solidFill>
              <a:schemeClr val="accent5"/>
            </a:solidFill>
            <a:prstDash val="dash"/>
          </a:ln>
        </p:spPr>
      </p:sp>
      <p:sp>
        <p:nvSpPr>
          <p:cNvPr id="43" name="branch-7"/>
          <p:cNvSpPr/>
          <p:nvPr/>
        </p:nvSpPr>
        <p:spPr>
          <a:xfrm>
            <a:off x="7498080" y="2194560"/>
            <a:ext cx="1051560" cy="1188720"/>
          </a:xfrm>
          <a:prstGeom prst="roundRect">
            <a:avLst>
              <a:gd name="adj" fmla="val 6957"/>
            </a:avLst>
          </a:prstGeom>
          <a:solidFill>
            <a:schemeClr val="bg2"/>
          </a:solidFill>
          <a:ln w="12700">
            <a:solidFill>
              <a:schemeClr val="bg2"/>
            </a:solidFill>
            <a:prstDash val="solid"/>
          </a:ln>
        </p:spPr>
      </p:sp>
      <p:sp>
        <p:nvSpPr>
          <p:cNvPr id="44" name="Text 42"/>
          <p:cNvSpPr txBox="1"/>
          <p:nvPr/>
        </p:nvSpPr>
        <p:spPr>
          <a:xfrm>
            <a:off x="7498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E7</a:t>
            </a:r>
            <a:endParaRPr lang="en-US" sz="1600" dirty="0"/>
          </a:p>
        </p:txBody>
      </p:sp>
      <p:sp>
        <p:nvSpPr>
          <p:cNvPr id="45" name="Text 43"/>
          <p:cNvSpPr txBox="1"/>
          <p:nvPr/>
        </p:nvSpPr>
        <p:spPr>
          <a:xfrm>
            <a:off x="7498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14 commits</a:t>
            </a:r>
            <a:endParaRPr lang="en-US" sz="1100" dirty="0"/>
          </a:p>
        </p:txBody>
      </p:sp>
      <p:sp>
        <p:nvSpPr>
          <p:cNvPr id="46" name="Text 44"/>
          <p:cNvSpPr txBox="1"/>
          <p:nvPr/>
        </p:nvSpPr>
        <p:spPr>
          <a:xfrm>
            <a:off x="7498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7/8 tarefas</a:t>
            </a:r>
            <a:endParaRPr lang="en-US" sz="1100" dirty="0"/>
          </a:p>
        </p:txBody>
      </p:sp>
      <p:sp>
        <p:nvSpPr>
          <p:cNvPr id="47" name="Text 45"/>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etapa/e1-planejamento → etapa/e2-fundacao → … → etapa/e7-painel: cada branch nasce da anterior. No dia da apresentação de cada etapa, a branch dela entra na main.</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Panorama das etapas desenvolvidas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3840480"/>
                <a:gridCol w="1371600"/>
                <a:gridCol w="685800"/>
                <a:gridCol w="594360"/>
              </a:tblGrid>
              <a:tr h="438912">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Etapa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Entrega combinada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Situação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Tarefas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Testes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E1 Planejamento e arquitetura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Requisitos, arquitetura, tarefas, critérios e projetos de teste aprovados.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1"/>
                          </a:solidFill>
                          <a:latin typeface="Calibri" pitchFamily="34" charset="0"/>
                          <a:ea typeface="Calibri" pitchFamily="34" charset="-122"/>
                          <a:cs typeface="Calibri" pitchFamily="34" charset="-120"/>
                        </a:rPr>
                        <a:t>Entregue com pendência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E2 Fundação do sistema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Os testes rodam sem internet e sem consumir o serviço do modelo.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2"/>
                          </a:solidFill>
                          <a:latin typeface="Calibri" pitchFamily="34" charset="0"/>
                          <a:ea typeface="Calibri" pitchFamily="34" charset="-122"/>
                          <a:cs typeface="Calibri" pitchFamily="34" charset="-120"/>
                        </a:rPr>
                        <a:t>Entregue</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152</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E3 O agente e as ferramentas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Um agente resolve uma tarefa real com o custo gravado, e trocar de fornecedor não mexe no núcleo.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2"/>
                          </a:solidFill>
                          <a:latin typeface="Calibri" pitchFamily="34" charset="0"/>
                          <a:ea typeface="Calibri" pitchFamily="34" charset="-122"/>
                          <a:cs typeface="Calibri" pitchFamily="34" charset="-120"/>
                        </a:rPr>
                        <a:t>Entregue</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558</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E4 Linha de produção de tarefas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Uma tarefa percorre os seis estados, é reprovada de propósito, é refeita e conclui.</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2"/>
                          </a:solidFill>
                          <a:latin typeface="Calibri" pitchFamily="34" charset="0"/>
                          <a:ea typeface="Calibri" pitchFamily="34" charset="-122"/>
                          <a:cs typeface="Calibri" pitchFamily="34" charset="-120"/>
                        </a:rPr>
                        <a:t>Entregue</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908</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E5 Paralelismo e tolerância a falhas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Três tarefas em paralelo; encerrar uma no meio não afeta as outras, e ela volta à fila.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2"/>
                          </a:solidFill>
                          <a:latin typeface="Calibri" pitchFamily="34" charset="0"/>
                          <a:ea typeface="Calibri" pitchFamily="34" charset="-122"/>
                          <a:cs typeface="Calibri" pitchFamily="34" charset="-120"/>
                        </a:rPr>
                        <a:t>Entregue</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995</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E6 Memória do projeto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O agente cita a decisão anterior, com a fonte certa, em vez de decidir de novo.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3"/>
                          </a:solidFill>
                          <a:latin typeface="Calibri" pitchFamily="34" charset="0"/>
                          <a:ea typeface="Calibri" pitchFamily="34" charset="-122"/>
                          <a:cs typeface="Calibri" pitchFamily="34" charset="-120"/>
                        </a:rPr>
                        <a:t>Entrega bloqueada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1.080</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E7 Painel e automação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Um projeto inteiro acompanhado na tela, do pedido à entrega, com o custo em tempo real.</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1"/>
                          </a:solidFill>
                          <a:latin typeface="Calibri" pitchFamily="34" charset="0"/>
                          <a:ea typeface="Calibri" pitchFamily="34" charset="-122"/>
                          <a:cs typeface="Calibri" pitchFamily="34" charset="-120"/>
                        </a:rPr>
                        <a:t>Em andamento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7/8</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1.220</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Onde cada etapa entra no sistema</a:t>
            </a:r>
            <a:endParaRPr lang="en-US" sz="2800" dirty="0"/>
          </a:p>
        </p:txBody>
      </p:sp>
      <p:sp>
        <p:nvSpPr>
          <p:cNvPr id="3" name="camada-0"/>
          <p:cNvSpPr/>
          <p:nvPr/>
        </p:nvSpPr>
        <p:spPr>
          <a:xfrm>
            <a:off x="457200" y="1024128"/>
            <a:ext cx="6949440" cy="512064"/>
          </a:xfrm>
          <a:prstGeom prst="roundRect">
            <a:avLst>
              <a:gd name="adj" fmla="val 14286"/>
            </a:avLst>
          </a:prstGeom>
          <a:solidFill>
            <a:schemeClr val="bg2"/>
          </a:solidFill>
          <a:ln w="12700">
            <a:solidFill>
              <a:schemeClr val="bg2"/>
            </a:solidFill>
            <a:prstDash val="solid"/>
          </a:ln>
        </p:spPr>
      </p:sp>
      <p:sp>
        <p:nvSpPr>
          <p:cNvPr id="4" name="Text 2"/>
          <p:cNvSpPr txBox="1"/>
          <p:nvPr/>
        </p:nvSpPr>
        <p:spPr>
          <a:xfrm>
            <a:off x="640080" y="1097280"/>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Tela</a:t>
            </a:r>
            <a:endParaRPr lang="en-US" sz="1500" dirty="0"/>
          </a:p>
        </p:txBody>
      </p:sp>
      <p:sp>
        <p:nvSpPr>
          <p:cNvPr id="5" name="Text 3"/>
          <p:cNvSpPr txBox="1"/>
          <p:nvPr/>
        </p:nvSpPr>
        <p:spPr>
          <a:xfrm>
            <a:off x="1920240" y="1097280"/>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quadro de tarefas, console ao vivo, piloto automático</a:t>
            </a:r>
            <a:endParaRPr lang="en-US" sz="1200" dirty="0"/>
          </a:p>
        </p:txBody>
      </p:sp>
      <p:sp>
        <p:nvSpPr>
          <p:cNvPr id="6" name="Shape 4"/>
          <p:cNvSpPr/>
          <p:nvPr/>
        </p:nvSpPr>
        <p:spPr>
          <a:xfrm>
            <a:off x="7589520" y="1024128"/>
            <a:ext cx="1097280" cy="512064"/>
          </a:xfrm>
          <a:prstGeom prst="roundRect">
            <a:avLst>
              <a:gd name="adj" fmla="val 14286"/>
            </a:avLst>
          </a:prstGeom>
          <a:solidFill>
            <a:schemeClr val="accent1"/>
          </a:solidFill>
          <a:ln w="12700">
            <a:solidFill>
              <a:schemeClr val="accent1"/>
            </a:solidFill>
            <a:prstDash val="solid"/>
          </a:ln>
        </p:spPr>
      </p:sp>
      <p:sp>
        <p:nvSpPr>
          <p:cNvPr id="7" name="Text 5"/>
          <p:cNvSpPr txBox="1"/>
          <p:nvPr/>
        </p:nvSpPr>
        <p:spPr>
          <a:xfrm>
            <a:off x="7589520" y="1024128"/>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E7</a:t>
            </a:r>
            <a:endParaRPr lang="en-US" sz="1800" dirty="0"/>
          </a:p>
        </p:txBody>
      </p:sp>
      <p:sp>
        <p:nvSpPr>
          <p:cNvPr id="8" name="camada-1"/>
          <p:cNvSpPr/>
          <p:nvPr/>
        </p:nvSpPr>
        <p:spPr>
          <a:xfrm>
            <a:off x="457200" y="1627632"/>
            <a:ext cx="6949440" cy="512064"/>
          </a:xfrm>
          <a:prstGeom prst="roundRect">
            <a:avLst>
              <a:gd name="adj" fmla="val 14286"/>
            </a:avLst>
          </a:prstGeom>
          <a:solidFill>
            <a:schemeClr val="bg2"/>
          </a:solidFill>
          <a:ln w="12700">
            <a:solidFill>
              <a:schemeClr val="bg2"/>
            </a:solidFill>
            <a:prstDash val="solid"/>
          </a:ln>
        </p:spPr>
      </p:sp>
      <p:sp>
        <p:nvSpPr>
          <p:cNvPr id="9" name="Text 7"/>
          <p:cNvSpPr txBox="1"/>
          <p:nvPr/>
        </p:nvSpPr>
        <p:spPr>
          <a:xfrm>
            <a:off x="640080" y="1700784"/>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Motor</a:t>
            </a:r>
            <a:endParaRPr lang="en-US" sz="1500" dirty="0"/>
          </a:p>
        </p:txBody>
      </p:sp>
      <p:sp>
        <p:nvSpPr>
          <p:cNvPr id="10" name="Text 8"/>
          <p:cNvSpPr txBox="1"/>
          <p:nvPr/>
        </p:nvSpPr>
        <p:spPr>
          <a:xfrm>
            <a:off x="1920240" y="1700784"/>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seis estados, fila por dependências, portões, escada de falha, teto de gasto</a:t>
            </a:r>
            <a:endParaRPr lang="en-US" sz="1200" dirty="0"/>
          </a:p>
        </p:txBody>
      </p:sp>
      <p:sp>
        <p:nvSpPr>
          <p:cNvPr id="11" name="Shape 9"/>
          <p:cNvSpPr/>
          <p:nvPr/>
        </p:nvSpPr>
        <p:spPr>
          <a:xfrm>
            <a:off x="7589520" y="1627632"/>
            <a:ext cx="1097280" cy="512064"/>
          </a:xfrm>
          <a:prstGeom prst="roundRect">
            <a:avLst>
              <a:gd name="adj" fmla="val 14286"/>
            </a:avLst>
          </a:prstGeom>
          <a:solidFill>
            <a:schemeClr val="accent2"/>
          </a:solidFill>
          <a:ln w="12700">
            <a:solidFill>
              <a:schemeClr val="accent2"/>
            </a:solidFill>
            <a:prstDash val="solid"/>
          </a:ln>
        </p:spPr>
      </p:sp>
      <p:sp>
        <p:nvSpPr>
          <p:cNvPr id="12" name="Text 10"/>
          <p:cNvSpPr txBox="1"/>
          <p:nvPr/>
        </p:nvSpPr>
        <p:spPr>
          <a:xfrm>
            <a:off x="7589520" y="1627632"/>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E4</a:t>
            </a:r>
            <a:endParaRPr lang="en-US" sz="1800" dirty="0"/>
          </a:p>
        </p:txBody>
      </p:sp>
      <p:sp>
        <p:nvSpPr>
          <p:cNvPr id="13" name="camada-2"/>
          <p:cNvSpPr/>
          <p:nvPr/>
        </p:nvSpPr>
        <p:spPr>
          <a:xfrm>
            <a:off x="457200" y="2231136"/>
            <a:ext cx="6949440" cy="512064"/>
          </a:xfrm>
          <a:prstGeom prst="roundRect">
            <a:avLst>
              <a:gd name="adj" fmla="val 14286"/>
            </a:avLst>
          </a:prstGeom>
          <a:solidFill>
            <a:schemeClr val="bg2"/>
          </a:solidFill>
          <a:ln w="12700">
            <a:solidFill>
              <a:schemeClr val="bg2"/>
            </a:solidFill>
            <a:prstDash val="solid"/>
          </a:ln>
        </p:spPr>
      </p:sp>
      <p:sp>
        <p:nvSpPr>
          <p:cNvPr id="14" name="Text 12"/>
          <p:cNvSpPr txBox="1"/>
          <p:nvPr/>
        </p:nvSpPr>
        <p:spPr>
          <a:xfrm>
            <a:off x="640080" y="2304288"/>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Execução</a:t>
            </a:r>
            <a:endParaRPr lang="en-US" sz="1500" dirty="0"/>
          </a:p>
        </p:txBody>
      </p:sp>
      <p:sp>
        <p:nvSpPr>
          <p:cNvPr id="15" name="Text 13"/>
          <p:cNvSpPr txBox="1"/>
          <p:nvPr/>
        </p:nvSpPr>
        <p:spPr>
          <a:xfrm>
            <a:off x="1920240" y="2304288"/>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um processo por tarefa, fila durável, paralelismo, parede de cota, recuperação</a:t>
            </a:r>
            <a:endParaRPr lang="en-US" sz="1200" dirty="0"/>
          </a:p>
        </p:txBody>
      </p:sp>
      <p:sp>
        <p:nvSpPr>
          <p:cNvPr id="16" name="Shape 14"/>
          <p:cNvSpPr/>
          <p:nvPr/>
        </p:nvSpPr>
        <p:spPr>
          <a:xfrm>
            <a:off x="7589520" y="2231136"/>
            <a:ext cx="1097280" cy="512064"/>
          </a:xfrm>
          <a:prstGeom prst="roundRect">
            <a:avLst>
              <a:gd name="adj" fmla="val 14286"/>
            </a:avLst>
          </a:prstGeom>
          <a:solidFill>
            <a:schemeClr val="accent2"/>
          </a:solidFill>
          <a:ln w="12700">
            <a:solidFill>
              <a:schemeClr val="accent2"/>
            </a:solidFill>
            <a:prstDash val="solid"/>
          </a:ln>
        </p:spPr>
      </p:sp>
      <p:sp>
        <p:nvSpPr>
          <p:cNvPr id="17" name="Text 15"/>
          <p:cNvSpPr txBox="1"/>
          <p:nvPr/>
        </p:nvSpPr>
        <p:spPr>
          <a:xfrm>
            <a:off x="7589520" y="2231136"/>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E5</a:t>
            </a:r>
            <a:endParaRPr lang="en-US" sz="1800" dirty="0"/>
          </a:p>
        </p:txBody>
      </p:sp>
      <p:sp>
        <p:nvSpPr>
          <p:cNvPr id="18" name="camada-3"/>
          <p:cNvSpPr/>
          <p:nvPr/>
        </p:nvSpPr>
        <p:spPr>
          <a:xfrm>
            <a:off x="457200" y="2834640"/>
            <a:ext cx="6949440" cy="512064"/>
          </a:xfrm>
          <a:prstGeom prst="roundRect">
            <a:avLst>
              <a:gd name="adj" fmla="val 14286"/>
            </a:avLst>
          </a:prstGeom>
          <a:solidFill>
            <a:schemeClr val="bg2"/>
          </a:solidFill>
          <a:ln w="12700">
            <a:solidFill>
              <a:schemeClr val="bg2"/>
            </a:solidFill>
            <a:prstDash val="solid"/>
          </a:ln>
        </p:spPr>
      </p:sp>
      <p:sp>
        <p:nvSpPr>
          <p:cNvPr id="19" name="Text 17"/>
          <p:cNvSpPr txBox="1"/>
          <p:nvPr/>
        </p:nvSpPr>
        <p:spPr>
          <a:xfrm>
            <a:off x="640080" y="2907792"/>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Memória</a:t>
            </a:r>
            <a:endParaRPr lang="en-US" sz="1500" dirty="0"/>
          </a:p>
        </p:txBody>
      </p:sp>
      <p:sp>
        <p:nvSpPr>
          <p:cNvPr id="20" name="Text 18"/>
          <p:cNvSpPr txBox="1"/>
          <p:nvPr/>
        </p:nvSpPr>
        <p:spPr>
          <a:xfrm>
            <a:off x="1920240" y="2907792"/>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histórico do projeto, busca híbrida, contexto com fonte</a:t>
            </a:r>
            <a:endParaRPr lang="en-US" sz="1200" dirty="0"/>
          </a:p>
        </p:txBody>
      </p:sp>
      <p:sp>
        <p:nvSpPr>
          <p:cNvPr id="21" name="Shape 19"/>
          <p:cNvSpPr/>
          <p:nvPr/>
        </p:nvSpPr>
        <p:spPr>
          <a:xfrm>
            <a:off x="7589520" y="2834640"/>
            <a:ext cx="1097280" cy="512064"/>
          </a:xfrm>
          <a:prstGeom prst="roundRect">
            <a:avLst>
              <a:gd name="adj" fmla="val 14286"/>
            </a:avLst>
          </a:prstGeom>
          <a:solidFill>
            <a:schemeClr val="accent3"/>
          </a:solidFill>
          <a:ln w="12700">
            <a:solidFill>
              <a:schemeClr val="accent3"/>
            </a:solidFill>
            <a:prstDash val="solid"/>
          </a:ln>
        </p:spPr>
      </p:sp>
      <p:sp>
        <p:nvSpPr>
          <p:cNvPr id="22" name="Text 20"/>
          <p:cNvSpPr txBox="1"/>
          <p:nvPr/>
        </p:nvSpPr>
        <p:spPr>
          <a:xfrm>
            <a:off x="7589520" y="2834640"/>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E6</a:t>
            </a:r>
            <a:endParaRPr lang="en-US" sz="1800" dirty="0"/>
          </a:p>
        </p:txBody>
      </p:sp>
      <p:sp>
        <p:nvSpPr>
          <p:cNvPr id="23" name="camada-4"/>
          <p:cNvSpPr/>
          <p:nvPr/>
        </p:nvSpPr>
        <p:spPr>
          <a:xfrm>
            <a:off x="457200" y="3438144"/>
            <a:ext cx="6949440" cy="512064"/>
          </a:xfrm>
          <a:prstGeom prst="roundRect">
            <a:avLst>
              <a:gd name="adj" fmla="val 14286"/>
            </a:avLst>
          </a:prstGeom>
          <a:solidFill>
            <a:schemeClr val="bg2"/>
          </a:solidFill>
          <a:ln w="12700">
            <a:solidFill>
              <a:schemeClr val="bg2"/>
            </a:solidFill>
            <a:prstDash val="solid"/>
          </a:ln>
        </p:spPr>
      </p:sp>
      <p:sp>
        <p:nvSpPr>
          <p:cNvPr id="24" name="Text 22"/>
          <p:cNvSpPr txBox="1"/>
          <p:nvPr/>
        </p:nvSpPr>
        <p:spPr>
          <a:xfrm>
            <a:off x="640080" y="3511296"/>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Agentes</a:t>
            </a:r>
            <a:endParaRPr lang="en-US" sz="1500" dirty="0"/>
          </a:p>
        </p:txBody>
      </p:sp>
      <p:sp>
        <p:nvSpPr>
          <p:cNvPr id="25" name="Text 23"/>
          <p:cNvSpPr txBox="1"/>
          <p:nvPr/>
        </p:nvSpPr>
        <p:spPr>
          <a:xfrm>
            <a:off x="1920240" y="3511296"/>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laço de ferramentas, confinamento, teto de chamadas, adaptadores do fornecedor</a:t>
            </a:r>
            <a:endParaRPr lang="en-US" sz="1200" dirty="0"/>
          </a:p>
        </p:txBody>
      </p:sp>
      <p:sp>
        <p:nvSpPr>
          <p:cNvPr id="26" name="Shape 24"/>
          <p:cNvSpPr/>
          <p:nvPr/>
        </p:nvSpPr>
        <p:spPr>
          <a:xfrm>
            <a:off x="7589520" y="3438144"/>
            <a:ext cx="1097280" cy="512064"/>
          </a:xfrm>
          <a:prstGeom prst="roundRect">
            <a:avLst>
              <a:gd name="adj" fmla="val 14286"/>
            </a:avLst>
          </a:prstGeom>
          <a:solidFill>
            <a:schemeClr val="accent2"/>
          </a:solidFill>
          <a:ln w="12700">
            <a:solidFill>
              <a:schemeClr val="accent2"/>
            </a:solidFill>
            <a:prstDash val="solid"/>
          </a:ln>
        </p:spPr>
      </p:sp>
      <p:sp>
        <p:nvSpPr>
          <p:cNvPr id="27" name="Text 25"/>
          <p:cNvSpPr txBox="1"/>
          <p:nvPr/>
        </p:nvSpPr>
        <p:spPr>
          <a:xfrm>
            <a:off x="7589520" y="3438144"/>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E3</a:t>
            </a:r>
            <a:endParaRPr lang="en-US" sz="1800" dirty="0"/>
          </a:p>
        </p:txBody>
      </p:sp>
      <p:sp>
        <p:nvSpPr>
          <p:cNvPr id="28" name="camada-5"/>
          <p:cNvSpPr/>
          <p:nvPr/>
        </p:nvSpPr>
        <p:spPr>
          <a:xfrm>
            <a:off x="457200" y="4041648"/>
            <a:ext cx="6949440" cy="512064"/>
          </a:xfrm>
          <a:prstGeom prst="roundRect">
            <a:avLst>
              <a:gd name="adj" fmla="val 14286"/>
            </a:avLst>
          </a:prstGeom>
          <a:solidFill>
            <a:schemeClr val="bg2"/>
          </a:solidFill>
          <a:ln w="12700">
            <a:solidFill>
              <a:schemeClr val="bg2"/>
            </a:solidFill>
            <a:prstDash val="solid"/>
          </a:ln>
        </p:spPr>
      </p:sp>
      <p:sp>
        <p:nvSpPr>
          <p:cNvPr id="29" name="Text 27"/>
          <p:cNvSpPr txBox="1"/>
          <p:nvPr/>
        </p:nvSpPr>
        <p:spPr>
          <a:xfrm>
            <a:off x="640080" y="4114800"/>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Base</a:t>
            </a:r>
            <a:endParaRPr lang="en-US" sz="1500" dirty="0"/>
          </a:p>
        </p:txBody>
      </p:sp>
      <p:sp>
        <p:nvSpPr>
          <p:cNvPr id="30" name="Text 28"/>
          <p:cNvSpPr txBox="1"/>
          <p:nvPr/>
        </p:nvSpPr>
        <p:spPr>
          <a:xfrm>
            <a:off x="1920240" y="4114800"/>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banco e custo, fronteiras com substitutos de teste, verificação, backup</a:t>
            </a:r>
            <a:endParaRPr lang="en-US" sz="1200" dirty="0"/>
          </a:p>
        </p:txBody>
      </p:sp>
      <p:sp>
        <p:nvSpPr>
          <p:cNvPr id="31" name="Shape 29"/>
          <p:cNvSpPr/>
          <p:nvPr/>
        </p:nvSpPr>
        <p:spPr>
          <a:xfrm>
            <a:off x="7589520" y="4041648"/>
            <a:ext cx="1097280" cy="512064"/>
          </a:xfrm>
          <a:prstGeom prst="roundRect">
            <a:avLst>
              <a:gd name="adj" fmla="val 14286"/>
            </a:avLst>
          </a:prstGeom>
          <a:solidFill>
            <a:schemeClr val="accent2"/>
          </a:solidFill>
          <a:ln w="12700">
            <a:solidFill>
              <a:schemeClr val="accent2"/>
            </a:solidFill>
            <a:prstDash val="solid"/>
          </a:ln>
        </p:spPr>
      </p:sp>
      <p:sp>
        <p:nvSpPr>
          <p:cNvPr id="32" name="Text 30"/>
          <p:cNvSpPr txBox="1"/>
          <p:nvPr/>
        </p:nvSpPr>
        <p:spPr>
          <a:xfrm>
            <a:off x="7589520" y="4041648"/>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E2</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E1 — Planejamento e arquitetura</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04/09 – 18/09/2026  ·  branch etapa/e1-planejamento</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1"/>
          </a:solidFill>
          <a:ln w="12700">
            <a:solidFill>
              <a:schemeClr val="accent1"/>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Entregue com pendência</a:t>
            </a:r>
            <a:endParaRPr lang="en-US" sz="1100" dirty="0"/>
          </a:p>
        </p:txBody>
      </p:sp>
      <p:sp>
        <p:nvSpPr>
          <p:cNvPr id="6" name="proposta-1"/>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Requisitos, arquitetura, tarefas, critérios e projetos de teste aprovados.</a:t>
            </a:r>
            <a:endParaRPr lang="en-US" sz="1600" dirty="0"/>
          </a:p>
        </p:txBody>
      </p:sp>
      <p:sp>
        <p:nvSpPr>
          <p:cNvPr id="9" name="Text 7"/>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0" name="Shape 8"/>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1" name="Text 9"/>
          <p:cNvSpPr txBox="1"/>
          <p:nvPr/>
        </p:nvSpPr>
        <p:spPr>
          <a:xfrm>
            <a:off x="4846320" y="1719072"/>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Levantar os requisitos R1–R15</a:t>
            </a:r>
            <a:endParaRPr lang="en-US" sz="1150" dirty="0"/>
          </a:p>
        </p:txBody>
      </p:sp>
      <p:sp>
        <p:nvSpPr>
          <p:cNvPr id="12" name="Shape 10"/>
          <p:cNvSpPr/>
          <p:nvPr/>
        </p:nvSpPr>
        <p:spPr>
          <a:xfrm>
            <a:off x="4572000" y="2112264"/>
            <a:ext cx="164592" cy="164592"/>
          </a:xfrm>
          <a:prstGeom prst="ellipse">
            <a:avLst/>
          </a:prstGeom>
          <a:solidFill>
            <a:schemeClr val="accent2"/>
          </a:solidFill>
          <a:ln w="12700">
            <a:solidFill>
              <a:schemeClr val="accent2"/>
            </a:solidFill>
            <a:prstDash val="solid"/>
          </a:ln>
        </p:spPr>
      </p:sp>
      <p:sp>
        <p:nvSpPr>
          <p:cNvPr id="13" name="Text 11"/>
          <p:cNvSpPr txBox="1"/>
          <p:nvPr/>
        </p:nvSpPr>
        <p:spPr>
          <a:xfrm>
            <a:off x="4846320" y="2048256"/>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Estudar o estado da arte</a:t>
            </a:r>
            <a:endParaRPr lang="en-US" sz="1150" dirty="0"/>
          </a:p>
        </p:txBody>
      </p:sp>
      <p:sp>
        <p:nvSpPr>
          <p:cNvPr id="14" name="Shape 12"/>
          <p:cNvSpPr/>
          <p:nvPr/>
        </p:nvSpPr>
        <p:spPr>
          <a:xfrm>
            <a:off x="4572000" y="2441448"/>
            <a:ext cx="164592" cy="164592"/>
          </a:xfrm>
          <a:prstGeom prst="ellipse">
            <a:avLst/>
          </a:prstGeom>
          <a:solidFill>
            <a:schemeClr val="accent2"/>
          </a:solidFill>
          <a:ln w="12700">
            <a:solidFill>
              <a:schemeClr val="accent2"/>
            </a:solidFill>
            <a:prstDash val="solid"/>
          </a:ln>
        </p:spPr>
      </p:sp>
      <p:sp>
        <p:nvSpPr>
          <p:cNvPr id="15" name="Text 13"/>
          <p:cNvSpPr txBox="1"/>
          <p:nvPr/>
        </p:nvSpPr>
        <p:spPr>
          <a:xfrm>
            <a:off x="4846320" y="2377440"/>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Desenhar a arquitetura</a:t>
            </a:r>
            <a:endParaRPr lang="en-US" sz="1150" dirty="0"/>
          </a:p>
        </p:txBody>
      </p:sp>
      <p:sp>
        <p:nvSpPr>
          <p:cNvPr id="16" name="Shape 14"/>
          <p:cNvSpPr/>
          <p:nvPr/>
        </p:nvSpPr>
        <p:spPr>
          <a:xfrm>
            <a:off x="4572000" y="2770632"/>
            <a:ext cx="164592" cy="164592"/>
          </a:xfrm>
          <a:prstGeom prst="ellipse">
            <a:avLst/>
          </a:prstGeom>
          <a:solidFill>
            <a:schemeClr val="accent2"/>
          </a:solidFill>
          <a:ln w="12700">
            <a:solidFill>
              <a:schemeClr val="accent2"/>
            </a:solidFill>
            <a:prstDash val="solid"/>
          </a:ln>
        </p:spPr>
      </p:sp>
      <p:sp>
        <p:nvSpPr>
          <p:cNvPr id="17" name="Text 15"/>
          <p:cNvSpPr txBox="1"/>
          <p:nvPr/>
        </p:nvSpPr>
        <p:spPr>
          <a:xfrm>
            <a:off x="4846320" y="2706624"/>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Dividir o trabalho e definir os critérios de desempenho</a:t>
            </a:r>
            <a:endParaRPr lang="en-US" sz="1150" dirty="0"/>
          </a:p>
        </p:txBody>
      </p:sp>
      <p:sp>
        <p:nvSpPr>
          <p:cNvPr id="18" name="Shape 16"/>
          <p:cNvSpPr/>
          <p:nvPr/>
        </p:nvSpPr>
        <p:spPr>
          <a:xfrm>
            <a:off x="4572000" y="3099816"/>
            <a:ext cx="164592" cy="164592"/>
          </a:xfrm>
          <a:prstGeom prst="ellipse">
            <a:avLst/>
          </a:prstGeom>
          <a:solidFill>
            <a:schemeClr val="accent1"/>
          </a:solidFill>
          <a:ln w="12700">
            <a:solidFill>
              <a:schemeClr val="accent1"/>
            </a:solidFill>
            <a:prstDash val="solid"/>
          </a:ln>
        </p:spPr>
      </p:sp>
      <p:sp>
        <p:nvSpPr>
          <p:cNvPr id="19" name="Text 17"/>
          <p:cNvSpPr txBox="1"/>
          <p:nvPr/>
        </p:nvSpPr>
        <p:spPr>
          <a:xfrm>
            <a:off x="4846320" y="3035808"/>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Definir os cinco projetos de teste</a:t>
            </a:r>
            <a:endParaRPr lang="en-US" sz="1150" dirty="0"/>
          </a:p>
        </p:txBody>
      </p:sp>
      <p:sp>
        <p:nvSpPr>
          <p:cNvPr id="20" name="Text 18"/>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4/5 </a:t>
            </a:r>
            <a:pPr indent="0" marL="0">
              <a:buNone/>
            </a:pPr>
            <a:r>
              <a:rPr lang="en-US" sz="1100" dirty="0">
                <a:solidFill>
                  <a:schemeClr val="accent5"/>
                </a:solidFill>
                <a:latin typeface="Calibri" pitchFamily="34" charset="0"/>
                <a:ea typeface="Calibri" pitchFamily="34" charset="-122"/>
                <a:cs typeface="Calibri" pitchFamily="34" charset="-120"/>
              </a:rPr>
              <a:t>documentos</a:t>
            </a:r>
            <a:endParaRPr lang="en-US" sz="1400" dirty="0"/>
          </a:p>
        </p:txBody>
      </p:sp>
      <p:sp>
        <p:nvSpPr>
          <p:cNvPr id="21" name="Text 19"/>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15 </a:t>
            </a:r>
            <a:pPr indent="0" marL="0">
              <a:buNone/>
            </a:pPr>
            <a:r>
              <a:rPr lang="en-US" sz="1100" dirty="0">
                <a:solidFill>
                  <a:schemeClr val="accent5"/>
                </a:solidFill>
                <a:latin typeface="Calibri" pitchFamily="34" charset="0"/>
                <a:ea typeface="Calibri" pitchFamily="34" charset="-122"/>
                <a:cs typeface="Calibri" pitchFamily="34" charset="-120"/>
              </a:rPr>
              <a:t>requisitos</a:t>
            </a:r>
            <a:endParaRPr lang="en-US" sz="1400" dirty="0"/>
          </a:p>
        </p:txBody>
      </p:sp>
      <p:sp>
        <p:nvSpPr>
          <p:cNvPr id="22" name="Text 20"/>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8 </a:t>
            </a:r>
            <a:pPr indent="0" marL="0">
              <a:buNone/>
            </a:pPr>
            <a:r>
              <a:rPr lang="en-US" sz="1100" dirty="0">
                <a:solidFill>
                  <a:schemeClr val="accent5"/>
                </a:solidFill>
                <a:latin typeface="Calibri" pitchFamily="34" charset="0"/>
                <a:ea typeface="Calibri" pitchFamily="34" charset="-122"/>
                <a:cs typeface="Calibri" pitchFamily="34" charset="-120"/>
              </a:rPr>
              <a:t>critérios</a:t>
            </a:r>
            <a:endParaRPr lang="en-US" sz="1400" dirty="0"/>
          </a:p>
        </p:txBody>
      </p:sp>
      <p:sp>
        <p:nvSpPr>
          <p:cNvPr id="23" name="Text 21"/>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Documentos em docs/planejamento/ e o quadro de tarefas em docs/tasks/.</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E2 — Fundação do sistema</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19/09 – 03/10/2026  ·  branch etapa/e2-fundacao</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2"/>
          </a:solidFill>
          <a:ln w="12700">
            <a:solidFill>
              <a:schemeClr val="accent2"/>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Entregue</a:t>
            </a:r>
            <a:endParaRPr lang="en-US" sz="1100" dirty="0"/>
          </a:p>
        </p:txBody>
      </p:sp>
      <p:sp>
        <p:nvSpPr>
          <p:cNvPr id="6" name="proposta-2"/>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Os testes rodam sem internet e sem consumir o serviço do modelo.</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R10 · R12 · R15</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Montar o ambiente e a verificação em um comando</a:t>
            </a:r>
            <a:endParaRPr lang="en-US" sz="1150" dirty="0"/>
          </a:p>
        </p:txBody>
      </p:sp>
      <p:sp>
        <p:nvSpPr>
          <p:cNvPr id="13" name="Shape 11"/>
          <p:cNvSpPr/>
          <p:nvPr/>
        </p:nvSpPr>
        <p:spPr>
          <a:xfrm>
            <a:off x="4572000" y="2112264"/>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48256"/>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Criar o banco de dados e a contagem de custo</a:t>
            </a:r>
            <a:endParaRPr lang="en-US" sz="1150" dirty="0"/>
          </a:p>
        </p:txBody>
      </p:sp>
      <p:sp>
        <p:nvSpPr>
          <p:cNvPr id="15" name="Shape 13"/>
          <p:cNvSpPr/>
          <p:nvPr/>
        </p:nvSpPr>
        <p:spPr>
          <a:xfrm>
            <a:off x="4572000" y="2441448"/>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77440"/>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Criar as fronteiras do modelo e da busca, com substitutos de teste</a:t>
            </a:r>
            <a:endParaRPr lang="en-US" sz="1150" dirty="0"/>
          </a:p>
        </p:txBody>
      </p:sp>
      <p:sp>
        <p:nvSpPr>
          <p:cNvPr id="17" name="Shape 15"/>
          <p:cNvSpPr/>
          <p:nvPr/>
        </p:nvSpPr>
        <p:spPr>
          <a:xfrm>
            <a:off x="4572000" y="2770632"/>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706624"/>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Cópia de segurança do banco</a:t>
            </a:r>
            <a:endParaRPr lang="en-US" sz="1150" dirty="0"/>
          </a:p>
        </p:txBody>
      </p:sp>
      <p:sp>
        <p:nvSpPr>
          <p:cNvPr id="19" name="Shape 17"/>
          <p:cNvSpPr/>
          <p:nvPr/>
        </p:nvSpPr>
        <p:spPr>
          <a:xfrm>
            <a:off x="4572000" y="3099816"/>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3035808"/>
            <a:ext cx="3840480" cy="329184"/>
          </a:xfrm>
          <a:prstGeom prst="rect">
            <a:avLst/>
          </a:prstGeom>
          <a:noFill/>
          <a:ln/>
        </p:spPr>
        <p:txBody>
          <a:bodyPr wrap="square" lIns="0" tIns="0" rIns="0" bIns="0" rtlCol="0" anchor="ctr"/>
          <a:lstStyle/>
          <a:p>
            <a:pPr indent="0" marL="0">
              <a:buNone/>
            </a:pPr>
            <a:r>
              <a:rPr lang="en-US" sz="1150" b="1" dirty="0">
                <a:solidFill>
                  <a:schemeClr val="tx1"/>
                </a:solidFill>
                <a:latin typeface="Calibri" pitchFamily="34" charset="0"/>
                <a:ea typeface="Calibri" pitchFamily="34" charset="-122"/>
                <a:cs typeface="Calibri" pitchFamily="34" charset="-120"/>
              </a:rPr>
              <a:t>Marco: a suíte roda sem internet e sem cota</a:t>
            </a:r>
            <a:endParaRPr lang="en-US" sz="1150" dirty="0"/>
          </a:p>
        </p:txBody>
      </p:sp>
      <p:sp>
        <p:nvSpPr>
          <p:cNvPr id="21" name="Text 19"/>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5/5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2" name="Text 20"/>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152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3" name="Text 21"/>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10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24" name="Text 22"/>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test test/factory/milestone_e2_test.exs — falha se houver tráfego de rede, cliente HTTP ou chave de acesso no ambiente.</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E3 — O agente e as ferramentas</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04/10 – 18/10/2026  ·  branch etapa/e3-agente</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2"/>
          </a:solidFill>
          <a:ln w="12700">
            <a:solidFill>
              <a:schemeClr val="accent2"/>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Entregue</a:t>
            </a:r>
            <a:endParaRPr lang="en-US" sz="1100" dirty="0"/>
          </a:p>
        </p:txBody>
      </p:sp>
      <p:sp>
        <p:nvSpPr>
          <p:cNvPr id="6" name="proposta-3"/>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Um agente resolve uma tarefa real com o custo gravado, e trocar de fornecedor não mexe no núcleo.</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R11 · R15</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Ferramentas de arquivo e de comando</a:t>
            </a:r>
            <a:endParaRPr lang="en-US" sz="1150" dirty="0"/>
          </a:p>
        </p:txBody>
      </p:sp>
      <p:sp>
        <p:nvSpPr>
          <p:cNvPr id="13" name="Shape 11"/>
          <p:cNvSpPr/>
          <p:nvPr/>
        </p:nvSpPr>
        <p:spPr>
          <a:xfrm>
            <a:off x="4572000" y="2112264"/>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48256"/>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Confinamento: nenhum agente escreve fora do projeto</a:t>
            </a:r>
            <a:endParaRPr lang="en-US" sz="1150" dirty="0"/>
          </a:p>
        </p:txBody>
      </p:sp>
      <p:sp>
        <p:nvSpPr>
          <p:cNvPr id="15" name="Shape 13"/>
          <p:cNvSpPr/>
          <p:nvPr/>
        </p:nvSpPr>
        <p:spPr>
          <a:xfrm>
            <a:off x="4572000" y="2441448"/>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77440"/>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Resumo do projeto para orientar o agente</a:t>
            </a:r>
            <a:endParaRPr lang="en-US" sz="1150" dirty="0"/>
          </a:p>
        </p:txBody>
      </p:sp>
      <p:sp>
        <p:nvSpPr>
          <p:cNvPr id="17" name="Shape 15"/>
          <p:cNvSpPr/>
          <p:nvPr/>
        </p:nvSpPr>
        <p:spPr>
          <a:xfrm>
            <a:off x="4572000" y="2770632"/>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706624"/>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O agente como processo supervisionado, com limite de chamadas</a:t>
            </a:r>
            <a:endParaRPr lang="en-US" sz="1150" dirty="0"/>
          </a:p>
        </p:txBody>
      </p:sp>
      <p:sp>
        <p:nvSpPr>
          <p:cNvPr id="19" name="Shape 17"/>
          <p:cNvSpPr/>
          <p:nvPr/>
        </p:nvSpPr>
        <p:spPr>
          <a:xfrm>
            <a:off x="4572000" y="3099816"/>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3035808"/>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Adaptadores do fornecedor, com o controle medido antes</a:t>
            </a:r>
            <a:endParaRPr lang="en-US" sz="1150" dirty="0"/>
          </a:p>
        </p:txBody>
      </p:sp>
      <p:sp>
        <p:nvSpPr>
          <p:cNvPr id="21" name="Shape 19"/>
          <p:cNvSpPr/>
          <p:nvPr/>
        </p:nvSpPr>
        <p:spPr>
          <a:xfrm>
            <a:off x="4572000" y="3429000"/>
            <a:ext cx="164592" cy="164592"/>
          </a:xfrm>
          <a:prstGeom prst="ellipse">
            <a:avLst/>
          </a:prstGeom>
          <a:solidFill>
            <a:schemeClr val="accent2"/>
          </a:solidFill>
          <a:ln w="12700">
            <a:solidFill>
              <a:schemeClr val="accent2"/>
            </a:solidFill>
            <a:prstDash val="solid"/>
          </a:ln>
        </p:spPr>
      </p:sp>
      <p:sp>
        <p:nvSpPr>
          <p:cNvPr id="22" name="Text 20"/>
          <p:cNvSpPr txBox="1"/>
          <p:nvPr/>
        </p:nvSpPr>
        <p:spPr>
          <a:xfrm>
            <a:off x="4846320" y="3364992"/>
            <a:ext cx="3840480" cy="329184"/>
          </a:xfrm>
          <a:prstGeom prst="rect">
            <a:avLst/>
          </a:prstGeom>
          <a:noFill/>
          <a:ln/>
        </p:spPr>
        <p:txBody>
          <a:bodyPr wrap="square" lIns="0" tIns="0" rIns="0" bIns="0" rtlCol="0" anchor="ctr"/>
          <a:lstStyle/>
          <a:p>
            <a:pPr indent="0" marL="0">
              <a:buNone/>
            </a:pPr>
            <a:r>
              <a:rPr lang="en-US" sz="1150" b="1" dirty="0">
                <a:solidFill>
                  <a:schemeClr val="tx1"/>
                </a:solidFill>
                <a:latin typeface="Calibri" pitchFamily="34" charset="0"/>
                <a:ea typeface="Calibri" pitchFamily="34" charset="-122"/>
                <a:cs typeface="Calibri" pitchFamily="34" charset="-120"/>
              </a:rPr>
              <a:t>Marco: um agente real resolve uma tarefa real, com o custo gravado</a:t>
            </a:r>
            <a:endParaRPr lang="en-US" sz="1150" dirty="0"/>
          </a:p>
        </p:txBody>
      </p:sp>
      <p:sp>
        <p:nvSpPr>
          <p:cNvPr id="23" name="Text 21"/>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6/6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4" name="Text 22"/>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558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5" name="Text 23"/>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13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26" name="Text 24"/>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run priv/probes/milestone_e3_agent.exs — contra o modelo real: arquivo escrito, uma linha de consumo por volta, soma igual no banco.</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E4 — Linha de produção de tarefas</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19/10 – 02/11/2026  ·  branch etapa/e4-linha-de-producao</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2"/>
          </a:solidFill>
          <a:ln w="12700">
            <a:solidFill>
              <a:schemeClr val="accent2"/>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Entregue</a:t>
            </a:r>
            <a:endParaRPr lang="en-US" sz="1100" dirty="0"/>
          </a:p>
        </p:txBody>
      </p:sp>
      <p:sp>
        <p:nvSpPr>
          <p:cNvPr id="6" name="proposta-4"/>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Uma tarefa percorre os seis estados, é reprovada de propósito, é refeita e conclui.</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R1 · R2 · R3 · R4 · R5 · R14</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Os seis estados, com a mudança gravada de uma vez só</a:t>
            </a:r>
            <a:endParaRPr lang="en-US" sz="1050" dirty="0"/>
          </a:p>
        </p:txBody>
      </p:sp>
      <p:sp>
        <p:nvSpPr>
          <p:cNvPr id="13" name="Shape 11"/>
          <p:cNvSpPr/>
          <p:nvPr/>
        </p:nvSpPr>
        <p:spPr>
          <a:xfrm>
            <a:off x="4572000" y="2074545"/>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1053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Fila por dependências e equipe especializada</a:t>
            </a:r>
            <a:endParaRPr lang="en-US" sz="1050" dirty="0"/>
          </a:p>
        </p:txBody>
      </p:sp>
      <p:sp>
        <p:nvSpPr>
          <p:cNvPr id="15" name="Shape 13"/>
          <p:cNvSpPr/>
          <p:nvPr/>
        </p:nvSpPr>
        <p:spPr>
          <a:xfrm>
            <a:off x="4572000" y="2366010"/>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0200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Critérios de aceite executados sozinhos</a:t>
            </a:r>
            <a:endParaRPr lang="en-US" sz="1050" dirty="0"/>
          </a:p>
        </p:txBody>
      </p:sp>
      <p:sp>
        <p:nvSpPr>
          <p:cNvPr id="17" name="Shape 15"/>
          <p:cNvSpPr/>
          <p:nvPr/>
        </p:nvSpPr>
        <p:spPr>
          <a:xfrm>
            <a:off x="4572000" y="2657475"/>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59346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Os dois portões</a:t>
            </a:r>
            <a:endParaRPr lang="en-US" sz="1050" dirty="0"/>
          </a:p>
        </p:txBody>
      </p:sp>
      <p:sp>
        <p:nvSpPr>
          <p:cNvPr id="19" name="Shape 17"/>
          <p:cNvSpPr/>
          <p:nvPr/>
        </p:nvSpPr>
        <p:spPr>
          <a:xfrm>
            <a:off x="4572000" y="2948940"/>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288493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Diagnóstico da reprovação e escada de resposta</a:t>
            </a:r>
            <a:endParaRPr lang="en-US" sz="1050" dirty="0"/>
          </a:p>
        </p:txBody>
      </p:sp>
      <p:sp>
        <p:nvSpPr>
          <p:cNvPr id="21" name="Shape 19"/>
          <p:cNvSpPr/>
          <p:nvPr/>
        </p:nvSpPr>
        <p:spPr>
          <a:xfrm>
            <a:off x="4572000" y="3240405"/>
            <a:ext cx="164592" cy="164592"/>
          </a:xfrm>
          <a:prstGeom prst="ellipse">
            <a:avLst/>
          </a:prstGeom>
          <a:solidFill>
            <a:schemeClr val="accent2"/>
          </a:solidFill>
          <a:ln w="12700">
            <a:solidFill>
              <a:schemeClr val="accent2"/>
            </a:solidFill>
            <a:prstDash val="solid"/>
          </a:ln>
        </p:spPr>
      </p:sp>
      <p:sp>
        <p:nvSpPr>
          <p:cNvPr id="22" name="Text 20"/>
          <p:cNvSpPr txBox="1"/>
          <p:nvPr/>
        </p:nvSpPr>
        <p:spPr>
          <a:xfrm>
            <a:off x="4846320" y="317639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Teto de gasto por rodada e por tarefa</a:t>
            </a:r>
            <a:endParaRPr lang="en-US" sz="1050" dirty="0"/>
          </a:p>
        </p:txBody>
      </p:sp>
      <p:sp>
        <p:nvSpPr>
          <p:cNvPr id="23" name="Shape 21"/>
          <p:cNvSpPr/>
          <p:nvPr/>
        </p:nvSpPr>
        <p:spPr>
          <a:xfrm>
            <a:off x="4572000" y="3531870"/>
            <a:ext cx="164592" cy="164592"/>
          </a:xfrm>
          <a:prstGeom prst="ellipse">
            <a:avLst/>
          </a:prstGeom>
          <a:solidFill>
            <a:schemeClr val="accent2"/>
          </a:solidFill>
          <a:ln w="12700">
            <a:solidFill>
              <a:schemeClr val="accent2"/>
            </a:solidFill>
            <a:prstDash val="solid"/>
          </a:ln>
        </p:spPr>
      </p:sp>
      <p:sp>
        <p:nvSpPr>
          <p:cNvPr id="24" name="Text 22"/>
          <p:cNvSpPr txBox="1"/>
          <p:nvPr/>
        </p:nvSpPr>
        <p:spPr>
          <a:xfrm>
            <a:off x="4846320" y="346786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Do pedido às tarefas: o planejador</a:t>
            </a:r>
            <a:endParaRPr lang="en-US" sz="1050" dirty="0"/>
          </a:p>
        </p:txBody>
      </p:sp>
      <p:sp>
        <p:nvSpPr>
          <p:cNvPr id="25" name="Shape 23"/>
          <p:cNvSpPr/>
          <p:nvPr/>
        </p:nvSpPr>
        <p:spPr>
          <a:xfrm>
            <a:off x="4572000" y="3823335"/>
            <a:ext cx="164592" cy="164592"/>
          </a:xfrm>
          <a:prstGeom prst="ellipse">
            <a:avLst/>
          </a:prstGeom>
          <a:solidFill>
            <a:schemeClr val="accent2"/>
          </a:solidFill>
          <a:ln w="12700">
            <a:solidFill>
              <a:schemeClr val="accent2"/>
            </a:solidFill>
            <a:prstDash val="solid"/>
          </a:ln>
        </p:spPr>
      </p:sp>
      <p:sp>
        <p:nvSpPr>
          <p:cNvPr id="26" name="Text 24"/>
          <p:cNvSpPr txBox="1"/>
          <p:nvPr/>
        </p:nvSpPr>
        <p:spPr>
          <a:xfrm>
            <a:off x="4846320" y="3759327"/>
            <a:ext cx="3840480" cy="291465"/>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Marco: reprovada de propósito, refeita e concluída</a:t>
            </a:r>
            <a:endParaRPr lang="en-US" sz="1050" dirty="0"/>
          </a:p>
        </p:txBody>
      </p:sp>
      <p:sp>
        <p:nvSpPr>
          <p:cNvPr id="27" name="Text 25"/>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8/8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8" name="Text 26"/>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908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9" name="Text 27"/>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16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30" name="Text 28"/>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test test/factory/milestone_e4_test.exs — histórico pronta → execução → teste → execução → teste → revisão → concluída, reprovação por entrega errada, modelo sobe no 2º ciclo, custo por ciclo separado.</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E5 — Paralelismo e tolerância a falhas</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03/11 – 17/11/2026  ·  branch etapa/e5-paralelismo</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2"/>
          </a:solidFill>
          <a:ln w="12700">
            <a:solidFill>
              <a:schemeClr val="accent2"/>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Entregue</a:t>
            </a:r>
            <a:endParaRPr lang="en-US" sz="1100" dirty="0"/>
          </a:p>
        </p:txBody>
      </p:sp>
      <p:sp>
        <p:nvSpPr>
          <p:cNvPr id="6" name="proposta-5"/>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Três tarefas em paralelo; encerrar uma no meio não afeta as outras, e ela volta à fila.</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R6 · R9 · R13</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Um processo supervisionado por tarefa</a:t>
            </a:r>
            <a:endParaRPr lang="en-US" sz="1150" dirty="0"/>
          </a:p>
        </p:txBody>
      </p:sp>
      <p:sp>
        <p:nvSpPr>
          <p:cNvPr id="13" name="Shape 11"/>
          <p:cNvSpPr/>
          <p:nvPr/>
        </p:nvSpPr>
        <p:spPr>
          <a:xfrm>
            <a:off x="4572000" y="2112264"/>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48256"/>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Fila durável no banco</a:t>
            </a:r>
            <a:endParaRPr lang="en-US" sz="1150" dirty="0"/>
          </a:p>
        </p:txBody>
      </p:sp>
      <p:sp>
        <p:nvSpPr>
          <p:cNvPr id="15" name="Shape 13"/>
          <p:cNvSpPr/>
          <p:nvPr/>
        </p:nvSpPr>
        <p:spPr>
          <a:xfrm>
            <a:off x="4572000" y="2441448"/>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77440"/>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Tarefas em paralelo sem disputar arquivo</a:t>
            </a:r>
            <a:endParaRPr lang="en-US" sz="1150" dirty="0"/>
          </a:p>
        </p:txBody>
      </p:sp>
      <p:sp>
        <p:nvSpPr>
          <p:cNvPr id="17" name="Shape 15"/>
          <p:cNvSpPr/>
          <p:nvPr/>
        </p:nvSpPr>
        <p:spPr>
          <a:xfrm>
            <a:off x="4572000" y="2770632"/>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706624"/>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Reconhecer o limite de uso do fornecedor e retomar</a:t>
            </a:r>
            <a:endParaRPr lang="en-US" sz="1150" dirty="0"/>
          </a:p>
        </p:txBody>
      </p:sp>
      <p:sp>
        <p:nvSpPr>
          <p:cNvPr id="19" name="Shape 17"/>
          <p:cNvSpPr/>
          <p:nvPr/>
        </p:nvSpPr>
        <p:spPr>
          <a:xfrm>
            <a:off x="4572000" y="3099816"/>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3035808"/>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Recuperar trabalho interrompido</a:t>
            </a:r>
            <a:endParaRPr lang="en-US" sz="1150" dirty="0"/>
          </a:p>
        </p:txBody>
      </p:sp>
      <p:sp>
        <p:nvSpPr>
          <p:cNvPr id="21" name="Shape 19"/>
          <p:cNvSpPr/>
          <p:nvPr/>
        </p:nvSpPr>
        <p:spPr>
          <a:xfrm>
            <a:off x="4572000" y="3429000"/>
            <a:ext cx="164592" cy="164592"/>
          </a:xfrm>
          <a:prstGeom prst="ellipse">
            <a:avLst/>
          </a:prstGeom>
          <a:solidFill>
            <a:schemeClr val="accent2"/>
          </a:solidFill>
          <a:ln w="12700">
            <a:solidFill>
              <a:schemeClr val="accent2"/>
            </a:solidFill>
            <a:prstDash val="solid"/>
          </a:ln>
        </p:spPr>
      </p:sp>
      <p:sp>
        <p:nvSpPr>
          <p:cNvPr id="22" name="Text 20"/>
          <p:cNvSpPr txBox="1"/>
          <p:nvPr/>
        </p:nvSpPr>
        <p:spPr>
          <a:xfrm>
            <a:off x="4846320" y="3364992"/>
            <a:ext cx="3840480" cy="329184"/>
          </a:xfrm>
          <a:prstGeom prst="rect">
            <a:avLst/>
          </a:prstGeom>
          <a:noFill/>
          <a:ln/>
        </p:spPr>
        <p:txBody>
          <a:bodyPr wrap="square" lIns="0" tIns="0" rIns="0" bIns="0" rtlCol="0" anchor="ctr"/>
          <a:lstStyle/>
          <a:p>
            <a:pPr indent="0" marL="0">
              <a:buNone/>
            </a:pPr>
            <a:r>
              <a:rPr lang="en-US" sz="1150" b="1" dirty="0">
                <a:solidFill>
                  <a:schemeClr val="tx1"/>
                </a:solidFill>
                <a:latin typeface="Calibri" pitchFamily="34" charset="0"/>
                <a:ea typeface="Calibri" pitchFamily="34" charset="-122"/>
                <a:cs typeface="Calibri" pitchFamily="34" charset="-120"/>
              </a:rPr>
              <a:t>Marco: três em paralelo, e matar uma não derruba as outras</a:t>
            </a:r>
            <a:endParaRPr lang="en-US" sz="1150" dirty="0"/>
          </a:p>
        </p:txBody>
      </p:sp>
      <p:sp>
        <p:nvSpPr>
          <p:cNvPr id="23" name="Text 21"/>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6/6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4" name="Text 22"/>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995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5" name="Text 23"/>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10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26" name="Text 24"/>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test test/factory/milestone_e5_test.exs — três agentes reais em voo, um é morto, os outros seguem e o morto volta à fila.</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E6 — Memória do projeto</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18/11 – 02/12/2026  ·  branch etapa/e6-memoria</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3"/>
          </a:solidFill>
          <a:ln w="12700">
            <a:solidFill>
              <a:schemeClr val="accent3"/>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Entrega bloqueada</a:t>
            </a:r>
            <a:endParaRPr lang="en-US" sz="1100" dirty="0"/>
          </a:p>
        </p:txBody>
      </p:sp>
      <p:sp>
        <p:nvSpPr>
          <p:cNvPr id="6" name="proposta-6"/>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O agente cita a decisão anterior, com a fonte certa, em vez de decidir de novo.</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R7 · R9</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Medir antes de escolher onde a busca roda</a:t>
            </a:r>
            <a:endParaRPr lang="en-US" sz="1150" dirty="0"/>
          </a:p>
        </p:txBody>
      </p:sp>
      <p:sp>
        <p:nvSpPr>
          <p:cNvPr id="13" name="Shape 11"/>
          <p:cNvSpPr/>
          <p:nvPr/>
        </p:nvSpPr>
        <p:spPr>
          <a:xfrm>
            <a:off x="4572000" y="2112264"/>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48256"/>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Guardar o histórico em trechos consultáveis</a:t>
            </a:r>
            <a:endParaRPr lang="en-US" sz="1150" dirty="0"/>
          </a:p>
        </p:txBody>
      </p:sp>
      <p:sp>
        <p:nvSpPr>
          <p:cNvPr id="15" name="Shape 13"/>
          <p:cNvSpPr/>
          <p:nvPr/>
        </p:nvSpPr>
        <p:spPr>
          <a:xfrm>
            <a:off x="4572000" y="2441448"/>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77440"/>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Busca por significado e por termo exato</a:t>
            </a:r>
            <a:endParaRPr lang="en-US" sz="1150" dirty="0"/>
          </a:p>
        </p:txBody>
      </p:sp>
      <p:sp>
        <p:nvSpPr>
          <p:cNvPr id="17" name="Shape 15"/>
          <p:cNvSpPr/>
          <p:nvPr/>
        </p:nvSpPr>
        <p:spPr>
          <a:xfrm>
            <a:off x="4572000" y="2770632"/>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706624"/>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Entregar o contexto com a fonte citada</a:t>
            </a:r>
            <a:endParaRPr lang="en-US" sz="1150" dirty="0"/>
          </a:p>
        </p:txBody>
      </p:sp>
      <p:sp>
        <p:nvSpPr>
          <p:cNvPr id="19" name="Shape 17"/>
          <p:cNvSpPr/>
          <p:nvPr/>
        </p:nvSpPr>
        <p:spPr>
          <a:xfrm>
            <a:off x="4572000" y="3099816"/>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3035808"/>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Avaliar a qualidade da busca</a:t>
            </a:r>
            <a:endParaRPr lang="en-US" sz="1150" dirty="0"/>
          </a:p>
        </p:txBody>
      </p:sp>
      <p:sp>
        <p:nvSpPr>
          <p:cNvPr id="21" name="Shape 19"/>
          <p:cNvSpPr/>
          <p:nvPr/>
        </p:nvSpPr>
        <p:spPr>
          <a:xfrm>
            <a:off x="4572000" y="3429000"/>
            <a:ext cx="164592" cy="164592"/>
          </a:xfrm>
          <a:prstGeom prst="ellipse">
            <a:avLst/>
          </a:prstGeom>
          <a:solidFill>
            <a:schemeClr val="accent3"/>
          </a:solidFill>
          <a:ln w="12700">
            <a:solidFill>
              <a:schemeClr val="accent3"/>
            </a:solidFill>
            <a:prstDash val="solid"/>
          </a:ln>
        </p:spPr>
      </p:sp>
      <p:sp>
        <p:nvSpPr>
          <p:cNvPr id="22" name="Text 20"/>
          <p:cNvSpPr txBox="1"/>
          <p:nvPr/>
        </p:nvSpPr>
        <p:spPr>
          <a:xfrm>
            <a:off x="4846320" y="3364992"/>
            <a:ext cx="3840480" cy="329184"/>
          </a:xfrm>
          <a:prstGeom prst="rect">
            <a:avLst/>
          </a:prstGeom>
          <a:noFill/>
          <a:ln/>
        </p:spPr>
        <p:txBody>
          <a:bodyPr wrap="square" lIns="0" tIns="0" rIns="0" bIns="0" rtlCol="0" anchor="ctr"/>
          <a:lstStyle/>
          <a:p>
            <a:pPr indent="0" marL="0">
              <a:buNone/>
            </a:pPr>
            <a:r>
              <a:rPr lang="en-US" sz="1150" b="1" dirty="0">
                <a:solidFill>
                  <a:schemeClr val="tx1"/>
                </a:solidFill>
                <a:latin typeface="Calibri" pitchFamily="34" charset="0"/>
                <a:ea typeface="Calibri" pitchFamily="34" charset="-122"/>
                <a:cs typeface="Calibri" pitchFamily="34" charset="-120"/>
              </a:rPr>
              <a:t>Marco: o agente cita a decisão anterior</a:t>
            </a:r>
            <a:endParaRPr lang="en-US" sz="1150" dirty="0"/>
          </a:p>
        </p:txBody>
      </p:sp>
      <p:sp>
        <p:nvSpPr>
          <p:cNvPr id="23" name="Text 21"/>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5/6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4" name="Text 22"/>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1.080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5" name="Text 23"/>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9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26" name="Text 24"/>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test test/factory/memory/ — ingestão, busca, bloco e avaliação  ·  mix run priv/probes/ollama_real.exs — o embedder real, sem custo</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E7 — Painel e automação</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03/12 – 17/12/2026  ·  branch etapa/e7-painel</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1"/>
          </a:solidFill>
          <a:ln w="12700">
            <a:solidFill>
              <a:schemeClr val="accent1"/>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Em andamento</a:t>
            </a:r>
            <a:endParaRPr lang="en-US" sz="1100" dirty="0"/>
          </a:p>
        </p:txBody>
      </p:sp>
      <p:sp>
        <p:nvSpPr>
          <p:cNvPr id="6" name="proposta-7"/>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Um projeto inteiro acompanhado na tela, do pedido à entrega, com o custo em tempo real.</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R8</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Medidas de cada execução</a:t>
            </a:r>
            <a:endParaRPr lang="en-US" sz="1050" dirty="0"/>
          </a:p>
        </p:txBody>
      </p:sp>
      <p:sp>
        <p:nvSpPr>
          <p:cNvPr id="13" name="Shape 11"/>
          <p:cNvSpPr/>
          <p:nvPr/>
        </p:nvSpPr>
        <p:spPr>
          <a:xfrm>
            <a:off x="4572000" y="2074545"/>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1053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Quadro de tarefas e console ao vivo, com custo</a:t>
            </a:r>
            <a:endParaRPr lang="en-US" sz="1050" dirty="0"/>
          </a:p>
        </p:txBody>
      </p:sp>
      <p:sp>
        <p:nvSpPr>
          <p:cNvPr id="15" name="Shape 13"/>
          <p:cNvSpPr/>
          <p:nvPr/>
        </p:nvSpPr>
        <p:spPr>
          <a:xfrm>
            <a:off x="4572000" y="2366010"/>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0200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Parar e retomar</a:t>
            </a:r>
            <a:endParaRPr lang="en-US" sz="1050" dirty="0"/>
          </a:p>
        </p:txBody>
      </p:sp>
      <p:sp>
        <p:nvSpPr>
          <p:cNvPr id="17" name="Shape 15"/>
          <p:cNvSpPr/>
          <p:nvPr/>
        </p:nvSpPr>
        <p:spPr>
          <a:xfrm>
            <a:off x="4572000" y="2657475"/>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59346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Rodadas automáticas com teto de gasto</a:t>
            </a:r>
            <a:endParaRPr lang="en-US" sz="1050" dirty="0"/>
          </a:p>
        </p:txBody>
      </p:sp>
      <p:sp>
        <p:nvSpPr>
          <p:cNvPr id="19" name="Shape 17"/>
          <p:cNvSpPr/>
          <p:nvPr/>
        </p:nvSpPr>
        <p:spPr>
          <a:xfrm>
            <a:off x="4572000" y="2948940"/>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288493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Entregas que não são código</a:t>
            </a:r>
            <a:endParaRPr lang="en-US" sz="1050" dirty="0"/>
          </a:p>
        </p:txBody>
      </p:sp>
      <p:sp>
        <p:nvSpPr>
          <p:cNvPr id="21" name="Shape 19"/>
          <p:cNvSpPr/>
          <p:nvPr/>
        </p:nvSpPr>
        <p:spPr>
          <a:xfrm>
            <a:off x="4572000" y="3240405"/>
            <a:ext cx="164592" cy="164592"/>
          </a:xfrm>
          <a:prstGeom prst="ellipse">
            <a:avLst/>
          </a:prstGeom>
          <a:solidFill>
            <a:schemeClr val="accent2"/>
          </a:solidFill>
          <a:ln w="12700">
            <a:solidFill>
              <a:schemeClr val="accent2"/>
            </a:solidFill>
            <a:prstDash val="solid"/>
          </a:ln>
        </p:spPr>
      </p:sp>
      <p:sp>
        <p:nvSpPr>
          <p:cNvPr id="22" name="Text 20"/>
          <p:cNvSpPr txBox="1"/>
          <p:nvPr/>
        </p:nvSpPr>
        <p:spPr>
          <a:xfrm>
            <a:off x="4846320" y="317639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Busca de segredos antes de publicar</a:t>
            </a:r>
            <a:endParaRPr lang="en-US" sz="1050" dirty="0"/>
          </a:p>
        </p:txBody>
      </p:sp>
      <p:sp>
        <p:nvSpPr>
          <p:cNvPr id="23" name="Shape 21"/>
          <p:cNvSpPr/>
          <p:nvPr/>
        </p:nvSpPr>
        <p:spPr>
          <a:xfrm>
            <a:off x="4572000" y="3531870"/>
            <a:ext cx="164592" cy="164592"/>
          </a:xfrm>
          <a:prstGeom prst="ellipse">
            <a:avLst/>
          </a:prstGeom>
          <a:solidFill>
            <a:schemeClr val="accent2"/>
          </a:solidFill>
          <a:ln w="12700">
            <a:solidFill>
              <a:schemeClr val="accent2"/>
            </a:solidFill>
            <a:prstDash val="solid"/>
          </a:ln>
        </p:spPr>
      </p:sp>
      <p:sp>
        <p:nvSpPr>
          <p:cNvPr id="24" name="Text 22"/>
          <p:cNvSpPr txBox="1"/>
          <p:nvPr/>
        </p:nvSpPr>
        <p:spPr>
          <a:xfrm>
            <a:off x="4846320" y="346786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O agente real de ponta a ponta</a:t>
            </a:r>
            <a:endParaRPr lang="en-US" sz="1050" dirty="0"/>
          </a:p>
        </p:txBody>
      </p:sp>
      <p:sp>
        <p:nvSpPr>
          <p:cNvPr id="25" name="Shape 23"/>
          <p:cNvSpPr/>
          <p:nvPr/>
        </p:nvSpPr>
        <p:spPr>
          <a:xfrm>
            <a:off x="4572000" y="3823335"/>
            <a:ext cx="164592" cy="164592"/>
          </a:xfrm>
          <a:prstGeom prst="ellipse">
            <a:avLst/>
          </a:prstGeom>
          <a:solidFill>
            <a:schemeClr val="accent1"/>
          </a:solidFill>
          <a:ln w="12700">
            <a:solidFill>
              <a:schemeClr val="accent1"/>
            </a:solidFill>
            <a:prstDash val="solid"/>
          </a:ln>
        </p:spPr>
      </p:sp>
      <p:sp>
        <p:nvSpPr>
          <p:cNvPr id="26" name="Text 24"/>
          <p:cNvSpPr txBox="1"/>
          <p:nvPr/>
        </p:nvSpPr>
        <p:spPr>
          <a:xfrm>
            <a:off x="4846320" y="3759327"/>
            <a:ext cx="3840480" cy="291465"/>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Marco: um projeto inteiro, sem intervenção, acompanhado na tela</a:t>
            </a:r>
            <a:endParaRPr lang="en-US" sz="1050" dirty="0"/>
          </a:p>
        </p:txBody>
      </p:sp>
      <p:sp>
        <p:nvSpPr>
          <p:cNvPr id="27" name="Text 25"/>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7/8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8" name="Text 26"/>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1.220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9" name="Text 27"/>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14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30" name="Text 28"/>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test test/factory/autopilot/ test/factory_web/ test/factory/queue/; mix phx.server → /board e /console.</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O sistema cresce etapa por etapa</a:t>
            </a:r>
            <a:endParaRPr lang="en-US" sz="2800" dirty="0"/>
          </a:p>
        </p:txBody>
      </p:sp>
      <p:graphicFrame>
        <p:nvGraphicFramePr>
          <p:cNvPr id="3" name="Chart 0" descr=""/>
          <p:cNvGraphicFramePr/>
          <p:nvPr/>
        </p:nvGraphicFramePr>
        <p:xfrm>
          <a:off x="457200" y="1051560"/>
          <a:ext cx="40233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1051560"/>
          <a:ext cx="4023360" cy="32918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Entregas por etapa: tarefas e commits</a:t>
            </a:r>
            <a:endParaRPr lang="en-US" sz="2800" dirty="0"/>
          </a:p>
        </p:txBody>
      </p:sp>
      <p:graphicFrame>
        <p:nvGraphicFramePr>
          <p:cNvPr id="3" name="Chart 0" descr=""/>
          <p:cNvGraphicFramePr/>
          <p:nvPr/>
        </p:nvGraphicFramePr>
        <p:xfrm>
          <a:off x="457200" y="1051560"/>
          <a:ext cx="402336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1051560"/>
          <a:ext cx="402336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457200" y="4160520"/>
            <a:ext cx="8229600" cy="45720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Cada tarefa corresponde a um pacote do plano; cada commit entrega um passo de uma tarefa, sempre com a verificação completa verde.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Requisitos: 8 atendidos, 6 parciais, 1 pendente</a:t>
            </a:r>
            <a:endParaRPr lang="en-US" sz="2800" dirty="0"/>
          </a:p>
        </p:txBody>
      </p:sp>
      <p:sp>
        <p:nvSpPr>
          <p:cNvPr id="3" name="Shape 1"/>
          <p:cNvSpPr/>
          <p:nvPr/>
        </p:nvSpPr>
        <p:spPr>
          <a:xfrm>
            <a:off x="457200" y="1088136"/>
            <a:ext cx="502920" cy="292608"/>
          </a:xfrm>
          <a:prstGeom prst="roundRect">
            <a:avLst>
              <a:gd name="adj" fmla="val 25000"/>
            </a:avLst>
          </a:prstGeom>
          <a:solidFill>
            <a:schemeClr val="accent1"/>
          </a:solidFill>
          <a:ln w="12700">
            <a:solidFill>
              <a:schemeClr val="accent1"/>
            </a:solidFill>
            <a:prstDash val="solid"/>
          </a:ln>
        </p:spPr>
      </p:sp>
      <p:sp>
        <p:nvSpPr>
          <p:cNvPr id="4" name="Text 2"/>
          <p:cNvSpPr txBox="1"/>
          <p:nvPr/>
        </p:nvSpPr>
        <p:spPr>
          <a:xfrm>
            <a:off x="457200" y="1088136"/>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a:t>
            </a:r>
            <a:endParaRPr lang="en-US" sz="1100" dirty="0"/>
          </a:p>
        </p:txBody>
      </p:sp>
      <p:sp>
        <p:nvSpPr>
          <p:cNvPr id="5" name="Text 3"/>
          <p:cNvSpPr txBox="1"/>
          <p:nvPr/>
        </p:nvSpPr>
        <p:spPr>
          <a:xfrm>
            <a:off x="1051560" y="1069848"/>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Pedido → especificação, plano e tarefas</a:t>
            </a:r>
            <a:pPr indent="0" marL="0">
              <a:buNone/>
            </a:pPr>
            <a:r>
              <a:rPr lang="en-US" sz="1050" dirty="0">
                <a:solidFill>
                  <a:schemeClr val="accent5"/>
                </a:solidFill>
                <a:latin typeface="Calibri" pitchFamily="34" charset="0"/>
                <a:ea typeface="Calibri" pitchFamily="34" charset="-122"/>
                <a:cs typeface="Calibri" pitchFamily="34" charset="-120"/>
              </a:rPr>
              <a:t>  implementado; pedido real na validação</a:t>
            </a:r>
            <a:endParaRPr lang="en-US" sz="1050" dirty="0"/>
          </a:p>
        </p:txBody>
      </p:sp>
      <p:sp>
        <p:nvSpPr>
          <p:cNvPr id="6" name="Shape 4"/>
          <p:cNvSpPr/>
          <p:nvPr/>
        </p:nvSpPr>
        <p:spPr>
          <a:xfrm>
            <a:off x="457200" y="1517904"/>
            <a:ext cx="502920" cy="292608"/>
          </a:xfrm>
          <a:prstGeom prst="roundRect">
            <a:avLst>
              <a:gd name="adj" fmla="val 25000"/>
            </a:avLst>
          </a:prstGeom>
          <a:solidFill>
            <a:schemeClr val="accent2"/>
          </a:solidFill>
          <a:ln w="12700">
            <a:solidFill>
              <a:schemeClr val="accent2"/>
            </a:solidFill>
            <a:prstDash val="solid"/>
          </a:ln>
        </p:spPr>
      </p:sp>
      <p:sp>
        <p:nvSpPr>
          <p:cNvPr id="7" name="Text 5"/>
          <p:cNvSpPr txBox="1"/>
          <p:nvPr/>
        </p:nvSpPr>
        <p:spPr>
          <a:xfrm>
            <a:off x="457200" y="1517904"/>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R2</a:t>
            </a:r>
            <a:endParaRPr lang="en-US" sz="1100" dirty="0"/>
          </a:p>
        </p:txBody>
      </p:sp>
      <p:sp>
        <p:nvSpPr>
          <p:cNvPr id="8" name="Text 6"/>
          <p:cNvSpPr txBox="1"/>
          <p:nvPr/>
        </p:nvSpPr>
        <p:spPr>
          <a:xfrm>
            <a:off x="1051560" y="1499616"/>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Seis estados com relatório e custo</a:t>
            </a:r>
            <a:pPr indent="0" marL="0">
              <a:buNone/>
            </a:pPr>
            <a:r>
              <a:rPr lang="en-US" sz="1050" dirty="0">
                <a:solidFill>
                  <a:schemeClr val="accent5"/>
                </a:solidFill>
                <a:latin typeface="Calibri" pitchFamily="34" charset="0"/>
                <a:ea typeface="Calibri" pitchFamily="34" charset="-122"/>
                <a:cs typeface="Calibri" pitchFamily="34" charset="-120"/>
              </a:rPr>
              <a:t>  teste do marco E4</a:t>
            </a:r>
            <a:endParaRPr lang="en-US" sz="1050" dirty="0"/>
          </a:p>
        </p:txBody>
      </p:sp>
      <p:sp>
        <p:nvSpPr>
          <p:cNvPr id="9" name="Shape 7"/>
          <p:cNvSpPr/>
          <p:nvPr/>
        </p:nvSpPr>
        <p:spPr>
          <a:xfrm>
            <a:off x="457200" y="1947672"/>
            <a:ext cx="502920" cy="292608"/>
          </a:xfrm>
          <a:prstGeom prst="roundRect">
            <a:avLst>
              <a:gd name="adj" fmla="val 25000"/>
            </a:avLst>
          </a:prstGeom>
          <a:solidFill>
            <a:schemeClr val="accent2"/>
          </a:solidFill>
          <a:ln w="12700">
            <a:solidFill>
              <a:schemeClr val="accent2"/>
            </a:solidFill>
            <a:prstDash val="solid"/>
          </a:ln>
        </p:spPr>
      </p:sp>
      <p:sp>
        <p:nvSpPr>
          <p:cNvPr id="10" name="Text 8"/>
          <p:cNvSpPr txBox="1"/>
          <p:nvPr/>
        </p:nvSpPr>
        <p:spPr>
          <a:xfrm>
            <a:off x="457200" y="1947672"/>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R3</a:t>
            </a:r>
            <a:endParaRPr lang="en-US" sz="1100" dirty="0"/>
          </a:p>
        </p:txBody>
      </p:sp>
      <p:sp>
        <p:nvSpPr>
          <p:cNvPr id="11" name="Text 9"/>
          <p:cNvSpPr txBox="1"/>
          <p:nvPr/>
        </p:nvSpPr>
        <p:spPr>
          <a:xfrm>
            <a:off x="1051560" y="1929384"/>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Dois julgamentos independentes</a:t>
            </a:r>
            <a:pPr indent="0" marL="0">
              <a:buNone/>
            </a:pPr>
            <a:r>
              <a:rPr lang="en-US" sz="1050" dirty="0">
                <a:solidFill>
                  <a:schemeClr val="accent5"/>
                </a:solidFill>
                <a:latin typeface="Calibri" pitchFamily="34" charset="0"/>
                <a:ea typeface="Calibri" pitchFamily="34" charset="-122"/>
                <a:cs typeface="Calibri" pitchFamily="34" charset="-120"/>
              </a:rPr>
              <a:t>  dois portões, teste do marco E4</a:t>
            </a:r>
            <a:endParaRPr lang="en-US" sz="1050" dirty="0"/>
          </a:p>
        </p:txBody>
      </p:sp>
      <p:sp>
        <p:nvSpPr>
          <p:cNvPr id="12" name="Shape 10"/>
          <p:cNvSpPr/>
          <p:nvPr/>
        </p:nvSpPr>
        <p:spPr>
          <a:xfrm>
            <a:off x="457200" y="2377440"/>
            <a:ext cx="502920" cy="292608"/>
          </a:xfrm>
          <a:prstGeom prst="roundRect">
            <a:avLst>
              <a:gd name="adj" fmla="val 25000"/>
            </a:avLst>
          </a:prstGeom>
          <a:solidFill>
            <a:schemeClr val="accent1"/>
          </a:solidFill>
          <a:ln w="12700">
            <a:solidFill>
              <a:schemeClr val="accent1"/>
            </a:solidFill>
            <a:prstDash val="solid"/>
          </a:ln>
        </p:spPr>
      </p:sp>
      <p:sp>
        <p:nvSpPr>
          <p:cNvPr id="13" name="Text 11"/>
          <p:cNvSpPr txBox="1"/>
          <p:nvPr/>
        </p:nvSpPr>
        <p:spPr>
          <a:xfrm>
            <a:off x="457200" y="2377440"/>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R4</a:t>
            </a:r>
            <a:endParaRPr lang="en-US" sz="1100" dirty="0"/>
          </a:p>
        </p:txBody>
      </p:sp>
      <p:sp>
        <p:nvSpPr>
          <p:cNvPr id="14" name="Text 12"/>
          <p:cNvSpPr txBox="1"/>
          <p:nvPr/>
        </p:nvSpPr>
        <p:spPr>
          <a:xfrm>
            <a:off x="1051560" y="2359152"/>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Decidir como refazer</a:t>
            </a:r>
            <a:pPr indent="0" marL="0">
              <a:buNone/>
            </a:pPr>
            <a:r>
              <a:rPr lang="en-US" sz="1050" dirty="0">
                <a:solidFill>
                  <a:schemeClr val="accent5"/>
                </a:solidFill>
                <a:latin typeface="Calibri" pitchFamily="34" charset="0"/>
                <a:ea typeface="Calibri" pitchFamily="34" charset="-122"/>
                <a:cs typeface="Calibri" pitchFamily="34" charset="-120"/>
              </a:rPr>
              <a:t>  escada pronta e testada; o laço automático ainda não a chama</a:t>
            </a:r>
            <a:endParaRPr lang="en-US" sz="1050" dirty="0"/>
          </a:p>
        </p:txBody>
      </p:sp>
      <p:sp>
        <p:nvSpPr>
          <p:cNvPr id="15" name="Shape 13"/>
          <p:cNvSpPr/>
          <p:nvPr/>
        </p:nvSpPr>
        <p:spPr>
          <a:xfrm>
            <a:off x="457200" y="2807208"/>
            <a:ext cx="502920" cy="292608"/>
          </a:xfrm>
          <a:prstGeom prst="roundRect">
            <a:avLst>
              <a:gd name="adj" fmla="val 25000"/>
            </a:avLst>
          </a:prstGeom>
          <a:solidFill>
            <a:schemeClr val="accent1"/>
          </a:solidFill>
          <a:ln w="12700">
            <a:solidFill>
              <a:schemeClr val="accent1"/>
            </a:solidFill>
            <a:prstDash val="solid"/>
          </a:ln>
        </p:spPr>
      </p:sp>
      <p:sp>
        <p:nvSpPr>
          <p:cNvPr id="16" name="Text 14"/>
          <p:cNvSpPr txBox="1"/>
          <p:nvPr/>
        </p:nvSpPr>
        <p:spPr>
          <a:xfrm>
            <a:off x="457200" y="2807208"/>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R5</a:t>
            </a:r>
            <a:endParaRPr lang="en-US" sz="1100" dirty="0"/>
          </a:p>
        </p:txBody>
      </p:sp>
      <p:sp>
        <p:nvSpPr>
          <p:cNvPr id="17" name="Text 15"/>
          <p:cNvSpPr txBox="1"/>
          <p:nvPr/>
        </p:nvSpPr>
        <p:spPr>
          <a:xfrm>
            <a:off x="1051560" y="2788920"/>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Retrabalho limitado</a:t>
            </a:r>
            <a:pPr indent="0" marL="0">
              <a:buNone/>
            </a:pPr>
            <a:r>
              <a:rPr lang="en-US" sz="1050" dirty="0">
                <a:solidFill>
                  <a:schemeClr val="accent5"/>
                </a:solidFill>
                <a:latin typeface="Calibri" pitchFamily="34" charset="0"/>
                <a:ea typeface="Calibri" pitchFamily="34" charset="-122"/>
                <a:cs typeface="Calibri" pitchFamily="34" charset="-120"/>
              </a:rPr>
              <a:t>  limite de 3 ciclos definido e testado; ainda não acionado automaticamente</a:t>
            </a:r>
            <a:endParaRPr lang="en-US" sz="1050" dirty="0"/>
          </a:p>
        </p:txBody>
      </p:sp>
      <p:sp>
        <p:nvSpPr>
          <p:cNvPr id="18" name="Shape 16"/>
          <p:cNvSpPr/>
          <p:nvPr/>
        </p:nvSpPr>
        <p:spPr>
          <a:xfrm>
            <a:off x="457200" y="3236976"/>
            <a:ext cx="502920" cy="292608"/>
          </a:xfrm>
          <a:prstGeom prst="roundRect">
            <a:avLst>
              <a:gd name="adj" fmla="val 25000"/>
            </a:avLst>
          </a:prstGeom>
          <a:solidFill>
            <a:schemeClr val="accent2"/>
          </a:solidFill>
          <a:ln w="12700">
            <a:solidFill>
              <a:schemeClr val="accent2"/>
            </a:solidFill>
            <a:prstDash val="solid"/>
          </a:ln>
        </p:spPr>
      </p:sp>
      <p:sp>
        <p:nvSpPr>
          <p:cNvPr id="19" name="Text 17"/>
          <p:cNvSpPr txBox="1"/>
          <p:nvPr/>
        </p:nvSpPr>
        <p:spPr>
          <a:xfrm>
            <a:off x="457200" y="3236976"/>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R6</a:t>
            </a:r>
            <a:endParaRPr lang="en-US" sz="1100" dirty="0"/>
          </a:p>
        </p:txBody>
      </p:sp>
      <p:sp>
        <p:nvSpPr>
          <p:cNvPr id="20" name="Text 18"/>
          <p:cNvSpPr txBox="1"/>
          <p:nvPr/>
        </p:nvSpPr>
        <p:spPr>
          <a:xfrm>
            <a:off x="1051560" y="3218688"/>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Paralelismo sem disputa</a:t>
            </a:r>
            <a:pPr indent="0" marL="0">
              <a:buNone/>
            </a:pPr>
            <a:r>
              <a:rPr lang="en-US" sz="1050" dirty="0">
                <a:solidFill>
                  <a:schemeClr val="accent5"/>
                </a:solidFill>
                <a:latin typeface="Calibri" pitchFamily="34" charset="0"/>
                <a:ea typeface="Calibri" pitchFamily="34" charset="-122"/>
                <a:cs typeface="Calibri" pitchFamily="34" charset="-120"/>
              </a:rPr>
              <a:t>  teste do marco E5</a:t>
            </a:r>
            <a:endParaRPr lang="en-US" sz="1050" dirty="0"/>
          </a:p>
        </p:txBody>
      </p:sp>
      <p:sp>
        <p:nvSpPr>
          <p:cNvPr id="21" name="Shape 19"/>
          <p:cNvSpPr/>
          <p:nvPr/>
        </p:nvSpPr>
        <p:spPr>
          <a:xfrm>
            <a:off x="457200" y="3666744"/>
            <a:ext cx="502920" cy="292608"/>
          </a:xfrm>
          <a:prstGeom prst="roundRect">
            <a:avLst>
              <a:gd name="adj" fmla="val 25000"/>
            </a:avLst>
          </a:prstGeom>
          <a:solidFill>
            <a:schemeClr val="accent3"/>
          </a:solidFill>
          <a:ln w="12700">
            <a:solidFill>
              <a:schemeClr val="accent3"/>
            </a:solidFill>
            <a:prstDash val="solid"/>
          </a:ln>
        </p:spPr>
      </p:sp>
      <p:sp>
        <p:nvSpPr>
          <p:cNvPr id="22" name="Text 20"/>
          <p:cNvSpPr txBox="1"/>
          <p:nvPr/>
        </p:nvSpPr>
        <p:spPr>
          <a:xfrm>
            <a:off x="457200" y="3666744"/>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R7</a:t>
            </a:r>
            <a:endParaRPr lang="en-US" sz="1100" dirty="0"/>
          </a:p>
        </p:txBody>
      </p:sp>
      <p:sp>
        <p:nvSpPr>
          <p:cNvPr id="23" name="Text 21"/>
          <p:cNvSpPr txBox="1"/>
          <p:nvPr/>
        </p:nvSpPr>
        <p:spPr>
          <a:xfrm>
            <a:off x="1051560" y="3648456"/>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Histórico citado com fonte</a:t>
            </a:r>
            <a:pPr indent="0" marL="0">
              <a:buNone/>
            </a:pPr>
            <a:r>
              <a:rPr lang="en-US" sz="1050" dirty="0">
                <a:solidFill>
                  <a:schemeClr val="accent5"/>
                </a:solidFill>
                <a:latin typeface="Calibri" pitchFamily="34" charset="0"/>
                <a:ea typeface="Calibri" pitchFamily="34" charset="-122"/>
                <a:cs typeface="Calibri" pitchFamily="34" charset="-120"/>
              </a:rPr>
              <a:t>  bloco ainda não chega ao agente</a:t>
            </a:r>
            <a:endParaRPr lang="en-US" sz="1050" dirty="0"/>
          </a:p>
        </p:txBody>
      </p:sp>
      <p:sp>
        <p:nvSpPr>
          <p:cNvPr id="24" name="Shape 22"/>
          <p:cNvSpPr/>
          <p:nvPr/>
        </p:nvSpPr>
        <p:spPr>
          <a:xfrm>
            <a:off x="457200" y="4096512"/>
            <a:ext cx="502920" cy="292608"/>
          </a:xfrm>
          <a:prstGeom prst="roundRect">
            <a:avLst>
              <a:gd name="adj" fmla="val 25000"/>
            </a:avLst>
          </a:prstGeom>
          <a:solidFill>
            <a:schemeClr val="accent1"/>
          </a:solidFill>
          <a:ln w="12700">
            <a:solidFill>
              <a:schemeClr val="accent1"/>
            </a:solidFill>
            <a:prstDash val="solid"/>
          </a:ln>
        </p:spPr>
      </p:sp>
      <p:sp>
        <p:nvSpPr>
          <p:cNvPr id="25" name="Text 23"/>
          <p:cNvSpPr txBox="1"/>
          <p:nvPr/>
        </p:nvSpPr>
        <p:spPr>
          <a:xfrm>
            <a:off x="457200" y="4096512"/>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R8</a:t>
            </a:r>
            <a:endParaRPr lang="en-US" sz="1100" dirty="0"/>
          </a:p>
        </p:txBody>
      </p:sp>
      <p:sp>
        <p:nvSpPr>
          <p:cNvPr id="26" name="Text 24"/>
          <p:cNvSpPr txBox="1"/>
          <p:nvPr/>
        </p:nvSpPr>
        <p:spPr>
          <a:xfrm>
            <a:off x="1051560" y="4078224"/>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Andamento e custo ao vivo</a:t>
            </a:r>
            <a:pPr indent="0" marL="0">
              <a:buNone/>
            </a:pPr>
            <a:r>
              <a:rPr lang="en-US" sz="1050" dirty="0">
                <a:solidFill>
                  <a:schemeClr val="accent5"/>
                </a:solidFill>
                <a:latin typeface="Calibri" pitchFamily="34" charset="0"/>
                <a:ea typeface="Calibri" pitchFamily="34" charset="-122"/>
                <a:cs typeface="Calibri" pitchFamily="34" charset="-120"/>
              </a:rPr>
              <a:t>  tela pronta; projeto inteiro pendente</a:t>
            </a:r>
            <a:endParaRPr lang="en-US" sz="1050" dirty="0"/>
          </a:p>
        </p:txBody>
      </p:sp>
      <p:sp>
        <p:nvSpPr>
          <p:cNvPr id="27" name="Shape 25"/>
          <p:cNvSpPr/>
          <p:nvPr/>
        </p:nvSpPr>
        <p:spPr>
          <a:xfrm>
            <a:off x="4663440" y="1088136"/>
            <a:ext cx="502920" cy="292608"/>
          </a:xfrm>
          <a:prstGeom prst="roundRect">
            <a:avLst>
              <a:gd name="adj" fmla="val 25000"/>
            </a:avLst>
          </a:prstGeom>
          <a:solidFill>
            <a:schemeClr val="accent1"/>
          </a:solidFill>
          <a:ln w="12700">
            <a:solidFill>
              <a:schemeClr val="accent1"/>
            </a:solidFill>
            <a:prstDash val="solid"/>
          </a:ln>
        </p:spPr>
      </p:sp>
      <p:sp>
        <p:nvSpPr>
          <p:cNvPr id="28" name="Text 26"/>
          <p:cNvSpPr txBox="1"/>
          <p:nvPr/>
        </p:nvSpPr>
        <p:spPr>
          <a:xfrm>
            <a:off x="4663440" y="1088136"/>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R9</a:t>
            </a:r>
            <a:endParaRPr lang="en-US" sz="1100" dirty="0"/>
          </a:p>
        </p:txBody>
      </p:sp>
      <p:sp>
        <p:nvSpPr>
          <p:cNvPr id="29" name="Text 27"/>
          <p:cNvSpPr txBox="1"/>
          <p:nvPr/>
        </p:nvSpPr>
        <p:spPr>
          <a:xfrm>
            <a:off x="5257800" y="1069848"/>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Cabe em 8 GB / 4 núcleos</a:t>
            </a:r>
            <a:pPr indent="0" marL="0">
              <a:buNone/>
            </a:pPr>
            <a:r>
              <a:rPr lang="en-US" sz="1050" dirty="0">
                <a:solidFill>
                  <a:schemeClr val="accent5"/>
                </a:solidFill>
                <a:latin typeface="Calibri" pitchFamily="34" charset="0"/>
                <a:ea typeface="Calibri" pitchFamily="34" charset="-122"/>
                <a:cs typeface="Calibri" pitchFamily="34" charset="-120"/>
              </a:rPr>
              <a:t>  busca medida; pico com 3 em paralelo a medir</a:t>
            </a:r>
            <a:endParaRPr lang="en-US" sz="1050" dirty="0"/>
          </a:p>
        </p:txBody>
      </p:sp>
      <p:sp>
        <p:nvSpPr>
          <p:cNvPr id="30" name="Shape 28"/>
          <p:cNvSpPr/>
          <p:nvPr/>
        </p:nvSpPr>
        <p:spPr>
          <a:xfrm>
            <a:off x="4663440" y="1517904"/>
            <a:ext cx="502920" cy="292608"/>
          </a:xfrm>
          <a:prstGeom prst="roundRect">
            <a:avLst>
              <a:gd name="adj" fmla="val 25000"/>
            </a:avLst>
          </a:prstGeom>
          <a:solidFill>
            <a:schemeClr val="accent2"/>
          </a:solidFill>
          <a:ln w="12700">
            <a:solidFill>
              <a:schemeClr val="accent2"/>
            </a:solidFill>
            <a:prstDash val="solid"/>
          </a:ln>
        </p:spPr>
      </p:sp>
      <p:sp>
        <p:nvSpPr>
          <p:cNvPr id="31" name="Text 29"/>
          <p:cNvSpPr txBox="1"/>
          <p:nvPr/>
        </p:nvSpPr>
        <p:spPr>
          <a:xfrm>
            <a:off x="4663440" y="1517904"/>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R10</a:t>
            </a:r>
            <a:endParaRPr lang="en-US" sz="1100" dirty="0"/>
          </a:p>
        </p:txBody>
      </p:sp>
      <p:sp>
        <p:nvSpPr>
          <p:cNvPr id="32" name="Text 30"/>
          <p:cNvSpPr txBox="1"/>
          <p:nvPr/>
        </p:nvSpPr>
        <p:spPr>
          <a:xfrm>
            <a:off x="5257800" y="1499616"/>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Custo em cota e dinheiro</a:t>
            </a:r>
            <a:pPr indent="0" marL="0">
              <a:buNone/>
            </a:pPr>
            <a:r>
              <a:rPr lang="en-US" sz="1050" dirty="0">
                <a:solidFill>
                  <a:schemeClr val="accent5"/>
                </a:solidFill>
                <a:latin typeface="Calibri" pitchFamily="34" charset="0"/>
                <a:ea typeface="Calibri" pitchFamily="34" charset="-122"/>
                <a:cs typeface="Calibri" pitchFamily="34" charset="-120"/>
              </a:rPr>
              <a:t>  consumos em cota e US$</a:t>
            </a:r>
            <a:endParaRPr lang="en-US" sz="1050" dirty="0"/>
          </a:p>
        </p:txBody>
      </p:sp>
      <p:sp>
        <p:nvSpPr>
          <p:cNvPr id="33" name="Shape 31"/>
          <p:cNvSpPr/>
          <p:nvPr/>
        </p:nvSpPr>
        <p:spPr>
          <a:xfrm>
            <a:off x="4663440" y="1947672"/>
            <a:ext cx="502920" cy="292608"/>
          </a:xfrm>
          <a:prstGeom prst="roundRect">
            <a:avLst>
              <a:gd name="adj" fmla="val 25000"/>
            </a:avLst>
          </a:prstGeom>
          <a:solidFill>
            <a:schemeClr val="accent2"/>
          </a:solidFill>
          <a:ln w="12700">
            <a:solidFill>
              <a:schemeClr val="accent2"/>
            </a:solidFill>
            <a:prstDash val="solid"/>
          </a:ln>
        </p:spPr>
      </p:sp>
      <p:sp>
        <p:nvSpPr>
          <p:cNvPr id="34" name="Text 32"/>
          <p:cNvSpPr txBox="1"/>
          <p:nvPr/>
        </p:nvSpPr>
        <p:spPr>
          <a:xfrm>
            <a:off x="4663440" y="1947672"/>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R11</a:t>
            </a:r>
            <a:endParaRPr lang="en-US" sz="1100" dirty="0"/>
          </a:p>
        </p:txBody>
      </p:sp>
      <p:sp>
        <p:nvSpPr>
          <p:cNvPr id="35" name="Text 33"/>
          <p:cNvSpPr txBox="1"/>
          <p:nvPr/>
        </p:nvSpPr>
        <p:spPr>
          <a:xfrm>
            <a:off x="5257800" y="1929384"/>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Nada escrito fora do projeto</a:t>
            </a:r>
            <a:pPr indent="0" marL="0">
              <a:buNone/>
            </a:pPr>
            <a:r>
              <a:rPr lang="en-US" sz="1050" dirty="0">
                <a:solidFill>
                  <a:schemeClr val="accent5"/>
                </a:solidFill>
                <a:latin typeface="Calibri" pitchFamily="34" charset="0"/>
                <a:ea typeface="Calibri" pitchFamily="34" charset="-122"/>
                <a:cs typeface="Calibri" pitchFamily="34" charset="-120"/>
              </a:rPr>
              <a:t>  confinamento + sandbox</a:t>
            </a:r>
            <a:endParaRPr lang="en-US" sz="1050" dirty="0"/>
          </a:p>
        </p:txBody>
      </p:sp>
      <p:sp>
        <p:nvSpPr>
          <p:cNvPr id="36" name="Shape 34"/>
          <p:cNvSpPr/>
          <p:nvPr/>
        </p:nvSpPr>
        <p:spPr>
          <a:xfrm>
            <a:off x="4663440" y="2377440"/>
            <a:ext cx="502920" cy="292608"/>
          </a:xfrm>
          <a:prstGeom prst="roundRect">
            <a:avLst>
              <a:gd name="adj" fmla="val 25000"/>
            </a:avLst>
          </a:prstGeom>
          <a:solidFill>
            <a:schemeClr val="accent2"/>
          </a:solidFill>
          <a:ln w="12700">
            <a:solidFill>
              <a:schemeClr val="accent2"/>
            </a:solidFill>
            <a:prstDash val="solid"/>
          </a:ln>
        </p:spPr>
      </p:sp>
      <p:sp>
        <p:nvSpPr>
          <p:cNvPr id="37" name="Text 35"/>
          <p:cNvSpPr txBox="1"/>
          <p:nvPr/>
        </p:nvSpPr>
        <p:spPr>
          <a:xfrm>
            <a:off x="4663440" y="2377440"/>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R12</a:t>
            </a:r>
            <a:endParaRPr lang="en-US" sz="1100" dirty="0"/>
          </a:p>
        </p:txBody>
      </p:sp>
      <p:sp>
        <p:nvSpPr>
          <p:cNvPr id="38" name="Text 36"/>
          <p:cNvSpPr txBox="1"/>
          <p:nvPr/>
        </p:nvSpPr>
        <p:spPr>
          <a:xfrm>
            <a:off x="5257800" y="2359152"/>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Testes sem internet e sem cota</a:t>
            </a:r>
            <a:pPr indent="0" marL="0">
              <a:buNone/>
            </a:pPr>
            <a:r>
              <a:rPr lang="en-US" sz="1050" dirty="0">
                <a:solidFill>
                  <a:schemeClr val="accent5"/>
                </a:solidFill>
                <a:latin typeface="Calibri" pitchFamily="34" charset="0"/>
                <a:ea typeface="Calibri" pitchFamily="34" charset="-122"/>
                <a:cs typeface="Calibri" pitchFamily="34" charset="-120"/>
              </a:rPr>
              <a:t>  teste do marco E2</a:t>
            </a:r>
            <a:endParaRPr lang="en-US" sz="1050" dirty="0"/>
          </a:p>
        </p:txBody>
      </p:sp>
      <p:sp>
        <p:nvSpPr>
          <p:cNvPr id="39" name="Shape 37"/>
          <p:cNvSpPr/>
          <p:nvPr/>
        </p:nvSpPr>
        <p:spPr>
          <a:xfrm>
            <a:off x="4663440" y="2807208"/>
            <a:ext cx="502920" cy="292608"/>
          </a:xfrm>
          <a:prstGeom prst="roundRect">
            <a:avLst>
              <a:gd name="adj" fmla="val 25000"/>
            </a:avLst>
          </a:prstGeom>
          <a:solidFill>
            <a:schemeClr val="accent2"/>
          </a:solidFill>
          <a:ln w="12700">
            <a:solidFill>
              <a:schemeClr val="accent2"/>
            </a:solidFill>
            <a:prstDash val="solid"/>
          </a:ln>
        </p:spPr>
      </p:sp>
      <p:sp>
        <p:nvSpPr>
          <p:cNvPr id="40" name="Text 38"/>
          <p:cNvSpPr txBox="1"/>
          <p:nvPr/>
        </p:nvSpPr>
        <p:spPr>
          <a:xfrm>
            <a:off x="4663440" y="2807208"/>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R13</a:t>
            </a:r>
            <a:endParaRPr lang="en-US" sz="1100" dirty="0"/>
          </a:p>
        </p:txBody>
      </p:sp>
      <p:sp>
        <p:nvSpPr>
          <p:cNvPr id="41" name="Text 39"/>
          <p:cNvSpPr txBox="1"/>
          <p:nvPr/>
        </p:nvSpPr>
        <p:spPr>
          <a:xfrm>
            <a:off x="5257800" y="2788920"/>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Queda isolada, sem perda</a:t>
            </a:r>
            <a:pPr indent="0" marL="0">
              <a:buNone/>
            </a:pPr>
            <a:r>
              <a:rPr lang="en-US" sz="1050" dirty="0">
                <a:solidFill>
                  <a:schemeClr val="accent5"/>
                </a:solidFill>
                <a:latin typeface="Calibri" pitchFamily="34" charset="0"/>
                <a:ea typeface="Calibri" pitchFamily="34" charset="-122"/>
                <a:cs typeface="Calibri" pitchFamily="34" charset="-120"/>
              </a:rPr>
              <a:t>  teste do marco E5</a:t>
            </a:r>
            <a:endParaRPr lang="en-US" sz="1050" dirty="0"/>
          </a:p>
        </p:txBody>
      </p:sp>
      <p:sp>
        <p:nvSpPr>
          <p:cNvPr id="42" name="Shape 40"/>
          <p:cNvSpPr/>
          <p:nvPr/>
        </p:nvSpPr>
        <p:spPr>
          <a:xfrm>
            <a:off x="4663440" y="3236976"/>
            <a:ext cx="502920" cy="292608"/>
          </a:xfrm>
          <a:prstGeom prst="roundRect">
            <a:avLst>
              <a:gd name="adj" fmla="val 25000"/>
            </a:avLst>
          </a:prstGeom>
          <a:solidFill>
            <a:schemeClr val="accent1"/>
          </a:solidFill>
          <a:ln w="12700">
            <a:solidFill>
              <a:schemeClr val="accent1"/>
            </a:solidFill>
            <a:prstDash val="solid"/>
          </a:ln>
        </p:spPr>
      </p:sp>
      <p:sp>
        <p:nvSpPr>
          <p:cNvPr id="43" name="Text 41"/>
          <p:cNvSpPr txBox="1"/>
          <p:nvPr/>
        </p:nvSpPr>
        <p:spPr>
          <a:xfrm>
            <a:off x="4663440" y="3236976"/>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R14</a:t>
            </a:r>
            <a:endParaRPr lang="en-US" sz="1100" dirty="0"/>
          </a:p>
        </p:txBody>
      </p:sp>
      <p:sp>
        <p:nvSpPr>
          <p:cNvPr id="44" name="Text 42"/>
          <p:cNvSpPr txBox="1"/>
          <p:nvPr/>
        </p:nvSpPr>
        <p:spPr>
          <a:xfrm>
            <a:off x="5257800" y="3218688"/>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Nunca passa do teto</a:t>
            </a:r>
            <a:pPr indent="0" marL="0">
              <a:buNone/>
            </a:pPr>
            <a:r>
              <a:rPr lang="en-US" sz="1050" dirty="0">
                <a:solidFill>
                  <a:schemeClr val="accent5"/>
                </a:solidFill>
                <a:latin typeface="Calibri" pitchFamily="34" charset="0"/>
                <a:ea typeface="Calibri" pitchFamily="34" charset="-122"/>
                <a:cs typeface="Calibri" pitchFamily="34" charset="-120"/>
              </a:rPr>
              <a:t>  regra do teto testada; o piloto (E7) para por gasto acumulado</a:t>
            </a:r>
            <a:endParaRPr lang="en-US" sz="1050" dirty="0"/>
          </a:p>
        </p:txBody>
      </p:sp>
      <p:sp>
        <p:nvSpPr>
          <p:cNvPr id="45" name="Shape 43"/>
          <p:cNvSpPr/>
          <p:nvPr/>
        </p:nvSpPr>
        <p:spPr>
          <a:xfrm>
            <a:off x="4663440" y="3666744"/>
            <a:ext cx="502920" cy="292608"/>
          </a:xfrm>
          <a:prstGeom prst="roundRect">
            <a:avLst>
              <a:gd name="adj" fmla="val 25000"/>
            </a:avLst>
          </a:prstGeom>
          <a:solidFill>
            <a:schemeClr val="accent2"/>
          </a:solidFill>
          <a:ln w="12700">
            <a:solidFill>
              <a:schemeClr val="accent2"/>
            </a:solidFill>
            <a:prstDash val="solid"/>
          </a:ln>
        </p:spPr>
      </p:sp>
      <p:sp>
        <p:nvSpPr>
          <p:cNvPr id="46" name="Text 44"/>
          <p:cNvSpPr txBox="1"/>
          <p:nvPr/>
        </p:nvSpPr>
        <p:spPr>
          <a:xfrm>
            <a:off x="4663440" y="3666744"/>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R15</a:t>
            </a:r>
            <a:endParaRPr lang="en-US" sz="1100" dirty="0"/>
          </a:p>
        </p:txBody>
      </p:sp>
      <p:sp>
        <p:nvSpPr>
          <p:cNvPr id="47" name="Text 45"/>
          <p:cNvSpPr txBox="1"/>
          <p:nvPr/>
        </p:nvSpPr>
        <p:spPr>
          <a:xfrm>
            <a:off x="5257800" y="3648456"/>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Fornecedor trocável</a:t>
            </a:r>
            <a:pPr indent="0" marL="0">
              <a:buNone/>
            </a:pPr>
            <a:r>
              <a:rPr lang="en-US" sz="1050" dirty="0">
                <a:solidFill>
                  <a:schemeClr val="accent5"/>
                </a:solidFill>
                <a:latin typeface="Calibri" pitchFamily="34" charset="0"/>
                <a:ea typeface="Calibri" pitchFamily="34" charset="-122"/>
                <a:cs typeface="Calibri" pitchFamily="34" charset="-120"/>
              </a:rPr>
              <a:t>  dois adaptadores, mesma fronteira</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O que ainda não está pronto</a:t>
            </a:r>
            <a:endParaRPr lang="en-US" sz="2800" dirty="0"/>
          </a:p>
        </p:txBody>
      </p:sp>
      <p:sp>
        <p:nvSpPr>
          <p:cNvPr id="3" name="pend-col-0"/>
          <p:cNvSpPr/>
          <p:nvPr/>
        </p:nvSpPr>
        <p:spPr>
          <a:xfrm>
            <a:off x="457200" y="1005840"/>
            <a:ext cx="4023360" cy="3657600"/>
          </a:xfrm>
          <a:prstGeom prst="roundRect">
            <a:avLst>
              <a:gd name="adj" fmla="val 2000"/>
            </a:avLst>
          </a:prstGeom>
          <a:solidFill>
            <a:schemeClr val="bg2"/>
          </a:solidFill>
          <a:ln w="12700">
            <a:solidFill>
              <a:schemeClr val="bg2"/>
            </a:solidFill>
            <a:prstDash val="solid"/>
          </a:ln>
        </p:spPr>
      </p:sp>
      <p:sp>
        <p:nvSpPr>
          <p:cNvPr id="4" name="Text 2"/>
          <p:cNvSpPr txBox="1"/>
          <p:nvPr/>
        </p:nvSpPr>
        <p:spPr>
          <a:xfrm>
            <a:off x="594360" y="1097280"/>
            <a:ext cx="3749040" cy="34747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E1</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Validar com o orientador a proposta dos cinco projetos de teste (FAB-105).</a:t>
            </a:r>
            <a:endParaRPr lang="en-US" sz="1400" dirty="0"/>
          </a:p>
          <a:p>
            <a:pPr indent="0" marL="0">
              <a:spcBef>
                <a:spcPts val="600"/>
              </a:spcBef>
              <a:buNone/>
            </a:pPr>
            <a:r>
              <a:rPr lang="en-US" sz="1200" b="1" dirty="0">
                <a:solidFill>
                  <a:schemeClr val="accent3"/>
                </a:solidFill>
                <a:latin typeface="Calibri" pitchFamily="34" charset="0"/>
                <a:ea typeface="Calibri" pitchFamily="34" charset="-122"/>
                <a:cs typeface="Calibri" pitchFamily="34" charset="-120"/>
              </a:rPr>
              <a:t>E3</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A medição do cache com a API por token depende de uma chave de acesso e foi deixada para depois do marco final.</a:t>
            </a:r>
            <a:endParaRPr lang="en-US" sz="1400" dirty="0"/>
          </a:p>
          <a:p>
            <a:pPr indent="0" marL="0">
              <a:spcBef>
                <a:spcPts val="600"/>
              </a:spcBef>
              <a:buNone/>
            </a:pPr>
            <a:r>
              <a:rPr lang="en-US" sz="1200" b="1" dirty="0">
                <a:solidFill>
                  <a:schemeClr val="accent3"/>
                </a:solidFill>
                <a:latin typeface="Calibri" pitchFamily="34" charset="0"/>
                <a:ea typeface="Calibri" pitchFamily="34" charset="-122"/>
                <a:cs typeface="Calibri" pitchFamily="34" charset="-120"/>
              </a:rPr>
              <a:t>E4</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R1 (pedido → tarefas) está implementado; o teste com um pedido real de ponta a ponta acontece na validação (E8).</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Escada de resposta, diagnóstico e teto de gasto são regras puras, prontas e testadas; nesta etapa nenhum laço automático ainda as chama — quem as encadeia é o teste do marco.</a:t>
            </a:r>
            <a:endParaRPr lang="en-US" sz="1400" dirty="0"/>
          </a:p>
          <a:p>
            <a:pPr indent="0" marL="0">
              <a:spcBef>
                <a:spcPts val="600"/>
              </a:spcBef>
              <a:buNone/>
            </a:pPr>
            <a:r>
              <a:rPr lang="en-US" sz="1200" b="1" dirty="0">
                <a:solidFill>
                  <a:schemeClr val="accent3"/>
                </a:solidFill>
                <a:latin typeface="Calibri" pitchFamily="34" charset="0"/>
                <a:ea typeface="Calibri" pitchFamily="34" charset="-122"/>
                <a:cs typeface="Calibri" pitchFamily="34" charset="-120"/>
              </a:rPr>
              <a:t>E5</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Nesta etapa o lote e o saneamento são chamados pelo teste do marco; quem monta a rodada e enfileira sozinho é o piloto automático (E7).</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O saneamento roda quando chamado, ainda não automaticamente na subida do sistema.</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Medir o pico de memória com agentes em paralelo na máquina de 8 GB (R9).</a:t>
            </a:r>
            <a:endParaRPr lang="en-US" sz="1400" dirty="0"/>
          </a:p>
        </p:txBody>
      </p:sp>
      <p:sp>
        <p:nvSpPr>
          <p:cNvPr id="5" name="pend-col-1"/>
          <p:cNvSpPr/>
          <p:nvPr/>
        </p:nvSpPr>
        <p:spPr>
          <a:xfrm>
            <a:off x="4663440" y="1005840"/>
            <a:ext cx="4023360" cy="3657600"/>
          </a:xfrm>
          <a:prstGeom prst="roundRect">
            <a:avLst>
              <a:gd name="adj" fmla="val 2000"/>
            </a:avLst>
          </a:prstGeom>
          <a:solidFill>
            <a:schemeClr val="bg2"/>
          </a:solidFill>
          <a:ln w="12700">
            <a:solidFill>
              <a:schemeClr val="bg2"/>
            </a:solidFill>
            <a:prstDash val="solid"/>
          </a:ln>
        </p:spPr>
      </p:sp>
      <p:sp>
        <p:nvSpPr>
          <p:cNvPr id="6" name="Text 4"/>
          <p:cNvSpPr txBox="1"/>
          <p:nvPr/>
        </p:nvSpPr>
        <p:spPr>
          <a:xfrm>
            <a:off x="4800600" y="1097280"/>
            <a:ext cx="3749040" cy="34747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E6</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Marco bloqueado: nesta etapa a memória ainda não está ligada ao despacho; na E7 o despacho passa a anexar o bloco, mas a fila ainda o descarta ao montar a mensagem (ajuste pequeno, já localizado).</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A ingestão ainda não é disparada sozinha a cada mudança do histórico; nesta etapa quem a chama são os testes.</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Medir o pico de memória com agentes em paralelo na máquina de 8 GB (R9).</a:t>
            </a:r>
            <a:endParaRPr lang="en-US" sz="1400" dirty="0"/>
          </a:p>
          <a:p>
            <a:pPr indent="0" marL="0">
              <a:spcBef>
                <a:spcPts val="600"/>
              </a:spcBef>
              <a:buNone/>
            </a:pPr>
            <a:r>
              <a:rPr lang="en-US" sz="1200" b="1" dirty="0">
                <a:solidFill>
                  <a:schemeClr val="accent3"/>
                </a:solidFill>
                <a:latin typeface="Calibri" pitchFamily="34" charset="0"/>
                <a:ea typeface="Calibri" pitchFamily="34" charset="-122"/>
                <a:cs typeface="Calibri" pitchFamily="34" charset="-120"/>
              </a:rPr>
              <a:t>E7</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Ligar os eventos de mudança de estado e de volta: o motor ainda não os emite, então a tela os recebe só nos testes.</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Colocar numa página os componentes de Parar/Retomar e do piloto (prontos e testados, sem tela que os use).</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Chamar no caminho real a trilha genérica, os graus de prova e a busca de segredos (prontos e testados, sem chamador).</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A fila enviar o bloco de memória ao agente (destrava o marco da E6).</a:t>
            </a:r>
            <a:endParaRPr lang="en-US" sz="1400" dirty="0"/>
          </a:p>
          <a:p>
            <a:pPr marL="152400" indent="-152400">
              <a:spcAft>
                <a:spcPts val="200"/>
              </a:spcAft>
              <a:buSzPct val="100000"/>
              <a:buChar char="•"/>
            </a:pPr>
            <a:r>
              <a:rPr lang="en-US" sz="950" dirty="0">
                <a:solidFill>
                  <a:schemeClr val="tx1"/>
                </a:solidFill>
                <a:latin typeface="Calibri" pitchFamily="34" charset="0"/>
                <a:ea typeface="Calibri" pitchFamily="34" charset="-122"/>
                <a:cs typeface="Calibri" pitchFamily="34" charset="-120"/>
              </a:rPr>
              <a:t>Executar o marco: um projeto inteiro sem intervenção, com teto de gasto autorizado.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Próximo: validação com projetos reais</a:t>
            </a:r>
            <a:endParaRPr lang="en-US" sz="4000" dirty="0"/>
          </a:p>
        </p:txBody>
      </p:sp>
      <p:sp>
        <p:nvSpPr>
          <p:cNvPr id="3" name="Text 0"/>
          <p:cNvSpPr/>
          <p:nvPr>
            <p:ph idx="101" type="body" hasCustomPrompt="1"/>
          </p:nvPr>
        </p:nvSpPr>
        <p:spPr>
          <a:xfrm>
            <a:off x="548640" y="2697480"/>
            <a:ext cx="8046720" cy="1280160"/>
          </a:xfrm>
          <a:prstGeom prst="rect">
            <a:avLst/>
          </a:prstGeom>
          <a:noFill/>
          <a:ln/>
        </p:spPr>
        <p:txBody>
          <a:bodyPr wrap="square" rtlCol="0" anchor="t"/>
          <a:lstStyle/>
          <a:p>
            <a:pPr indent="0" marL="0">
              <a:buNone/>
            </a:pPr>
            <a:r>
              <a:rPr lang="en-US" sz="1800" dirty="0">
                <a:solidFill>
                  <a:schemeClr val="bg2"/>
                </a:solidFill>
              </a:rPr>
              <a:t>E8 · executar os 5 projetos de teste sem intervenção e medir os 8 critérios</a:t>
            </a:r>
            <a:endParaRPr lang="en-US" sz="1800" dirty="0"/>
          </a:p>
          <a:p>
            <a:pPr indent="0" marL="0">
              <a:buNone/>
            </a:pPr>
            <a:r>
              <a:rPr lang="en-US" sz="1800" dirty="0">
                <a:solidFill>
                  <a:schemeClr val="bg2"/>
                </a:solidFill>
              </a:rPr>
              <a:t>E9 · corrigir por ordem de impacto e medir de novo</a:t>
            </a:r>
            <a:endParaRPr lang="en-US" sz="1800" dirty="0"/>
          </a:p>
          <a:p>
            <a:pPr indent="0" marL="0">
              <a:buNone/>
            </a:pPr>
            <a:r>
              <a:rPr lang="en-US" sz="1800" dirty="0">
                <a:solidFill>
                  <a:schemeClr val="bg2"/>
                </a:solidFill>
              </a:rPr>
              <a:t>E10 · último ciclo, versão congelada e documento de entrega</a:t>
            </a:r>
            <a:endParaRPr lang="en-US" sz="1800" dirty="0"/>
          </a:p>
        </p:txBody>
      </p:sp>
    </p:spTree>
  </p:cSld>
  <p:clrMapOvr>
    <a:masterClrMapping/>
  </p:clrMapOvr>
</p:sld>
</file>

<file path=ppt/theme/theme1.xml><?xml version="1.0" encoding="utf-8"?>
<a:theme xmlns:a="http://schemas.openxmlformats.org/drawingml/2006/main" name="Fabrica TCC">
  <a:themeElements>
    <a:clrScheme name="Fabrica TCC">
      <a:dk1>
        <a:srgbClr val="1F2328"/>
      </a:dk1>
      <a:lt1>
        <a:srgbClr val="FFFFFF"/>
      </a:lt1>
      <a:dk2>
        <a:srgbClr val="1B2A41"/>
      </a:dk2>
      <a:lt2>
        <a:srgbClr val="F2F4F7"/>
      </a:lt2>
      <a:accent1>
        <a:srgbClr val="E9A23B"/>
      </a:accent1>
      <a:accent2>
        <a:srgbClr val="2A9D8F"/>
      </a:accent2>
      <a:accent3>
        <a:srgbClr val="C0392B"/>
      </a:accent3>
      <a:accent4>
        <a:srgbClr val="4A6FA5"/>
      </a:accent4>
      <a:accent5>
        <a:srgbClr val="8C96A3"/>
      </a:accent5>
      <a:accent6>
        <a:srgbClr val="6B4E9B"/>
      </a:accent6>
      <a:hlink>
        <a:srgbClr val="4A6FA5"/>
      </a:hlink>
      <a:folHlink>
        <a:srgbClr val="6B4E9B"/>
      </a:folHlink>
    </a:clrScheme>
    <a:fontScheme name="Fabrica TC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Fábrica de Software Multi-Agente — acompanhamento</dc:title>
  <dc:subject>PptxGenJS Presentation</dc:subject>
  <dc:creator>Enzo Consulo</dc:creator>
  <cp:lastModifiedBy>Enzo Consulo</cp:lastModifiedBy>
  <cp:revision>1</cp:revision>
  <dcterms:created xsi:type="dcterms:W3CDTF">2026-10-09T22:52:50Z</dcterms:created>
  <dcterms:modified xsi:type="dcterms:W3CDTF">2026-10-09T22:52:50Z</dcterms:modified>
</cp:coreProperties>
</file>